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5cfc675a8945d5" /><Relationship Type="http://schemas.openxmlformats.org/officeDocument/2006/relationships/extended-properties" Target="/docProps/app.xml" Id="Re988038ebd2c4bb9" /><Relationship Type="http://schemas.openxmlformats.org/officeDocument/2006/relationships/officeDocument" Target="/ppt/presentation.xml" Id="R48fc41a849954c48" /></Relationships>
</file>

<file path=ppt/presentation.xml><?xml version="1.0" encoding="utf-8"?>
<p:presentation xmlns:p="http://schemas.openxmlformats.org/presentationml/2006/main">
  <p:sldMasterIdLst>
    <p:sldMasterId xmlns:r="http://schemas.openxmlformats.org/officeDocument/2006/relationships" id="2147483648" r:id="R453bb603cf894be4"/>
  </p:sldMasterIdLst>
  <p:notesMasterIdLst>
    <p:notesMasterId xmlns:r="http://schemas.openxmlformats.org/officeDocument/2006/relationships" r:id="Re1be7799251442fa"/>
  </p:notesMasterIdLst>
  <p:sldIdLst>
    <p:sldId xmlns:r="http://schemas.openxmlformats.org/officeDocument/2006/relationships" id="256" r:id="R12e56516c8cc40f5"/>
    <p:sldId xmlns:r="http://schemas.openxmlformats.org/officeDocument/2006/relationships" id="257" r:id="R769c7b0d65c84086"/>
    <p:sldId xmlns:r="http://schemas.openxmlformats.org/officeDocument/2006/relationships" id="258" r:id="Rf4d1fdac7428402b"/>
    <p:sldId xmlns:r="http://schemas.openxmlformats.org/officeDocument/2006/relationships" id="259" r:id="R4fad954813f24c9a"/>
    <p:sldId xmlns:r="http://schemas.openxmlformats.org/officeDocument/2006/relationships" id="260" r:id="R19d1fb5cddca4b4e"/>
    <p:sldId xmlns:r="http://schemas.openxmlformats.org/officeDocument/2006/relationships" id="261" r:id="R0f98bd6ceb0c4dd4"/>
    <p:sldId xmlns:r="http://schemas.openxmlformats.org/officeDocument/2006/relationships" id="262" r:id="R357ab1534d964b1b"/>
    <p:sldId xmlns:r="http://schemas.openxmlformats.org/officeDocument/2006/relationships" id="263" r:id="R2f8bc2fb584c4387"/>
    <p:sldId xmlns:r="http://schemas.openxmlformats.org/officeDocument/2006/relationships" id="264" r:id="Rec38bbaf4ad9453e"/>
    <p:sldId xmlns:r="http://schemas.openxmlformats.org/officeDocument/2006/relationships" id="265" r:id="Rfd9344a2f04347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4493a8d6984f90" /><Relationship Type="http://schemas.openxmlformats.org/officeDocument/2006/relationships/slideMaster" Target="/ppt/slideMasters/slideMaster1.xml" Id="R453bb603cf894be4" /><Relationship Type="http://schemas.openxmlformats.org/officeDocument/2006/relationships/notesMaster" Target="/ppt/notesMasters/notesMaster1.xml" Id="Re1be7799251442fa" /><Relationship Type="http://schemas.openxmlformats.org/officeDocument/2006/relationships/presProps" Target="/ppt/presProps.xml" Id="R7f68da0e42ad465f" /><Relationship Type="http://schemas.openxmlformats.org/officeDocument/2006/relationships/tableStyles" Target="/ppt/tableStyles.xml" Id="R20fdacba224c4937" /><Relationship Type="http://schemas.openxmlformats.org/officeDocument/2006/relationships/slide" Target="/ppt/slides/slide1.xml" Id="R12e56516c8cc40f5" /><Relationship Type="http://schemas.openxmlformats.org/officeDocument/2006/relationships/slide" Target="/ppt/slides/slide2.xml" Id="R769c7b0d65c84086" /><Relationship Type="http://schemas.openxmlformats.org/officeDocument/2006/relationships/slide" Target="/ppt/slides/slide3.xml" Id="Rf4d1fdac7428402b" /><Relationship Type="http://schemas.openxmlformats.org/officeDocument/2006/relationships/slide" Target="/ppt/slides/slide4.xml" Id="R4fad954813f24c9a" /><Relationship Type="http://schemas.openxmlformats.org/officeDocument/2006/relationships/slide" Target="/ppt/slides/slide5.xml" Id="R19d1fb5cddca4b4e" /><Relationship Type="http://schemas.openxmlformats.org/officeDocument/2006/relationships/slide" Target="/ppt/slides/slide6.xml" Id="R0f98bd6ceb0c4dd4" /><Relationship Type="http://schemas.openxmlformats.org/officeDocument/2006/relationships/slide" Target="/ppt/slides/slide7.xml" Id="R357ab1534d964b1b" /><Relationship Type="http://schemas.openxmlformats.org/officeDocument/2006/relationships/slide" Target="/ppt/slides/slide8.xml" Id="R2f8bc2fb584c4387" /><Relationship Type="http://schemas.openxmlformats.org/officeDocument/2006/relationships/slide" Target="/ppt/slides/slide9.xml" Id="Rec38bbaf4ad9453e" /><Relationship Type="http://schemas.openxmlformats.org/officeDocument/2006/relationships/slide" Target="/ppt/slides/slide10.xml" Id="Rfd9344a2f04347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795b046db741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c35d207e984fb3" /><Relationship Type="http://schemas.openxmlformats.org/officeDocument/2006/relationships/notesMaster" Target="/ppt/notesMasters/notesMaster1.xml" Id="Re1f1235790f243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0087fe6207402f" /><Relationship Type="http://schemas.openxmlformats.org/officeDocument/2006/relationships/notesMaster" Target="/ppt/notesMasters/notesMaster1.xml" Id="R0e3524cda7524a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2fe0b64b964d84" /><Relationship Type="http://schemas.openxmlformats.org/officeDocument/2006/relationships/notesMaster" Target="/ppt/notesMasters/notesMaster1.xml" Id="R0652cbd0c86545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4e889a36254698" /><Relationship Type="http://schemas.openxmlformats.org/officeDocument/2006/relationships/notesMaster" Target="/ppt/notesMasters/notesMaster1.xml" Id="R672edb31132242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c132b9e20b4f8f" /><Relationship Type="http://schemas.openxmlformats.org/officeDocument/2006/relationships/notesMaster" Target="/ppt/notesMasters/notesMaster1.xml" Id="R65ca1a34ff9f44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bba54f69194083" /><Relationship Type="http://schemas.openxmlformats.org/officeDocument/2006/relationships/notesMaster" Target="/ppt/notesMasters/notesMaster1.xml" Id="Rdcf1324d5cb344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ab310fd5f54047" /><Relationship Type="http://schemas.openxmlformats.org/officeDocument/2006/relationships/notesMaster" Target="/ppt/notesMasters/notesMaster1.xml" Id="R86fd8373681946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793d936ea745cc" /><Relationship Type="http://schemas.openxmlformats.org/officeDocument/2006/relationships/notesMaster" Target="/ppt/notesMasters/notesMaster1.xml" Id="R1c9c5f6bf64645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bd43ee9e7747f5" /><Relationship Type="http://schemas.openxmlformats.org/officeDocument/2006/relationships/notesMaster" Target="/ppt/notesMasters/notesMaster1.xml" Id="R92f79bd17ae946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47082d790d14e98" /><Relationship Type="http://schemas.openxmlformats.org/officeDocument/2006/relationships/notesMaster" Target="/ppt/notesMasters/notesMaster1.xml" Id="R36ce043979d74f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promise: this is not only a catalogue. It is a payment-linked loyalty engine designed to make NETS useful after every ordinary transaction. State ownership clearly: the XP Rewards Store is Hadi's individual component.</a:t>
            </a:r>
          </a:p>
          <a:p xmlns:a="http://schemas.openxmlformats.org/drawingml/2006/main">
            <a:r>
              <a:t/>
            </a:r>
          </a:p>
          <a:p xmlns:a="http://schemas.openxmlformats.org/drawingml/2006/main">
            <a:r>
              <a:t>[Sources]</a:t>
            </a:r>
          </a:p>
          <a:p xmlns:a="http://schemas.openxmlformats.org/drawingml/2006/main">
            <a:r>
              <a:t>- Hadi Part New.pdf, page 1 — refined solution framing.</a:t>
            </a:r>
          </a:p>
          <a:p xmlns:a="http://schemas.openxmlformats.org/drawingml/2006/main">
            <a:r>
              <a:t>- Local prototype screenshot: app_assets/rewards-store.png — captured 16 Aug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validation to the feature decision. The team's survey gave promotions and discounts 25 of 48 selections. Pair that with the project research on merchant reach: the strategic gap is not where NETS is accepted, but why a user would prefer it again tomorrow.</a:t>
            </a:r>
          </a:p>
          <a:p xmlns:a="http://schemas.openxmlformats.org/drawingml/2006/main">
            <a:r>
              <a:t/>
            </a:r>
          </a:p>
          <a:p xmlns:a="http://schemas.openxmlformats.org/drawingml/2006/main">
            <a:r>
              <a:t>[Sources]</a:t>
            </a:r>
          </a:p>
          <a:p xmlns:a="http://schemas.openxmlformats.org/drawingml/2006/main">
            <a:r>
              <a:t>- docs/presentation-revisions.md — 25 of 48 respondents selected promotions and discounts.</a:t>
            </a:r>
          </a:p>
          <a:p xmlns:a="http://schemas.openxmlformats.org/drawingml/2006/main">
            <a:r>
              <a:t>- Hadi Part Old.pdf, pages 1-2 — original assumption, questions, insight, and decision.</a:t>
            </a:r>
          </a:p>
          <a:p xmlns:a="http://schemas.openxmlformats.org/drawingml/2006/main">
            <a:r>
              <a:t>- Hadi Part New.pdf, page 3 — project-reported merchant reach and strategic 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before-and-after contrast to prove iteration. The original deck mostly described what a store could contain. The final prototype implements the loyalty logic: eligibility, rates, balance-safe redemption, transaction effects, and history.</a:t>
            </a:r>
          </a:p>
          <a:p xmlns:a="http://schemas.openxmlformats.org/drawingml/2006/main">
            <a:r>
              <a:t/>
            </a:r>
          </a:p>
          <a:p xmlns:a="http://schemas.openxmlformats.org/drawingml/2006/main">
            <a:r>
              <a:t>[Sources]</a:t>
            </a:r>
          </a:p>
          <a:p xmlns:a="http://schemas.openxmlformats.org/drawingml/2006/main">
            <a:r>
              <a:t>- Hadi Part Old.pdf, page 4 — original store concept.</a:t>
            </a:r>
          </a:p>
          <a:p xmlns:a="http://schemas.openxmlformats.org/drawingml/2006/main">
            <a:r>
              <a:t>- Hadi Part New.pdf, page 2 — original-versus-implemented comparison.</a:t>
            </a:r>
          </a:p>
          <a:p xmlns:a="http://schemas.openxmlformats.org/drawingml/2006/main">
            <a:r>
              <a:t>- src/app/utils/rewardStorage.ts — implemented XP and redemption logic.</a:t>
            </a:r>
          </a:p>
          <a:p xmlns:a="http://schemas.openxmlformats.org/drawingml/2006/main">
            <a:r>
              <a:t>- Local prototype screenshot: app_assets/rewards-overview.png.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reward engine begins only after a payment is classified as a purchase. XP is derived from that ledger entry. Redemption checks the current balance before writing a redemption. Cashback becomes a separate money-in transaction; vouchers become codes with lifecycle states.</a:t>
            </a:r>
          </a:p>
          <a:p xmlns:a="http://schemas.openxmlformats.org/drawingml/2006/main">
            <a:r>
              <a:t/>
            </a:r>
          </a:p>
          <a:p xmlns:a="http://schemas.openxmlformats.org/drawingml/2006/main">
            <a:r>
              <a:t>[Sources]</a:t>
            </a:r>
          </a:p>
          <a:p xmlns:a="http://schemas.openxmlformats.org/drawingml/2006/main">
            <a:r>
              <a:t>- Hadi Part New.pdf, page 4 — five-stage product loop.</a:t>
            </a:r>
          </a:p>
          <a:p xmlns:a="http://schemas.openxmlformats.org/drawingml/2006/main">
            <a:r>
              <a:t>- src/app/pages/PaymentSuccessPage.tsx — purchase transaction and payment ID.</a:t>
            </a:r>
          </a:p>
          <a:p xmlns:a="http://schemas.openxmlformats.org/drawingml/2006/main">
            <a:r>
              <a:t>- src/app/utils/rewardStorage.ts — XP calculation, stats, and redemption.</a:t>
            </a:r>
          </a:p>
          <a:p xmlns:a="http://schemas.openxmlformats.org/drawingml/2006/main">
            <a:r>
              <a:t>- src/app/utils/transactionModel.ts — canonical transaction types.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this exact route if time allows. Point out that the screen shows the cost and the post-redemption XP balance before confirmation. After redemption, the receipt gives a reference and status. The home screen then shows the wallet balance rising from $2,500 to $2,505 and records NETS XP Cashback as recent activity.</a:t>
            </a:r>
          </a:p>
          <a:p xmlns:a="http://schemas.openxmlformats.org/drawingml/2006/main">
            <a:r>
              <a:t/>
            </a:r>
          </a:p>
          <a:p xmlns:a="http://schemas.openxmlformats.org/drawingml/2006/main">
            <a:r>
              <a:t>[Sources]</a:t>
            </a:r>
          </a:p>
          <a:p xmlns:a="http://schemas.openxmlformats.org/drawingml/2006/main">
            <a:r>
              <a:t>- Local prototype screenshots: rewards-store.png, redemption-receipt.png, home-after-cashback.png — captured 16 Aug 2026.</a:t>
            </a:r>
          </a:p>
          <a:p xmlns:a="http://schemas.openxmlformats.org/drawingml/2006/main">
            <a:r>
              <a:t>- src/app/pages/RewardsPage.tsx — redemption detail, receipt, wallet, and history views.</a:t>
            </a:r>
          </a:p>
          <a:p xmlns:a="http://schemas.openxmlformats.org/drawingml/2006/main">
            <a:r>
              <a:t>- src/app/utils/rewardStorage.ts — cashback transaction write.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usefulness through normal behaviour. A student buying lunch earns without opening the rewards page. The overview gives progress and a reason to return. Cashback is immediately useful. Voucher states, expiry dates, terms, directions, and a permanent history reduce uncertainty.</a:t>
            </a:r>
          </a:p>
          <a:p xmlns:a="http://schemas.openxmlformats.org/drawingml/2006/main">
            <a:r>
              <a:t/>
            </a:r>
          </a:p>
          <a:p xmlns:a="http://schemas.openxmlformats.org/drawingml/2006/main">
            <a:r>
              <a:t>[Sources]</a:t>
            </a:r>
          </a:p>
          <a:p xmlns:a="http://schemas.openxmlformats.org/drawingml/2006/main">
            <a:r>
              <a:t>- src/app/pages/RewardsPage.tsx — overview, store, voucher details, expiry warning, directions, wallet, and history.</a:t>
            </a:r>
          </a:p>
          <a:p xmlns:a="http://schemas.openxmlformats.org/drawingml/2006/main">
            <a:r>
              <a:t>- src/app/utils/rewardStorage.ts — heartland multiplier and reward catalogue.</a:t>
            </a:r>
          </a:p>
          <a:p xmlns:a="http://schemas.openxmlformats.org/drawingml/2006/main">
            <a:r>
              <a:t>- Local prototype screenshot: app_assets/rewards-overview.png.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technical-ownership slide. Explain the exact failure each decision prevents: false XP from transfers, duplicate rows after revisiting a success screen, negative balances, and misleading cashback or voucher states. These are not decorative controls; they protect customer trust.</a:t>
            </a:r>
          </a:p>
          <a:p xmlns:a="http://schemas.openxmlformats.org/drawingml/2006/main">
            <a:r>
              <a:t/>
            </a:r>
          </a:p>
          <a:p xmlns:a="http://schemas.openxmlformats.org/drawingml/2006/main">
            <a:r>
              <a:t>[Sources]</a:t>
            </a:r>
          </a:p>
          <a:p xmlns:a="http://schemas.openxmlformats.org/drawingml/2006/main">
            <a:r>
              <a:t>- Hadi Part New.pdf, page 5 — four safeguards.</a:t>
            </a:r>
          </a:p>
          <a:p xmlns:a="http://schemas.openxmlformats.org/drawingml/2006/main">
            <a:r>
              <a:t>- src/app/utils/rewardStorage.ts — purchase-only history query, balance math, status model, and redemption guard.</a:t>
            </a:r>
          </a:p>
          <a:p xmlns:a="http://schemas.openxmlformats.org/drawingml/2006/main">
            <a:r>
              <a:t>- src/app/pages/PaymentSuccessPage.tsx — processed-payment check.</a:t>
            </a:r>
          </a:p>
          <a:p xmlns:a="http://schemas.openxmlformats.org/drawingml/2006/main">
            <a:r>
              <a:t>- src/app/utils/transactionStorage.ts and database/sql/17_processed_payments.sql — idempotency marker.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shared state. A purchase enters the same transaction ledger used by Home and analytics. The XP engine derives the balance. Redemption writes a reward record. Cashback also writes a canonical cashback transaction, which instantly updates Home. Admin statistics count those same redemptions, and admin-managed partner deals enter the store catalogue.</a:t>
            </a:r>
          </a:p>
          <a:p xmlns:a="http://schemas.openxmlformats.org/drawingml/2006/main">
            <a:r>
              <a:t/>
            </a:r>
          </a:p>
          <a:p xmlns:a="http://schemas.openxmlformats.org/drawingml/2006/main">
            <a:r>
              <a:t>[Sources]</a:t>
            </a:r>
          </a:p>
          <a:p xmlns:a="http://schemas.openxmlformats.org/drawingml/2006/main">
            <a:r>
              <a:t>- README.md — integrated NETS lifestyle prototype and shared persistence.</a:t>
            </a:r>
          </a:p>
          <a:p xmlns:a="http://schemas.openxmlformats.org/drawingml/2006/main">
            <a:r>
              <a:t>- src/app/utils/rewardStorage.ts — shared transaction query, partner catalogue, redemption, and cashback write.</a:t>
            </a:r>
          </a:p>
          <a:p xmlns:a="http://schemas.openxmlformats.org/drawingml/2006/main">
            <a:r>
              <a:t>- src/app/utils/adminStats.ts — reward-redemption management count.</a:t>
            </a:r>
          </a:p>
          <a:p xmlns:a="http://schemas.openxmlformats.org/drawingml/2006/main">
            <a:r>
              <a:t>- src/app/pages/HomePage.tsx — wallet reads shared transactions.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about verification. The full project verification command passed TypeScript, 19 Vitest tests, and the production build. In the connected browser, the reward flow completed with no error overlay or console errors. Three focused Playwright scenarios are authored; the local runner itself was not counted as passing because its exact Chromium executable was unavailable.</a:t>
            </a:r>
          </a:p>
          <a:p xmlns:a="http://schemas.openxmlformats.org/drawingml/2006/main">
            <a:r>
              <a:t/>
            </a:r>
          </a:p>
          <a:p xmlns:a="http://schemas.openxmlformats.org/drawingml/2006/main">
            <a:r>
              <a:t>[Sources]</a:t>
            </a:r>
          </a:p>
          <a:p xmlns:a="http://schemas.openxmlformats.org/drawingml/2006/main">
            <a:r>
              <a:t>- npm run verify output, 16 Aug 2026 — typecheck, 19 tests, and Vite build passed.</a:t>
            </a:r>
          </a:p>
          <a:p xmlns:a="http://schemas.openxmlformats.org/drawingml/2006/main">
            <a:r>
              <a:t>- tests/e2e/rewards.spec.ts — three authored rewards journeys.</a:t>
            </a:r>
          </a:p>
          <a:p xmlns:a="http://schemas.openxmlformats.org/drawingml/2006/main">
            <a:r>
              <a:t>- Local browser verification, 16 Aug 2026 — no overlay or console errors; cashback, wallet, history, and balance update confirmed.</a:t>
            </a:r>
          </a:p>
          <a:p xmlns:a="http://schemas.openxmlformats.org/drawingml/2006/main">
            <a:r>
              <a:t>- Local prototype screenshot: app_assets/rewards-history.png.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A-band criteria rather than a generic thank-you. The solution is relevant to a validated insight, complete enough to demonstrate, innovative in how it connects heartland rewards to wallet value, seamless across the system, and explainable in technical detail. Critical evaluation matters too: name the next safeguards and economics that would be required before production.</a:t>
            </a:r>
          </a:p>
          <a:p xmlns:a="http://schemas.openxmlformats.org/drawingml/2006/main">
            <a:r>
              <a:t/>
            </a:r>
          </a:p>
          <a:p xmlns:a="http://schemas.openxmlformats.org/drawingml/2006/main">
            <a:r>
              <a:t>[Sources]</a:t>
            </a:r>
          </a:p>
          <a:p xmlns:a="http://schemas.openxmlformats.org/drawingml/2006/main">
            <a:r>
              <a:t>- IT3852 2026S1 Project Guide (1).pdf, pages 15-17 — Final Presentation and Final Solution Proficient (A) descriptors.</a:t>
            </a:r>
          </a:p>
          <a:p xmlns:a="http://schemas.openxmlformats.org/drawingml/2006/main">
            <a:r>
              <a:t>- docs/presentation-revisions.md — reward economics and abuse-control refinement requirements.</a:t>
            </a:r>
          </a:p>
          <a:p xmlns:a="http://schemas.openxmlformats.org/drawingml/2006/main">
            <a:r>
              <a:t>- Hadi Part New.pdf, pages 2-5 — iteration, loop, and safeguards.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01682100c64b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04e79f2b3a4678" /><Relationship Type="http://schemas.openxmlformats.org/officeDocument/2006/relationships/slideLayout" Target="/ppt/slideLayouts/slideLayout1.xml" Id="R26ed5d259c6346e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ed5d259c6346e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e31ec2510b46d5" /><Relationship Type="http://schemas.openxmlformats.org/officeDocument/2006/relationships/image" Target="/ppt/media/image.jpeg" Id="Ra73831554b1b4d4d" /><Relationship Type="http://schemas.openxmlformats.org/officeDocument/2006/relationships/notesSlide" Target="/ppt/notesSlides/notesSlide1.xml" Id="Rdd95c613c5b44e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fd935f5a514853" /><Relationship Type="http://schemas.openxmlformats.org/officeDocument/2006/relationships/image" Target="/ppt/media/image.png" Id="Radc4f3a55ba94050" /><Relationship Type="http://schemas.openxmlformats.org/officeDocument/2006/relationships/notesSlide" Target="/ppt/notesSlides/notesSlide2.xml" Id="R56889ae9f20446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58b32e0a5b4e33" /><Relationship Type="http://schemas.openxmlformats.org/officeDocument/2006/relationships/image" Target="/ppt/media/image2.png" Id="R6d7df95bcbe44f98" /><Relationship Type="http://schemas.openxmlformats.org/officeDocument/2006/relationships/image" Target="/ppt/media/image2.jpeg" Id="R0fe42f72cc1542a6" /><Relationship Type="http://schemas.openxmlformats.org/officeDocument/2006/relationships/notesSlide" Target="/ppt/notesSlides/notesSlide3.xml" Id="R1629e785df5649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714a642a3048a6" /><Relationship Type="http://schemas.openxmlformats.org/officeDocument/2006/relationships/notesSlide" Target="/ppt/notesSlides/notesSlide4.xml" Id="R57ae739c116e4e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1a5823705ed46af" /><Relationship Type="http://schemas.openxmlformats.org/officeDocument/2006/relationships/image" Target="/ppt/media/image3.jpeg" Id="Rb121c4705a8a40ae" /><Relationship Type="http://schemas.openxmlformats.org/officeDocument/2006/relationships/image" Target="/ppt/media/image4.jpeg" Id="Rf02a5590d28948eb" /><Relationship Type="http://schemas.openxmlformats.org/officeDocument/2006/relationships/image" Target="/ppt/media/image5.jpeg" Id="Rf6d2381254094e52" /><Relationship Type="http://schemas.openxmlformats.org/officeDocument/2006/relationships/notesSlide" Target="/ppt/notesSlides/notesSlide5.xml" Id="R12c00e22eab14f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661cfb3a7740f0" /><Relationship Type="http://schemas.openxmlformats.org/officeDocument/2006/relationships/image" Target="/ppt/media/image6.jpeg" Id="Rd993fe3a20dd4ee7" /><Relationship Type="http://schemas.openxmlformats.org/officeDocument/2006/relationships/notesSlide" Target="/ppt/notesSlides/notesSlide6.xml" Id="Rdb50a74692104a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21552ac8c5459a" /><Relationship Type="http://schemas.openxmlformats.org/officeDocument/2006/relationships/notesSlide" Target="/ppt/notesSlides/notesSlide7.xml" Id="R6a55153dc2274c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30a4dc3c51249f8" /><Relationship Type="http://schemas.openxmlformats.org/officeDocument/2006/relationships/notesSlide" Target="/ppt/notesSlides/notesSlide8.xml" Id="R2284ad7c049341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6168bfb05341c0" /><Relationship Type="http://schemas.openxmlformats.org/officeDocument/2006/relationships/image" Target="/ppt/media/image7.jpeg" Id="R1ce8e2309d534cd6" /><Relationship Type="http://schemas.openxmlformats.org/officeDocument/2006/relationships/notesSlide" Target="/ppt/notesSlides/notesSlide9.xml" Id="R4b4a53e1f5af45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d2eeefc6ba49bd" /><Relationship Type="http://schemas.openxmlformats.org/officeDocument/2006/relationships/notesSlide" Target="/ppt/notesSlides/notesSlide10.xml" Id="Rd064b76cdaa444de" /></Relationships>
</file>

<file path=ppt/slides/slide1.xml><?xml version="1.0" encoding="utf-8"?>
<p:sld xmlns:p="http://schemas.openxmlformats.org/presentationml/2006/main">
  <p:cSld>
    <p:bg>
      <p:bgPr>
        <a:solidFill xmlns:a="http://schemas.openxmlformats.org/drawingml/2006/main">
          <a:srgbClr val="0B183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0612E7D-F819-4D13-AB13-1EE52FD8B72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334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C3A7A5-E9EE-4E90-82BE-FB87D60A5CD8}"/>
              </a:ext>
            </a:extLst>
          </p:cNvPr>
          <p:cNvSpPr>
            <a:spLocks xmlns:a="http://schemas.openxmlformats.org/drawingml/2006/main" noGrp="1"/>
          </p:cNvSpPr>
          <p:nvPr/>
        </p:nvSpPr>
        <p:spPr>
          <a:xfrm xmlns:a="http://schemas.openxmlformats.org/drawingml/2006/main">
            <a:off x="171450" y="0"/>
            <a:ext cx="114300" cy="6858000"/>
          </a:xfrm>
          <a:prstGeom xmlns:a="http://schemas.openxmlformats.org/drawingml/2006/main" prst="rect">
            <a:avLst/>
          </a:prstGeom>
          <a:solidFill xmlns:a="http://schemas.openxmlformats.org/drawingml/2006/main">
            <a:srgbClr val="5267F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C883DEC-0AEB-419B-B13C-ACBA4A1AA13D}"/>
              </a:ext>
            </a:extLst>
          </p:cNvPr>
          <p:cNvSpPr>
            <a:spLocks xmlns:a="http://schemas.openxmlformats.org/drawingml/2006/main" noGrp="1"/>
          </p:cNvSpPr>
          <p:nvPr/>
        </p:nvSpPr>
        <p:spPr>
          <a:xfrm xmlns:a="http://schemas.openxmlformats.org/drawingml/2006/main">
            <a:off x="685800" y="590550"/>
            <a:ext cx="2400300" cy="304800"/>
          </a:xfrm>
          <a:prstGeom xmlns:a="http://schemas.openxmlformats.org/drawingml/2006/main" prst="roundRect">
            <a:avLst>
              <a:gd name="adj" fmla="val 37500"/>
            </a:avLst>
          </a:prstGeom>
          <a:solidFill xmlns:a="http://schemas.openxmlformats.org/drawingml/2006/main">
            <a:srgbClr val="20355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C106EC-CC25-4195-B9BA-0675002D6344}"/>
              </a:ext>
            </a:extLst>
          </p:cNvPr>
          <p:cNvSpPr>
            <a:spLocks xmlns:a="http://schemas.openxmlformats.org/drawingml/2006/main" noGrp="1"/>
          </p:cNvSpPr>
          <p:nvPr/>
        </p:nvSpPr>
        <p:spPr>
          <a:xfrm xmlns:a="http://schemas.openxmlformats.org/drawingml/2006/main">
            <a:off x="685800" y="638175"/>
            <a:ext cx="2400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B9C6E4"/>
                </a:solidFill>
              </a:defRPr>
            </a:pPr>
            <a:r>
              <a:rPr sz="1050" b="1">
                <a:solidFill>
                  <a:srgbClr val="B9C6E4"/>
                </a:solidFill>
              </a:rPr>
              <a:t>HADI'S INDIVIDUAL SOLUTION</a:t>
            </a:r>
          </a:p>
        </p:txBody>
      </p:sp>
      <p:sp>
        <p:nvSpPr>
          <p:cNvPr id="5" name="">
            <a:extLst xmlns:a="http://schemas.openxmlformats.org/drawingml/2006/main">
              <a:ext uri="{FF2B5EF4-FFF2-40B4-BE49-F238E27FC236}">
                <a16:creationId xmlns:a16="http://schemas.microsoft.com/office/drawing/2014/main" id="{A63A29BE-42FD-41DE-ABAE-25163349DEA5}"/>
              </a:ext>
            </a:extLst>
          </p:cNvPr>
          <p:cNvSpPr>
            <a:spLocks xmlns:a="http://schemas.openxmlformats.org/drawingml/2006/main" noGrp="1"/>
          </p:cNvSpPr>
          <p:nvPr/>
        </p:nvSpPr>
        <p:spPr>
          <a:xfrm xmlns:a="http://schemas.openxmlformats.org/drawingml/2006/main">
            <a:off x="685800" y="1304925"/>
            <a:ext cx="56197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85000"/>
              </a:lnSpc>
              <a:buNone/>
              <a:defRPr sz="5550" b="1">
                <a:solidFill>
                  <a:srgbClr val="FFFFFF"/>
                </a:solidFill>
              </a:defRPr>
            </a:pPr>
            <a:r>
              <a:rPr sz="5550" b="1">
                <a:solidFill>
                  <a:srgbClr val="FFFFFF"/>
                </a:solidFill>
              </a:rPr>
              <a:t>XP Rewards</a:t>
            </a:r>
          </a:p>
          <a:p xmlns:a="http://schemas.openxmlformats.org/drawingml/2006/main">
            <a:pPr algn="l">
              <a:lnSpc>
                <a:spcPct val="85000"/>
              </a:lnSpc>
              <a:buNone/>
              <a:defRPr sz="5550" b="1">
                <a:solidFill>
                  <a:srgbClr val="FFFFFF"/>
                </a:solidFill>
              </a:defRPr>
            </a:pPr>
            <a:r>
              <a:rPr sz="5550" b="1">
                <a:solidFill>
                  <a:srgbClr val="FFFFFF"/>
                </a:solidFill>
              </a:rPr>
              <a:t>Store</a:t>
            </a:r>
          </a:p>
        </p:txBody>
      </p:sp>
      <p:sp>
        <p:nvSpPr>
          <p:cNvPr id="6" name="">
            <a:extLst xmlns:a="http://schemas.openxmlformats.org/drawingml/2006/main">
              <a:ext uri="{FF2B5EF4-FFF2-40B4-BE49-F238E27FC236}">
                <a16:creationId xmlns:a16="http://schemas.microsoft.com/office/drawing/2014/main" id="{D3380853-AD7D-4D56-9DCC-D6AFAD8A2988}"/>
              </a:ext>
            </a:extLst>
          </p:cNvPr>
          <p:cNvSpPr>
            <a:spLocks xmlns:a="http://schemas.openxmlformats.org/drawingml/2006/main" noGrp="1"/>
          </p:cNvSpPr>
          <p:nvPr/>
        </p:nvSpPr>
        <p:spPr>
          <a:xfrm xmlns:a="http://schemas.openxmlformats.org/drawingml/2006/main">
            <a:off x="685800" y="3238500"/>
            <a:ext cx="5381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2400" b="1">
                <a:solidFill>
                  <a:srgbClr val="FFD44D"/>
                </a:solidFill>
              </a:defRPr>
            </a:pPr>
            <a:r>
              <a:rPr sz="2400" b="1">
                <a:solidFill>
                  <a:srgbClr val="FFD44D"/>
                </a:solidFill>
              </a:rPr>
              <a:t>Turning every NETS payment into</a:t>
            </a:r>
          </a:p>
          <a:p xmlns:a="http://schemas.openxmlformats.org/drawingml/2006/main">
            <a:pPr algn="l">
              <a:lnSpc>
                <a:spcPct val="98000"/>
              </a:lnSpc>
              <a:buNone/>
              <a:defRPr sz="2400" b="1">
                <a:solidFill>
                  <a:srgbClr val="FFD44D"/>
                </a:solidFill>
              </a:defRPr>
            </a:pPr>
            <a:r>
              <a:rPr sz="2400" b="1">
                <a:solidFill>
                  <a:srgbClr val="FFD44D"/>
                </a:solidFill>
              </a:rPr>
              <a:t>a reason to return.</a:t>
            </a:r>
          </a:p>
        </p:txBody>
      </p:sp>
      <p:sp>
        <p:nvSpPr>
          <p:cNvPr id="7" name="">
            <a:extLst xmlns:a="http://schemas.openxmlformats.org/drawingml/2006/main">
              <a:ext uri="{FF2B5EF4-FFF2-40B4-BE49-F238E27FC236}">
                <a16:creationId xmlns:a16="http://schemas.microsoft.com/office/drawing/2014/main" id="{0006D6C5-EC7D-4F06-9822-FAAA556B4DCD}"/>
              </a:ext>
            </a:extLst>
          </p:cNvPr>
          <p:cNvSpPr>
            <a:spLocks xmlns:a="http://schemas.openxmlformats.org/drawingml/2006/main" noGrp="1"/>
          </p:cNvSpPr>
          <p:nvPr/>
        </p:nvSpPr>
        <p:spPr>
          <a:xfrm xmlns:a="http://schemas.openxmlformats.org/drawingml/2006/main">
            <a:off x="685800" y="4524375"/>
            <a:ext cx="5476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B8C4DD"/>
                </a:solidFill>
              </a:defRPr>
            </a:pPr>
            <a:r>
              <a:rPr sz="1350" b="0">
                <a:solidFill>
                  <a:srgbClr val="B8C4DD"/>
                </a:solidFill>
              </a:rPr>
              <a:t>Purchase-linked XP  •  instant cashback  •  local merchant value  •  traceable redemption</a:t>
            </a:r>
          </a:p>
        </p:txBody>
      </p:sp>
      <p:sp>
        <p:nvSpPr>
          <p:cNvPr id="8" name="">
            <a:extLst xmlns:a="http://schemas.openxmlformats.org/drawingml/2006/main">
              <a:ext uri="{FF2B5EF4-FFF2-40B4-BE49-F238E27FC236}">
                <a16:creationId xmlns:a16="http://schemas.microsoft.com/office/drawing/2014/main" id="{C004E0C3-4F24-42B3-8B05-491E5FBF5BFE}"/>
              </a:ext>
            </a:extLst>
          </p:cNvPr>
          <p:cNvSpPr>
            <a:spLocks xmlns:a="http://schemas.openxmlformats.org/drawingml/2006/main" noGrp="1"/>
          </p:cNvSpPr>
          <p:nvPr/>
        </p:nvSpPr>
        <p:spPr>
          <a:xfrm xmlns:a="http://schemas.openxmlformats.org/drawingml/2006/main">
            <a:off x="7429500" y="523875"/>
            <a:ext cx="3714750" cy="5810250"/>
          </a:xfrm>
          <a:prstGeom xmlns:a="http://schemas.openxmlformats.org/drawingml/2006/main" prst="roundRect">
            <a:avLst>
              <a:gd name="adj" fmla="val 6154"/>
            </a:avLst>
          </a:prstGeom>
          <a:solidFill xmlns:a="http://schemas.openxmlformats.org/drawingml/2006/main">
            <a:srgbClr val="17274C"/>
          </a:solidFill>
          <a:ln xmlns:a="http://schemas.openxmlformats.org/drawingml/2006/main" w="9525">
            <a:solidFill>
              <a:srgbClr val="31466F"/>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73831554b1b4d4d"/>
          <a:srcRect xmlns:a="http://schemas.openxmlformats.org/drawingml/2006/main" l="32924" t="0" r="32924" b="0"/>
          <a:stretch xmlns:a="http://schemas.openxmlformats.org/drawingml/2006/main">
            <a:fillRect l="0" t="0" r="0" b="0"/>
          </a:stretch>
        </p:blipFill>
        <p:spPr>
          <a:xfrm xmlns:a="http://schemas.openxmlformats.org/drawingml/2006/main">
            <a:off x="7667625" y="762000"/>
            <a:ext cx="3238500" cy="5334000"/>
          </a:xfrm>
          <a:prstGeom xmlns:a="http://schemas.openxmlformats.org/drawingml/2006/main" prst="roundRect">
            <a:avLst>
              <a:gd name="adj" fmla="val 4706"/>
            </a:avLst>
          </a:prstGeom>
        </p:spPr>
      </p:pic>
      <p:sp>
        <p:nvSpPr>
          <p:cNvPr id="10" name="">
            <a:extLst xmlns:a="http://schemas.openxmlformats.org/drawingml/2006/main">
              <a:ext uri="{FF2B5EF4-FFF2-40B4-BE49-F238E27FC236}">
                <a16:creationId xmlns:a16="http://schemas.microsoft.com/office/drawing/2014/main" id="{97CF01CF-B096-4B45-9274-4BA1889FA927}"/>
              </a:ext>
            </a:extLst>
          </p:cNvPr>
          <p:cNvSpPr>
            <a:spLocks xmlns:a="http://schemas.openxmlformats.org/drawingml/2006/main" noGrp="1"/>
          </p:cNvSpPr>
          <p:nvPr/>
        </p:nvSpPr>
        <p:spPr>
          <a:xfrm xmlns:a="http://schemas.openxmlformats.org/drawingml/2006/main">
            <a:off x="685800" y="6191250"/>
            <a:ext cx="295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7182A6"/>
                </a:solidFill>
              </a:defRPr>
            </a:pPr>
            <a:r>
              <a:rPr sz="900" b="1">
                <a:solidFill>
                  <a:srgbClr val="7182A6"/>
                </a:solidFill>
              </a:rPr>
              <a:t>IT3852 · FINAL SOLUTION</a:t>
            </a:r>
          </a:p>
        </p:txBody>
      </p:sp>
    </p:spTree>
    <p:extLst>
      <p:ext uri="{BB962C8B-B14F-4D97-AF65-F5344CB8AC3E}">
        <p14:creationId xmlns:p14="http://schemas.microsoft.com/office/powerpoint/2010/main" val="887562906"/>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45ACEE9-FDCE-481B-AFDA-7B375678928B}"/>
              </a:ext>
            </a:extLst>
          </p:cNvPr>
          <p:cNvSpPr>
            <a:spLocks xmlns:a="http://schemas.openxmlformats.org/drawingml/2006/main" noGrp="1"/>
          </p:cNvSpPr>
          <p:nvPr/>
        </p:nvSpPr>
        <p:spPr>
          <a:xfrm xmlns:a="http://schemas.openxmlformats.org/drawingml/2006/main">
            <a:off x="609600" y="3238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FF3347"/>
                </a:solidFill>
              </a:defRPr>
            </a:pPr>
            <a:r>
              <a:rPr sz="1050" b="1">
                <a:solidFill>
                  <a:srgbClr val="FF3347"/>
                </a:solidFill>
              </a:rPr>
              <a:t>VALIDATED OPPORTUNITY</a:t>
            </a:r>
          </a:p>
        </p:txBody>
      </p:sp>
      <p:sp>
        <p:nvSpPr>
          <p:cNvPr id="2" name="">
            <a:extLst xmlns:a="http://schemas.openxmlformats.org/drawingml/2006/main">
              <a:ext uri="{FF2B5EF4-FFF2-40B4-BE49-F238E27FC236}">
                <a16:creationId xmlns:a16="http://schemas.microsoft.com/office/drawing/2014/main" id="{C3154FB8-8E52-4B9B-9A75-6D90EA7A3A3E}"/>
              </a:ext>
            </a:extLst>
          </p:cNvPr>
          <p:cNvSpPr>
            <a:spLocks xmlns:a="http://schemas.openxmlformats.org/drawingml/2006/main" noGrp="1"/>
          </p:cNvSpPr>
          <p:nvPr/>
        </p:nvSpPr>
        <p:spPr>
          <a:xfrm xmlns:a="http://schemas.openxmlformats.org/drawingml/2006/main">
            <a:off x="609600" y="66675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00" b="1">
                <a:solidFill>
                  <a:srgbClr val="18223B"/>
                </a:solidFill>
              </a:defRPr>
            </a:pPr>
            <a:r>
              <a:rPr sz="3600" b="1">
                <a:solidFill>
                  <a:srgbClr val="18223B"/>
                </a:solidFill>
              </a:rPr>
              <a:t>The problem was not acceptance. It was preference.</a:t>
            </a:r>
          </a:p>
        </p:txBody>
      </p:sp>
      <p:sp>
        <p:nvSpPr>
          <p:cNvPr id="3" name="">
            <a:extLst xmlns:a="http://schemas.openxmlformats.org/drawingml/2006/main">
              <a:ext uri="{FF2B5EF4-FFF2-40B4-BE49-F238E27FC236}">
                <a16:creationId xmlns:a16="http://schemas.microsoft.com/office/drawing/2014/main" id="{B548A750-B093-4B4F-BC38-5BA188D48482}"/>
              </a:ext>
            </a:extLst>
          </p:cNvPr>
          <p:cNvSpPr>
            <a:spLocks xmlns:a="http://schemas.openxmlformats.org/drawingml/2006/main" noGrp="1"/>
          </p:cNvSpPr>
          <p:nvPr/>
        </p:nvSpPr>
        <p:spPr>
          <a:xfrm xmlns:a="http://schemas.openxmlformats.org/drawingml/2006/main">
            <a:off x="11239500" y="3619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647089"/>
                </a:solidFill>
              </a:defRPr>
            </a:pPr>
            <a:r>
              <a:rPr sz="1050" b="1">
                <a:solidFill>
                  <a:srgbClr val="647089"/>
                </a:solidFill>
              </a:rPr>
              <a:t>02</a:t>
            </a:r>
          </a:p>
        </p:txBody>
      </p:sp>
      <p:sp>
        <p:nvSpPr>
          <p:cNvPr id="4" name="">
            <a:extLst xmlns:a="http://schemas.openxmlformats.org/drawingml/2006/main">
              <a:ext uri="{FF2B5EF4-FFF2-40B4-BE49-F238E27FC236}">
                <a16:creationId xmlns:a16="http://schemas.microsoft.com/office/drawing/2014/main" id="{C498C647-8B25-4F9A-BABC-67A3E6778A65}"/>
              </a:ext>
            </a:extLst>
          </p:cNvPr>
          <p:cNvSpPr>
            <a:spLocks xmlns:a="http://schemas.openxmlformats.org/drawingml/2006/main" noGrp="1"/>
          </p:cNvSpPr>
          <p:nvPr/>
        </p:nvSpPr>
        <p:spPr>
          <a:xfrm xmlns:a="http://schemas.openxmlformats.org/drawingml/2006/main">
            <a:off x="609600" y="1428750"/>
            <a:ext cx="676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309"/>
          </a:bodyPr>
          <a:lstStyle xmlns:a="http://schemas.openxmlformats.org/drawingml/2006/main"/>
          <a:p xmlns:a="http://schemas.openxmlformats.org/drawingml/2006/main">
            <a:pPr algn="l">
              <a:lnSpc>
                <a:spcPct val="112000"/>
              </a:lnSpc>
              <a:buNone/>
              <a:defRPr sz="1875" b="0">
                <a:solidFill>
                  <a:srgbClr val="647089"/>
                </a:solidFill>
              </a:defRPr>
            </a:pPr>
            <a:r>
              <a:rPr sz="1875" b="0">
                <a:solidFill>
                  <a:srgbClr val="647089"/>
                </a:solidFill>
              </a:rPr>
              <a:t>NETS was already present at everyday merchants — but users still needed a tangible reason to choose it repeatedly.</a:t>
            </a:r>
          </a:p>
        </p:txBody>
      </p:sp>
      <p:sp>
        <p:nvSpPr>
          <p:cNvPr id="5" name="">
            <a:extLst xmlns:a="http://schemas.openxmlformats.org/drawingml/2006/main">
              <a:ext uri="{FF2B5EF4-FFF2-40B4-BE49-F238E27FC236}">
                <a16:creationId xmlns:a16="http://schemas.microsoft.com/office/drawing/2014/main" id="{B53C2B65-228E-48FF-87F5-846ECB19F5B0}"/>
              </a:ext>
            </a:extLst>
          </p:cNvPr>
          <p:cNvSpPr>
            <a:spLocks xmlns:a="http://schemas.openxmlformats.org/drawingml/2006/main" noGrp="1"/>
          </p:cNvSpPr>
          <p:nvPr/>
        </p:nvSpPr>
        <p:spPr>
          <a:xfrm xmlns:a="http://schemas.openxmlformats.org/drawingml/2006/main">
            <a:off x="609600" y="2333625"/>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86"/>
          </a:bodyPr>
          <a:lstStyle xmlns:a="http://schemas.openxmlformats.org/drawingml/2006/main"/>
          <a:p xmlns:a="http://schemas.openxmlformats.org/drawingml/2006/main">
            <a:pPr algn="l">
              <a:lnSpc>
                <a:spcPct val="105000"/>
              </a:lnSpc>
              <a:buNone/>
              <a:defRPr sz="4650" b="1">
                <a:solidFill>
                  <a:srgbClr val="FF3347"/>
                </a:solidFill>
              </a:defRPr>
            </a:pPr>
            <a:r>
              <a:rPr sz="4650" b="1">
                <a:solidFill>
                  <a:srgbClr val="FF3347"/>
                </a:solidFill>
              </a:rPr>
              <a:t>25 / 48</a:t>
            </a:r>
          </a:p>
        </p:txBody>
      </p:sp>
      <p:sp>
        <p:nvSpPr>
          <p:cNvPr id="6" name="">
            <a:extLst xmlns:a="http://schemas.openxmlformats.org/drawingml/2006/main">
              <a:ext uri="{FF2B5EF4-FFF2-40B4-BE49-F238E27FC236}">
                <a16:creationId xmlns:a16="http://schemas.microsoft.com/office/drawing/2014/main" id="{F59F60B7-18D3-4BD7-AF3E-6C8967A7BAA6}"/>
              </a:ext>
            </a:extLst>
          </p:cNvPr>
          <p:cNvSpPr>
            <a:spLocks xmlns:a="http://schemas.openxmlformats.org/drawingml/2006/main" noGrp="1"/>
          </p:cNvSpPr>
          <p:nvPr/>
        </p:nvSpPr>
        <p:spPr>
          <a:xfrm xmlns:a="http://schemas.openxmlformats.org/drawingml/2006/main">
            <a:off x="628650" y="30289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18223B"/>
                </a:solidFill>
              </a:defRPr>
            </a:pPr>
            <a:r>
              <a:rPr sz="1500" b="1">
                <a:solidFill>
                  <a:srgbClr val="18223B"/>
                </a:solidFill>
              </a:rPr>
              <a:t>survey respondents selected</a:t>
            </a:r>
          </a:p>
          <a:p xmlns:a="http://schemas.openxmlformats.org/drawingml/2006/main">
            <a:pPr algn="l">
              <a:lnSpc>
                <a:spcPct val="105000"/>
              </a:lnSpc>
              <a:buNone/>
              <a:defRPr sz="1500" b="1">
                <a:solidFill>
                  <a:srgbClr val="18223B"/>
                </a:solidFill>
              </a:defRPr>
            </a:pPr>
            <a:r>
              <a:rPr sz="1500" b="1">
                <a:solidFill>
                  <a:srgbClr val="18223B"/>
                </a:solidFill>
              </a:rPr>
              <a:t>promotions &amp; discounts</a:t>
            </a:r>
          </a:p>
        </p:txBody>
      </p:sp>
      <p:sp>
        <p:nvSpPr>
          <p:cNvPr id="7" name="">
            <a:extLst xmlns:a="http://schemas.openxmlformats.org/drawingml/2006/main">
              <a:ext uri="{FF2B5EF4-FFF2-40B4-BE49-F238E27FC236}">
                <a16:creationId xmlns:a16="http://schemas.microsoft.com/office/drawing/2014/main" id="{9793C503-2503-4925-9A23-D1EA17B2EB44}"/>
              </a:ext>
            </a:extLst>
          </p:cNvPr>
          <p:cNvSpPr>
            <a:spLocks xmlns:a="http://schemas.openxmlformats.org/drawingml/2006/main" noGrp="1"/>
          </p:cNvSpPr>
          <p:nvPr/>
        </p:nvSpPr>
        <p:spPr>
          <a:xfrm xmlns:a="http://schemas.openxmlformats.org/drawingml/2006/main">
            <a:off x="3714750" y="2400300"/>
            <a:ext cx="19050" cy="1200150"/>
          </a:xfrm>
          <a:prstGeom xmlns:a="http://schemas.openxmlformats.org/drawingml/2006/main" prst="rect">
            <a:avLst/>
          </a:prstGeom>
          <a:solidFill xmlns:a="http://schemas.openxmlformats.org/drawingml/2006/main">
            <a:srgbClr val="DCE2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970205E-2CD5-43EC-90BA-F9F895628A78}"/>
              </a:ext>
            </a:extLst>
          </p:cNvPr>
          <p:cNvSpPr>
            <a:spLocks xmlns:a="http://schemas.openxmlformats.org/drawingml/2006/main" noGrp="1"/>
          </p:cNvSpPr>
          <p:nvPr/>
        </p:nvSpPr>
        <p:spPr>
          <a:xfrm xmlns:a="http://schemas.openxmlformats.org/drawingml/2006/main">
            <a:off x="4095750" y="2333625"/>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86"/>
          </a:bodyPr>
          <a:lstStyle xmlns:a="http://schemas.openxmlformats.org/drawingml/2006/main"/>
          <a:p xmlns:a="http://schemas.openxmlformats.org/drawingml/2006/main">
            <a:pPr algn="l">
              <a:lnSpc>
                <a:spcPct val="105000"/>
              </a:lnSpc>
              <a:buNone/>
              <a:defRPr sz="4650" b="1">
                <a:solidFill>
                  <a:srgbClr val="5267F8"/>
                </a:solidFill>
              </a:defRPr>
            </a:pPr>
            <a:r>
              <a:rPr sz="4650" b="1">
                <a:solidFill>
                  <a:srgbClr val="5267F8"/>
                </a:solidFill>
              </a:rPr>
              <a:t>45,000</a:t>
            </a:r>
          </a:p>
        </p:txBody>
      </p:sp>
      <p:sp>
        <p:nvSpPr>
          <p:cNvPr id="9" name="">
            <a:extLst xmlns:a="http://schemas.openxmlformats.org/drawingml/2006/main">
              <a:ext uri="{FF2B5EF4-FFF2-40B4-BE49-F238E27FC236}">
                <a16:creationId xmlns:a16="http://schemas.microsoft.com/office/drawing/2014/main" id="{F19A5DEB-2DAF-4CAA-8811-A8B751FA5CB2}"/>
              </a:ext>
            </a:extLst>
          </p:cNvPr>
          <p:cNvSpPr>
            <a:spLocks xmlns:a="http://schemas.openxmlformats.org/drawingml/2006/main" noGrp="1"/>
          </p:cNvSpPr>
          <p:nvPr/>
        </p:nvSpPr>
        <p:spPr>
          <a:xfrm xmlns:a="http://schemas.openxmlformats.org/drawingml/2006/main">
            <a:off x="4114800" y="302895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18223B"/>
                </a:solidFill>
              </a:defRPr>
            </a:pPr>
            <a:r>
              <a:rPr sz="1500" b="1">
                <a:solidFill>
                  <a:srgbClr val="18223B"/>
                </a:solidFill>
              </a:rPr>
              <a:t>merchant touchpoints</a:t>
            </a:r>
          </a:p>
          <a:p xmlns:a="http://schemas.openxmlformats.org/drawingml/2006/main">
            <a:pPr algn="l">
              <a:lnSpc>
                <a:spcPct val="105000"/>
              </a:lnSpc>
              <a:buNone/>
              <a:defRPr sz="1500" b="1">
                <a:solidFill>
                  <a:srgbClr val="18223B"/>
                </a:solidFill>
              </a:defRPr>
            </a:pPr>
            <a:r>
              <a:rPr sz="1500" b="1">
                <a:solidFill>
                  <a:srgbClr val="18223B"/>
                </a:solidFill>
              </a:rPr>
              <a:t>reported in project research</a:t>
            </a:r>
          </a:p>
        </p:txBody>
      </p:sp>
      <p:sp>
        <p:nvSpPr>
          <p:cNvPr id="10" name="">
            <a:extLst xmlns:a="http://schemas.openxmlformats.org/drawingml/2006/main">
              <a:ext uri="{FF2B5EF4-FFF2-40B4-BE49-F238E27FC236}">
                <a16:creationId xmlns:a16="http://schemas.microsoft.com/office/drawing/2014/main" id="{8A65E72E-84B8-4E9B-9CC2-6FA5279B5B8A}"/>
              </a:ext>
            </a:extLst>
          </p:cNvPr>
          <p:cNvSpPr>
            <a:spLocks xmlns:a="http://schemas.openxmlformats.org/drawingml/2006/main" noGrp="1"/>
          </p:cNvSpPr>
          <p:nvPr/>
        </p:nvSpPr>
        <p:spPr>
          <a:xfrm xmlns:a="http://schemas.openxmlformats.org/drawingml/2006/main">
            <a:off x="609600" y="3943350"/>
            <a:ext cx="6191250" cy="1066800"/>
          </a:xfrm>
          <a:prstGeom xmlns:a="http://schemas.openxmlformats.org/drawingml/2006/main" prst="roundRect">
            <a:avLst>
              <a:gd name="adj" fmla="val 10714"/>
            </a:avLst>
          </a:prstGeom>
          <a:solidFill xmlns:a="http://schemas.openxmlformats.org/drawingml/2006/main">
            <a:srgbClr val="0B183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F8AD5D1-2329-43DF-B58E-A400A71C3DF0}"/>
              </a:ext>
            </a:extLst>
          </p:cNvPr>
          <p:cNvSpPr>
            <a:spLocks xmlns:a="http://schemas.openxmlformats.org/drawingml/2006/main" noGrp="1"/>
          </p:cNvSpPr>
          <p:nvPr/>
        </p:nvSpPr>
        <p:spPr>
          <a:xfrm xmlns:a="http://schemas.openxmlformats.org/drawingml/2006/main">
            <a:off x="857250" y="41719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FFD44D"/>
                </a:solidFill>
              </a:defRPr>
            </a:pPr>
            <a:r>
              <a:rPr sz="1200" b="1">
                <a:solidFill>
                  <a:srgbClr val="FFD44D"/>
                </a:solidFill>
              </a:rPr>
              <a:t>Insight</a:t>
            </a:r>
          </a:p>
        </p:txBody>
      </p:sp>
      <p:sp>
        <p:nvSpPr>
          <p:cNvPr id="12" name="">
            <a:extLst xmlns:a="http://schemas.openxmlformats.org/drawingml/2006/main">
              <a:ext uri="{FF2B5EF4-FFF2-40B4-BE49-F238E27FC236}">
                <a16:creationId xmlns:a16="http://schemas.microsoft.com/office/drawing/2014/main" id="{7A2A96F6-661E-4BF2-96D6-E17C61E2810E}"/>
              </a:ext>
            </a:extLst>
          </p:cNvPr>
          <p:cNvSpPr>
            <a:spLocks xmlns:a="http://schemas.openxmlformats.org/drawingml/2006/main" noGrp="1"/>
          </p:cNvSpPr>
          <p:nvPr/>
        </p:nvSpPr>
        <p:spPr>
          <a:xfrm xmlns:a="http://schemas.openxmlformats.org/drawingml/2006/main">
            <a:off x="857250" y="4476750"/>
            <a:ext cx="552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4891"/>
          </a:bodyPr>
          <a:lstStyle xmlns:a="http://schemas.openxmlformats.org/drawingml/2006/main"/>
          <a:p xmlns:a="http://schemas.openxmlformats.org/drawingml/2006/main">
            <a:pPr algn="l">
              <a:lnSpc>
                <a:spcPct val="102000"/>
              </a:lnSpc>
              <a:buNone/>
              <a:defRPr sz="1800" b="1">
                <a:solidFill>
                  <a:srgbClr val="FFFFFF"/>
                </a:solidFill>
              </a:defRPr>
            </a:pPr>
            <a:r>
              <a:rPr sz="1800" b="1">
                <a:solidFill>
                  <a:srgbClr val="FFFFFF"/>
                </a:solidFill>
              </a:rPr>
              <a:t>Rewards can turn reach into habit — especially when the value is immediate and local.</a:t>
            </a:r>
          </a:p>
        </p:txBody>
      </p:sp>
      <p:sp>
        <p:nvSpPr>
          <p:cNvPr id="13" name="">
            <a:extLst xmlns:a="http://schemas.openxmlformats.org/drawingml/2006/main">
              <a:ext uri="{FF2B5EF4-FFF2-40B4-BE49-F238E27FC236}">
                <a16:creationId xmlns:a16="http://schemas.microsoft.com/office/drawing/2014/main" id="{59B2A5D6-AF9E-4C8D-A359-2E64FD8685F9}"/>
              </a:ext>
            </a:extLst>
          </p:cNvPr>
          <p:cNvSpPr>
            <a:spLocks xmlns:a="http://schemas.openxmlformats.org/drawingml/2006/main" noGrp="1"/>
          </p:cNvSpPr>
          <p:nvPr/>
        </p:nvSpPr>
        <p:spPr>
          <a:xfrm xmlns:a="http://schemas.openxmlformats.org/drawingml/2006/main">
            <a:off x="7429500" y="1428750"/>
            <a:ext cx="4152900" cy="4343400"/>
          </a:xfrm>
          <a:prstGeom xmlns:a="http://schemas.openxmlformats.org/drawingml/2006/main" prst="roundRect">
            <a:avLst>
              <a:gd name="adj" fmla="val 5505"/>
            </a:avLst>
          </a:prstGeom>
          <a:solidFill xmlns:a="http://schemas.openxmlformats.org/drawingml/2006/main">
            <a:srgbClr val="FFFFFF"/>
          </a:solidFill>
          <a:ln xmlns:a="http://schemas.openxmlformats.org/drawingml/2006/main" w="9525">
            <a:solidFill>
              <a:srgbClr val="DCE2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adc4f3a55ba94050"/>
          <a:srcRect xmlns:a="http://schemas.openxmlformats.org/drawingml/2006/main" l="0" t="57" r="0" b="57"/>
          <a:stretch xmlns:a="http://schemas.openxmlformats.org/drawingml/2006/main">
            <a:fillRect l="0" t="0" r="0" b="0"/>
          </a:stretch>
        </p:blipFill>
        <p:spPr>
          <a:xfrm xmlns:a="http://schemas.openxmlformats.org/drawingml/2006/main">
            <a:off x="7658100" y="1676400"/>
            <a:ext cx="3695700" cy="2076450"/>
          </a:xfrm>
          <a:prstGeom xmlns:a="http://schemas.openxmlformats.org/drawingml/2006/main" prst="roundRect">
            <a:avLst>
              <a:gd name="adj" fmla="val 7339"/>
            </a:avLst>
          </a:prstGeom>
        </p:spPr>
      </p:pic>
      <p:sp>
        <p:nvSpPr>
          <p:cNvPr id="15" name="">
            <a:extLst xmlns:a="http://schemas.openxmlformats.org/drawingml/2006/main">
              <a:ext uri="{FF2B5EF4-FFF2-40B4-BE49-F238E27FC236}">
                <a16:creationId xmlns:a16="http://schemas.microsoft.com/office/drawing/2014/main" id="{13D40A95-4666-450E-939C-D2BF68771EF2}"/>
              </a:ext>
            </a:extLst>
          </p:cNvPr>
          <p:cNvSpPr>
            <a:spLocks xmlns:a="http://schemas.openxmlformats.org/drawingml/2006/main" noGrp="1"/>
          </p:cNvSpPr>
          <p:nvPr/>
        </p:nvSpPr>
        <p:spPr>
          <a:xfrm xmlns:a="http://schemas.openxmlformats.org/drawingml/2006/main">
            <a:off x="7658100" y="4019550"/>
            <a:ext cx="1809750" cy="304800"/>
          </a:xfrm>
          <a:prstGeom xmlns:a="http://schemas.openxmlformats.org/drawingml/2006/main" prst="roundRect">
            <a:avLst>
              <a:gd name="adj" fmla="val 37500"/>
            </a:avLst>
          </a:prstGeom>
          <a:solidFill xmlns:a="http://schemas.openxmlformats.org/drawingml/2006/main">
            <a:srgbClr val="FFE7E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B804BF5-E261-441B-B534-AC1A5C5E12F6}"/>
              </a:ext>
            </a:extLst>
          </p:cNvPr>
          <p:cNvSpPr>
            <a:spLocks xmlns:a="http://schemas.openxmlformats.org/drawingml/2006/main" noGrp="1"/>
          </p:cNvSpPr>
          <p:nvPr/>
        </p:nvSpPr>
        <p:spPr>
          <a:xfrm xmlns:a="http://schemas.openxmlformats.org/drawingml/2006/main">
            <a:off x="7658100" y="406717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FF3347"/>
                </a:solidFill>
              </a:defRPr>
            </a:pPr>
            <a:r>
              <a:rPr sz="1050" b="1">
                <a:solidFill>
                  <a:srgbClr val="FF3347"/>
                </a:solidFill>
              </a:rPr>
              <a:t>ORIGINAL HYPOTHESIS</a:t>
            </a:r>
          </a:p>
        </p:txBody>
      </p:sp>
      <p:sp>
        <p:nvSpPr>
          <p:cNvPr id="17" name="">
            <a:extLst xmlns:a="http://schemas.openxmlformats.org/drawingml/2006/main">
              <a:ext uri="{FF2B5EF4-FFF2-40B4-BE49-F238E27FC236}">
                <a16:creationId xmlns:a16="http://schemas.microsoft.com/office/drawing/2014/main" id="{54F6F5D1-C032-4A6E-98CA-52891A6C7957}"/>
              </a:ext>
            </a:extLst>
          </p:cNvPr>
          <p:cNvSpPr>
            <a:spLocks xmlns:a="http://schemas.openxmlformats.org/drawingml/2006/main" noGrp="1"/>
          </p:cNvSpPr>
          <p:nvPr/>
        </p:nvSpPr>
        <p:spPr>
          <a:xfrm xmlns:a="http://schemas.openxmlformats.org/drawingml/2006/main">
            <a:off x="7658100" y="4495800"/>
            <a:ext cx="3505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00" b="1">
                <a:solidFill>
                  <a:srgbClr val="18223B"/>
                </a:solidFill>
              </a:defRPr>
            </a:pPr>
            <a:r>
              <a:rPr sz="1800" b="1">
                <a:solidFill>
                  <a:srgbClr val="18223B"/>
                </a:solidFill>
              </a:rPr>
              <a:t>“Every transaction earns XP redeemable for cashback, vouchers and partner deals.”</a:t>
            </a:r>
          </a:p>
        </p:txBody>
      </p:sp>
      <p:sp>
        <p:nvSpPr>
          <p:cNvPr id="18" name="">
            <a:extLst xmlns:a="http://schemas.openxmlformats.org/drawingml/2006/main">
              <a:ext uri="{FF2B5EF4-FFF2-40B4-BE49-F238E27FC236}">
                <a16:creationId xmlns:a16="http://schemas.microsoft.com/office/drawing/2014/main" id="{DC6D8663-AF50-4046-A39C-B47F61971BAA}"/>
              </a:ext>
            </a:extLst>
          </p:cNvPr>
          <p:cNvSpPr>
            <a:spLocks xmlns:a="http://schemas.openxmlformats.org/drawingml/2006/main" noGrp="1"/>
          </p:cNvSpPr>
          <p:nvPr/>
        </p:nvSpPr>
        <p:spPr>
          <a:xfrm xmlns:a="http://schemas.openxmlformats.org/drawingml/2006/main">
            <a:off x="609600" y="6515100"/>
            <a:ext cx="10972800" cy="19050"/>
          </a:xfrm>
          <a:prstGeom xmlns:a="http://schemas.openxmlformats.org/drawingml/2006/main" prst="rect">
            <a:avLst/>
          </a:prstGeom>
          <a:solidFill xmlns:a="http://schemas.openxmlformats.org/drawingml/2006/main">
            <a:srgbClr val="DCE2E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DAA8EAE-E6F6-4B9D-B16C-47438CBC9A75}"/>
              </a:ext>
            </a:extLst>
          </p:cNvPr>
          <p:cNvSpPr>
            <a:spLocks xmlns:a="http://schemas.openxmlformats.org/drawingml/2006/main" noGrp="1"/>
          </p:cNvSpPr>
          <p:nvPr/>
        </p:nvSpPr>
        <p:spPr>
          <a:xfrm xmlns:a="http://schemas.openxmlformats.org/drawingml/2006/main">
            <a:off x="609600" y="6515100"/>
            <a:ext cx="2190750" cy="19050"/>
          </a:xfrm>
          <a:prstGeom xmlns:a="http://schemas.openxmlformats.org/drawingml/2006/main" prst="rect">
            <a:avLst/>
          </a:prstGeom>
          <a:solidFill xmlns:a="http://schemas.openxmlformats.org/drawingml/2006/main">
            <a:srgbClr val="FF334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CD7BEF7-9589-4D6A-B297-E8EA7F05F632}"/>
              </a:ext>
            </a:extLst>
          </p:cNvPr>
          <p:cNvSpPr>
            <a:spLocks xmlns:a="http://schemas.openxmlformats.org/drawingml/2006/main" noGrp="1"/>
          </p:cNvSpPr>
          <p:nvPr/>
        </p:nvSpPr>
        <p:spPr>
          <a:xfrm xmlns:a="http://schemas.openxmlformats.org/drawingml/2006/main">
            <a:off x="609600" y="6610350"/>
            <a:ext cx="2286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8A94A8"/>
                </a:solidFill>
              </a:defRPr>
            </a:pPr>
            <a:r>
              <a:rPr sz="750" b="1">
                <a:solidFill>
                  <a:srgbClr val="8A94A8"/>
                </a:solidFill>
              </a:rPr>
              <a:t>XP REWARDS STORE</a:t>
            </a:r>
          </a:p>
        </p:txBody>
      </p:sp>
      <p:sp>
        <p:nvSpPr>
          <p:cNvPr id="21" name="">
            <a:extLst xmlns:a="http://schemas.openxmlformats.org/drawingml/2006/main">
              <a:ext uri="{FF2B5EF4-FFF2-40B4-BE49-F238E27FC236}">
                <a16:creationId xmlns:a16="http://schemas.microsoft.com/office/drawing/2014/main" id="{A113C720-D729-4336-83EB-5D6E3D457939}"/>
              </a:ext>
            </a:extLst>
          </p:cNvPr>
          <p:cNvSpPr>
            <a:spLocks xmlns:a="http://schemas.openxmlformats.org/drawingml/2006/main" noGrp="1"/>
          </p:cNvSpPr>
          <p:nvPr/>
        </p:nvSpPr>
        <p:spPr>
          <a:xfrm xmlns:a="http://schemas.openxmlformats.org/drawingml/2006/main">
            <a:off x="10810875" y="6610350"/>
            <a:ext cx="7715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8A94A8"/>
                </a:solidFill>
              </a:defRPr>
            </a:pPr>
            <a:r>
              <a:rPr sz="750" b="1">
                <a:solidFill>
                  <a:srgbClr val="8A94A8"/>
                </a:solidFill>
              </a:rPr>
              <a:t>HADI</a:t>
            </a:r>
          </a:p>
        </p:txBody>
      </p:sp>
    </p:spTree>
    <p:extLst>
      <p:ext uri="{BB962C8B-B14F-4D97-AF65-F5344CB8AC3E}">
        <p14:creationId xmlns:p14="http://schemas.microsoft.com/office/powerpoint/2010/main" val="8149861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40876FB-630D-424D-84C8-19B19D938CD6}"/>
              </a:ext>
            </a:extLst>
          </p:cNvPr>
          <p:cNvSpPr>
            <a:spLocks xmlns:a="http://schemas.openxmlformats.org/drawingml/2006/main" noGrp="1"/>
          </p:cNvSpPr>
          <p:nvPr/>
        </p:nvSpPr>
        <p:spPr>
          <a:xfrm xmlns:a="http://schemas.openxmlformats.org/drawingml/2006/main">
            <a:off x="609600" y="3238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5267F8"/>
                </a:solidFill>
              </a:defRPr>
            </a:pPr>
            <a:r>
              <a:rPr sz="1050" b="1">
                <a:solidFill>
                  <a:srgbClr val="5267F8"/>
                </a:solidFill>
              </a:rPr>
              <a:t>EVOLUTION</a:t>
            </a:r>
          </a:p>
        </p:txBody>
      </p:sp>
      <p:sp>
        <p:nvSpPr>
          <p:cNvPr id="2" name="">
            <a:extLst xmlns:a="http://schemas.openxmlformats.org/drawingml/2006/main">
              <a:ext uri="{FF2B5EF4-FFF2-40B4-BE49-F238E27FC236}">
                <a16:creationId xmlns:a16="http://schemas.microsoft.com/office/drawing/2014/main" id="{8C9CF371-B967-443A-ADC0-504B4DD1370A}"/>
              </a:ext>
            </a:extLst>
          </p:cNvPr>
          <p:cNvSpPr>
            <a:spLocks xmlns:a="http://schemas.openxmlformats.org/drawingml/2006/main" noGrp="1"/>
          </p:cNvSpPr>
          <p:nvPr/>
        </p:nvSpPr>
        <p:spPr>
          <a:xfrm xmlns:a="http://schemas.openxmlformats.org/drawingml/2006/main">
            <a:off x="609600" y="66675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00" b="1">
                <a:solidFill>
                  <a:srgbClr val="18223B"/>
                </a:solidFill>
              </a:defRPr>
            </a:pPr>
            <a:r>
              <a:rPr sz="3600" b="1">
                <a:solidFill>
                  <a:srgbClr val="18223B"/>
                </a:solidFill>
              </a:rPr>
              <a:t>A catalogue idea became a loyalty engine.</a:t>
            </a:r>
          </a:p>
        </p:txBody>
      </p:sp>
      <p:sp>
        <p:nvSpPr>
          <p:cNvPr id="3" name="">
            <a:extLst xmlns:a="http://schemas.openxmlformats.org/drawingml/2006/main">
              <a:ext uri="{FF2B5EF4-FFF2-40B4-BE49-F238E27FC236}">
                <a16:creationId xmlns:a16="http://schemas.microsoft.com/office/drawing/2014/main" id="{31CAB946-DAF6-45C6-A468-C11B89DE5B07}"/>
              </a:ext>
            </a:extLst>
          </p:cNvPr>
          <p:cNvSpPr>
            <a:spLocks xmlns:a="http://schemas.openxmlformats.org/drawingml/2006/main" noGrp="1"/>
          </p:cNvSpPr>
          <p:nvPr/>
        </p:nvSpPr>
        <p:spPr>
          <a:xfrm xmlns:a="http://schemas.openxmlformats.org/drawingml/2006/main">
            <a:off x="11239500" y="3619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647089"/>
                </a:solidFill>
              </a:defRPr>
            </a:pPr>
            <a:r>
              <a:rPr sz="1050" b="1">
                <a:solidFill>
                  <a:srgbClr val="647089"/>
                </a:solidFill>
              </a:rPr>
              <a:t>03</a:t>
            </a:r>
          </a:p>
        </p:txBody>
      </p:sp>
      <p:sp>
        <p:nvSpPr>
          <p:cNvPr id="4" name="">
            <a:extLst xmlns:a="http://schemas.openxmlformats.org/drawingml/2006/main">
              <a:ext uri="{FF2B5EF4-FFF2-40B4-BE49-F238E27FC236}">
                <a16:creationId xmlns:a16="http://schemas.microsoft.com/office/drawing/2014/main" id="{B8778AD6-04DC-4B6C-84CA-D375DBF27000}"/>
              </a:ext>
            </a:extLst>
          </p:cNvPr>
          <p:cNvSpPr>
            <a:spLocks xmlns:a="http://schemas.openxmlformats.org/drawingml/2006/main" noGrp="1"/>
          </p:cNvSpPr>
          <p:nvPr/>
        </p:nvSpPr>
        <p:spPr>
          <a:xfrm xmlns:a="http://schemas.openxmlformats.org/drawingml/2006/main">
            <a:off x="609600" y="13525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717"/>
          </a:bodyPr>
          <a:lstStyle xmlns:a="http://schemas.openxmlformats.org/drawingml/2006/main"/>
          <a:p xmlns:a="http://schemas.openxmlformats.org/drawingml/2006/main">
            <a:pPr algn="l">
              <a:lnSpc>
                <a:spcPct val="105000"/>
              </a:lnSpc>
              <a:buNone/>
              <a:defRPr sz="1725" b="0">
                <a:solidFill>
                  <a:srgbClr val="647089"/>
                </a:solidFill>
              </a:defRPr>
            </a:pPr>
            <a:r>
              <a:rPr sz="1725" b="0">
                <a:solidFill>
                  <a:srgbClr val="647089"/>
                </a:solidFill>
              </a:rPr>
              <a:t>The biggest iteration was behind the screens: the prototype now decides what qualifies, prevents duplicate earning, and makes redemption change real balances.</a:t>
            </a:r>
          </a:p>
        </p:txBody>
      </p:sp>
      <p:sp>
        <p:nvSpPr>
          <p:cNvPr id="5" name="">
            <a:extLst xmlns:a="http://schemas.openxmlformats.org/drawingml/2006/main">
              <a:ext uri="{FF2B5EF4-FFF2-40B4-BE49-F238E27FC236}">
                <a16:creationId xmlns:a16="http://schemas.microsoft.com/office/drawing/2014/main" id="{E92E4F5E-752C-460F-81CA-CEF5C14C32DE}"/>
              </a:ext>
            </a:extLst>
          </p:cNvPr>
          <p:cNvSpPr>
            <a:spLocks xmlns:a="http://schemas.openxmlformats.org/drawingml/2006/main" noGrp="1"/>
          </p:cNvSpPr>
          <p:nvPr/>
        </p:nvSpPr>
        <p:spPr>
          <a:xfrm xmlns:a="http://schemas.openxmlformats.org/drawingml/2006/main">
            <a:off x="609600" y="2152650"/>
            <a:ext cx="3981450" cy="3276600"/>
          </a:xfrm>
          <a:prstGeom xmlns:a="http://schemas.openxmlformats.org/drawingml/2006/main" prst="roundRect">
            <a:avLst>
              <a:gd name="adj" fmla="val 6977"/>
            </a:avLst>
          </a:prstGeom>
          <a:solidFill xmlns:a="http://schemas.openxmlformats.org/drawingml/2006/main">
            <a:srgbClr val="F5F7FB"/>
          </a:solidFill>
          <a:ln xmlns:a="http://schemas.openxmlformats.org/drawingml/2006/main" w="9525">
            <a:solidFill>
              <a:srgbClr val="DCE2ED"/>
            </a:solidFill>
            <a:prstDash val="solid"/>
          </a:ln>
        </p:spPr>
      </p:sp>
      <p:sp>
        <p:nvSpPr>
          <p:cNvPr id="6" name="">
            <a:extLst xmlns:a="http://schemas.openxmlformats.org/drawingml/2006/main">
              <a:ext uri="{FF2B5EF4-FFF2-40B4-BE49-F238E27FC236}">
                <a16:creationId xmlns:a16="http://schemas.microsoft.com/office/drawing/2014/main" id="{6793CA15-07A4-44C7-97B6-8613D75C4118}"/>
              </a:ext>
            </a:extLst>
          </p:cNvPr>
          <p:cNvSpPr>
            <a:spLocks xmlns:a="http://schemas.openxmlformats.org/drawingml/2006/main" noGrp="1"/>
          </p:cNvSpPr>
          <p:nvPr/>
        </p:nvSpPr>
        <p:spPr>
          <a:xfrm xmlns:a="http://schemas.openxmlformats.org/drawingml/2006/main">
            <a:off x="838200" y="2381250"/>
            <a:ext cx="1638300" cy="304800"/>
          </a:xfrm>
          <a:prstGeom xmlns:a="http://schemas.openxmlformats.org/drawingml/2006/main" prst="roundRect">
            <a:avLst>
              <a:gd name="adj" fmla="val 37500"/>
            </a:avLst>
          </a:prstGeom>
          <a:solidFill xmlns:a="http://schemas.openxmlformats.org/drawingml/2006/main">
            <a:srgbClr val="FFE7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C9C295B-3580-4CD3-81AD-1CDFBA4BBAC7}"/>
              </a:ext>
            </a:extLst>
          </p:cNvPr>
          <p:cNvSpPr>
            <a:spLocks xmlns:a="http://schemas.openxmlformats.org/drawingml/2006/main" noGrp="1"/>
          </p:cNvSpPr>
          <p:nvPr/>
        </p:nvSpPr>
        <p:spPr>
          <a:xfrm xmlns:a="http://schemas.openxmlformats.org/drawingml/2006/main">
            <a:off x="838200" y="2428875"/>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FF3347"/>
                </a:solidFill>
              </a:defRPr>
            </a:pPr>
            <a:r>
              <a:rPr sz="1050" b="1">
                <a:solidFill>
                  <a:srgbClr val="FF3347"/>
                </a:solidFill>
              </a:rPr>
              <a:t>BEFORE · CONCEPT</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d7df95bcbe44f98"/>
          <a:srcRect xmlns:a="http://schemas.openxmlformats.org/drawingml/2006/main" l="0" t="30" r="0" b="30"/>
          <a:stretch xmlns:a="http://schemas.openxmlformats.org/drawingml/2006/main">
            <a:fillRect l="0" t="0" r="0" b="0"/>
          </a:stretch>
        </p:blipFill>
        <p:spPr>
          <a:xfrm xmlns:a="http://schemas.openxmlformats.org/drawingml/2006/main">
            <a:off x="838200" y="2857500"/>
            <a:ext cx="3524250" cy="1981200"/>
          </a:xfrm>
          <a:prstGeom xmlns:a="http://schemas.openxmlformats.org/drawingml/2006/main" prst="roundRect">
            <a:avLst>
              <a:gd name="adj" fmla="val 7692"/>
            </a:avLst>
          </a:prstGeom>
        </p:spPr>
      </p:pic>
      <p:sp>
        <p:nvSpPr>
          <p:cNvPr id="9" name="">
            <a:extLst xmlns:a="http://schemas.openxmlformats.org/drawingml/2006/main">
              <a:ext uri="{FF2B5EF4-FFF2-40B4-BE49-F238E27FC236}">
                <a16:creationId xmlns:a16="http://schemas.microsoft.com/office/drawing/2014/main" id="{9AD7A82A-A136-4E3D-82A5-36C73E935405}"/>
              </a:ext>
            </a:extLst>
          </p:cNvPr>
          <p:cNvSpPr>
            <a:spLocks xmlns:a="http://schemas.openxmlformats.org/drawingml/2006/main" noGrp="1"/>
          </p:cNvSpPr>
          <p:nvPr/>
        </p:nvSpPr>
        <p:spPr>
          <a:xfrm xmlns:a="http://schemas.openxmlformats.org/drawingml/2006/main">
            <a:off x="838200" y="489585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647089"/>
                </a:solidFill>
              </a:defRPr>
            </a:pPr>
            <a:r>
              <a:rPr sz="1275" b="1">
                <a:solidFill>
                  <a:srgbClr val="647089"/>
                </a:solidFill>
              </a:rPr>
              <a:t>Browse rewards  •  Redeem rewards</a:t>
            </a:r>
          </a:p>
          <a:p xmlns:a="http://schemas.openxmlformats.org/drawingml/2006/main">
            <a:pPr algn="l">
              <a:lnSpc>
                <a:spcPct val="105000"/>
              </a:lnSpc>
              <a:buNone/>
              <a:defRPr sz="1275" b="1">
                <a:solidFill>
                  <a:srgbClr val="647089"/>
                </a:solidFill>
              </a:defRPr>
            </a:pPr>
            <a:r>
              <a:rPr sz="1275" b="1">
                <a:solidFill>
                  <a:srgbClr val="647089"/>
                </a:solidFill>
              </a:rPr>
              <a:t>Earn XP everywhere</a:t>
            </a:r>
          </a:p>
        </p:txBody>
      </p:sp>
      <p:sp>
        <p:nvSpPr>
          <p:cNvPr id="10" name="">
            <a:extLst xmlns:a="http://schemas.openxmlformats.org/drawingml/2006/main">
              <a:ext uri="{FF2B5EF4-FFF2-40B4-BE49-F238E27FC236}">
                <a16:creationId xmlns:a16="http://schemas.microsoft.com/office/drawing/2014/main" id="{E61121E1-4B0E-4870-B0BA-D7A1AFB2F0C2}"/>
              </a:ext>
            </a:extLst>
          </p:cNvPr>
          <p:cNvSpPr>
            <a:spLocks xmlns:a="http://schemas.openxmlformats.org/drawingml/2006/main" noGrp="1"/>
          </p:cNvSpPr>
          <p:nvPr/>
        </p:nvSpPr>
        <p:spPr>
          <a:xfrm xmlns:a="http://schemas.openxmlformats.org/drawingml/2006/main">
            <a:off x="4857750" y="2152650"/>
            <a:ext cx="6724650" cy="3276600"/>
          </a:xfrm>
          <a:prstGeom xmlns:a="http://schemas.openxmlformats.org/drawingml/2006/main" prst="roundRect">
            <a:avLst>
              <a:gd name="adj" fmla="val 6977"/>
            </a:avLst>
          </a:prstGeom>
          <a:solidFill xmlns:a="http://schemas.openxmlformats.org/drawingml/2006/main">
            <a:srgbClr val="0B183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69ECA45-D85D-447B-A378-1CC476B83E6A}"/>
              </a:ext>
            </a:extLst>
          </p:cNvPr>
          <p:cNvSpPr>
            <a:spLocks xmlns:a="http://schemas.openxmlformats.org/drawingml/2006/main" noGrp="1"/>
          </p:cNvSpPr>
          <p:nvPr/>
        </p:nvSpPr>
        <p:spPr>
          <a:xfrm xmlns:a="http://schemas.openxmlformats.org/drawingml/2006/main">
            <a:off x="5124450" y="2381250"/>
            <a:ext cx="1866900" cy="304800"/>
          </a:xfrm>
          <a:prstGeom xmlns:a="http://schemas.openxmlformats.org/drawingml/2006/main" prst="roundRect">
            <a:avLst>
              <a:gd name="adj" fmla="val 37500"/>
            </a:avLst>
          </a:prstGeom>
          <a:solidFill xmlns:a="http://schemas.openxmlformats.org/drawingml/2006/main">
            <a:srgbClr val="24406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4D7197B-581F-4C3A-BE17-29C77434ABF3}"/>
              </a:ext>
            </a:extLst>
          </p:cNvPr>
          <p:cNvSpPr>
            <a:spLocks xmlns:a="http://schemas.openxmlformats.org/drawingml/2006/main" noGrp="1"/>
          </p:cNvSpPr>
          <p:nvPr/>
        </p:nvSpPr>
        <p:spPr>
          <a:xfrm xmlns:a="http://schemas.openxmlformats.org/drawingml/2006/main">
            <a:off x="5124450" y="2428875"/>
            <a:ext cx="1866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FFD44D"/>
                </a:solidFill>
              </a:defRPr>
            </a:pPr>
            <a:r>
              <a:rPr sz="1050" b="1">
                <a:solidFill>
                  <a:srgbClr val="FFD44D"/>
                </a:solidFill>
              </a:rPr>
              <a:t>NOW · IMPLEMENTED</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0fe42f72cc1542a6"/>
          <a:srcRect xmlns:a="http://schemas.openxmlformats.org/drawingml/2006/main" l="27022" t="0" r="27022" b="0"/>
          <a:stretch xmlns:a="http://schemas.openxmlformats.org/drawingml/2006/main">
            <a:fillRect l="0" t="0" r="0" b="0"/>
          </a:stretch>
        </p:blipFill>
        <p:spPr>
          <a:xfrm xmlns:a="http://schemas.openxmlformats.org/drawingml/2006/main">
            <a:off x="8858250" y="2333625"/>
            <a:ext cx="2381250" cy="2914650"/>
          </a:xfrm>
          <a:prstGeom xmlns:a="http://schemas.openxmlformats.org/drawingml/2006/main" prst="roundRect">
            <a:avLst>
              <a:gd name="adj" fmla="val 6400"/>
            </a:avLst>
          </a:prstGeom>
        </p:spPr>
      </p:pic>
      <p:sp>
        <p:nvSpPr>
          <p:cNvPr id="14" name="">
            <a:extLst xmlns:a="http://schemas.openxmlformats.org/drawingml/2006/main">
              <a:ext uri="{FF2B5EF4-FFF2-40B4-BE49-F238E27FC236}">
                <a16:creationId xmlns:a16="http://schemas.microsoft.com/office/drawing/2014/main" id="{BD57519B-4B47-4DBC-9C6C-196BE1080A20}"/>
              </a:ext>
            </a:extLst>
          </p:cNvPr>
          <p:cNvSpPr>
            <a:spLocks xmlns:a="http://schemas.openxmlformats.org/drawingml/2006/main" noGrp="1"/>
          </p:cNvSpPr>
          <p:nvPr/>
        </p:nvSpPr>
        <p:spPr>
          <a:xfrm xmlns:a="http://schemas.openxmlformats.org/drawingml/2006/main">
            <a:off x="5162550" y="3028950"/>
            <a:ext cx="34290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a:lnSpc>
                <a:spcPct val="135000"/>
              </a:lnSpc>
              <a:buNone/>
              <a:defRPr sz="1725">
                <a:solidFill>
                  <a:srgbClr val="FFFFFF"/>
                </a:solidFill>
              </a:defRPr>
            </a:pPr>
            <a:r>
              <a:rPr sz="1725" b="1">
                <a:solidFill>
                  <a:srgbClr val="FFFFFF"/>
                </a:solidFill>
              </a:rPr>
              <a:t>01  </a:t>
            </a:r>
            <a:r>
              <a:rPr sz="1725" b="1">
                <a:solidFill>
                  <a:srgbClr val="FFFFFF"/>
                </a:solidFill>
              </a:rPr>
              <a:t>Only purchase transactions earn</a:t>
            </a:r>
          </a:p>
          <a:p xmlns:a="http://schemas.openxmlformats.org/drawingml/2006/main">
            <a:pPr>
              <a:lnSpc>
                <a:spcPct val="135000"/>
              </a:lnSpc>
              <a:buNone/>
              <a:defRPr sz="1725">
                <a:solidFill>
                  <a:srgbClr val="FFFFFF"/>
                </a:solidFill>
              </a:defRPr>
            </a:pPr>
            <a:r>
              <a:rPr sz="1725" b="1">
                <a:solidFill>
                  <a:srgbClr val="FFFFFF"/>
                </a:solidFill>
              </a:rPr>
              <a:t>02  </a:t>
            </a:r>
            <a:r>
              <a:rPr sz="1725" b="1">
                <a:solidFill>
                  <a:srgbClr val="FFFFFF"/>
                </a:solidFill>
              </a:rPr>
              <a:t>10 XP per $1 + heartland 2x</a:t>
            </a:r>
          </a:p>
          <a:p xmlns:a="http://schemas.openxmlformats.org/drawingml/2006/main">
            <a:pPr>
              <a:lnSpc>
                <a:spcPct val="135000"/>
              </a:lnSpc>
              <a:buNone/>
              <a:defRPr sz="1725">
                <a:solidFill>
                  <a:srgbClr val="FFFFFF"/>
                </a:solidFill>
              </a:defRPr>
            </a:pPr>
            <a:r>
              <a:rPr sz="1725" b="1">
                <a:solidFill>
                  <a:srgbClr val="FFFFFF"/>
                </a:solidFill>
              </a:rPr>
              <a:t>03  </a:t>
            </a:r>
            <a:r>
              <a:rPr sz="1725" b="1">
                <a:solidFill>
                  <a:srgbClr val="FFFFFF"/>
                </a:solidFill>
              </a:rPr>
              <a:t>Cashback posts into the wallet</a:t>
            </a:r>
          </a:p>
          <a:p xmlns:a="http://schemas.openxmlformats.org/drawingml/2006/main">
            <a:pPr>
              <a:lnSpc>
                <a:spcPct val="135000"/>
              </a:lnSpc>
              <a:buNone/>
              <a:defRPr sz="1725">
                <a:solidFill>
                  <a:srgbClr val="FFFFFF"/>
                </a:solidFill>
              </a:defRPr>
            </a:pPr>
            <a:r>
              <a:rPr sz="1725" b="1">
                <a:solidFill>
                  <a:srgbClr val="FFFFFF"/>
                </a:solidFill>
              </a:rPr>
              <a:t>04  </a:t>
            </a:r>
            <a:r>
              <a:rPr sz="1725" b="1">
                <a:solidFill>
                  <a:srgbClr val="FFFFFF"/>
                </a:solidFill>
              </a:rPr>
              <a:t>History makes every movement traceable</a:t>
            </a:r>
          </a:p>
        </p:txBody>
      </p:sp>
      <p:sp>
        <p:nvSpPr>
          <p:cNvPr id="15" name="">
            <a:extLst xmlns:a="http://schemas.openxmlformats.org/drawingml/2006/main">
              <a:ext uri="{FF2B5EF4-FFF2-40B4-BE49-F238E27FC236}">
                <a16:creationId xmlns:a16="http://schemas.microsoft.com/office/drawing/2014/main" id="{08215176-9A6F-4172-859D-A54E98BB2F51}"/>
              </a:ext>
            </a:extLst>
          </p:cNvPr>
          <p:cNvSpPr>
            <a:spLocks xmlns:a="http://schemas.openxmlformats.org/drawingml/2006/main" noGrp="1"/>
          </p:cNvSpPr>
          <p:nvPr/>
        </p:nvSpPr>
        <p:spPr>
          <a:xfrm xmlns:a="http://schemas.openxmlformats.org/drawingml/2006/main">
            <a:off x="2171700" y="5734050"/>
            <a:ext cx="7848600" cy="476250"/>
          </a:xfrm>
          <a:prstGeom xmlns:a="http://schemas.openxmlformats.org/drawingml/2006/main" prst="roundRect">
            <a:avLst>
              <a:gd name="adj" fmla="val 24000"/>
            </a:avLst>
          </a:prstGeom>
          <a:solidFill xmlns:a="http://schemas.openxmlformats.org/drawingml/2006/main">
            <a:srgbClr val="FFF5C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741A70E-8E0E-4AFD-AC42-0F0D75110053}"/>
              </a:ext>
            </a:extLst>
          </p:cNvPr>
          <p:cNvSpPr>
            <a:spLocks xmlns:a="http://schemas.openxmlformats.org/drawingml/2006/main" noGrp="1"/>
          </p:cNvSpPr>
          <p:nvPr/>
        </p:nvSpPr>
        <p:spPr>
          <a:xfrm xmlns:a="http://schemas.openxmlformats.org/drawingml/2006/main">
            <a:off x="2343150" y="5867400"/>
            <a:ext cx="7505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500" b="1">
                <a:solidFill>
                  <a:srgbClr val="6B5200"/>
                </a:solidFill>
              </a:defRPr>
            </a:pPr>
            <a:r>
              <a:rPr sz="1500" b="1">
                <a:solidFill>
                  <a:srgbClr val="6B5200"/>
                </a:solidFill>
              </a:rPr>
              <a:t>Significant iteration = fewer loopholes + clearer value + stronger ownership</a:t>
            </a:r>
          </a:p>
        </p:txBody>
      </p:sp>
      <p:sp>
        <p:nvSpPr>
          <p:cNvPr id="17" name="">
            <a:extLst xmlns:a="http://schemas.openxmlformats.org/drawingml/2006/main">
              <a:ext uri="{FF2B5EF4-FFF2-40B4-BE49-F238E27FC236}">
                <a16:creationId xmlns:a16="http://schemas.microsoft.com/office/drawing/2014/main" id="{328D2730-29D2-49AD-A307-61F50B490271}"/>
              </a:ext>
            </a:extLst>
          </p:cNvPr>
          <p:cNvSpPr>
            <a:spLocks xmlns:a="http://schemas.openxmlformats.org/drawingml/2006/main" noGrp="1"/>
          </p:cNvSpPr>
          <p:nvPr/>
        </p:nvSpPr>
        <p:spPr>
          <a:xfrm xmlns:a="http://schemas.openxmlformats.org/drawingml/2006/main">
            <a:off x="609600" y="6515100"/>
            <a:ext cx="10972800" cy="19050"/>
          </a:xfrm>
          <a:prstGeom xmlns:a="http://schemas.openxmlformats.org/drawingml/2006/main" prst="rect">
            <a:avLst/>
          </a:prstGeom>
          <a:solidFill xmlns:a="http://schemas.openxmlformats.org/drawingml/2006/main">
            <a:srgbClr val="DCE2E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F0FA779-14B5-4160-8ADA-8E49B69B7FB6}"/>
              </a:ext>
            </a:extLst>
          </p:cNvPr>
          <p:cNvSpPr>
            <a:spLocks xmlns:a="http://schemas.openxmlformats.org/drawingml/2006/main" noGrp="1"/>
          </p:cNvSpPr>
          <p:nvPr/>
        </p:nvSpPr>
        <p:spPr>
          <a:xfrm xmlns:a="http://schemas.openxmlformats.org/drawingml/2006/main">
            <a:off x="609600" y="6515100"/>
            <a:ext cx="3295650" cy="19050"/>
          </a:xfrm>
          <a:prstGeom xmlns:a="http://schemas.openxmlformats.org/drawingml/2006/main" prst="rect">
            <a:avLst/>
          </a:prstGeom>
          <a:solidFill xmlns:a="http://schemas.openxmlformats.org/drawingml/2006/main">
            <a:srgbClr val="5267F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CA75AD9-B7DE-444A-8CB6-67411E519846}"/>
              </a:ext>
            </a:extLst>
          </p:cNvPr>
          <p:cNvSpPr>
            <a:spLocks xmlns:a="http://schemas.openxmlformats.org/drawingml/2006/main" noGrp="1"/>
          </p:cNvSpPr>
          <p:nvPr/>
        </p:nvSpPr>
        <p:spPr>
          <a:xfrm xmlns:a="http://schemas.openxmlformats.org/drawingml/2006/main">
            <a:off x="609600" y="6610350"/>
            <a:ext cx="2286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8A94A8"/>
                </a:solidFill>
              </a:defRPr>
            </a:pPr>
            <a:r>
              <a:rPr sz="750" b="1">
                <a:solidFill>
                  <a:srgbClr val="8A94A8"/>
                </a:solidFill>
              </a:rPr>
              <a:t>XP REWARDS STORE</a:t>
            </a:r>
          </a:p>
        </p:txBody>
      </p:sp>
      <p:sp>
        <p:nvSpPr>
          <p:cNvPr id="20" name="">
            <a:extLst xmlns:a="http://schemas.openxmlformats.org/drawingml/2006/main">
              <a:ext uri="{FF2B5EF4-FFF2-40B4-BE49-F238E27FC236}">
                <a16:creationId xmlns:a16="http://schemas.microsoft.com/office/drawing/2014/main" id="{8F52A796-7940-4BAD-B615-2CFA882973C9}"/>
              </a:ext>
            </a:extLst>
          </p:cNvPr>
          <p:cNvSpPr>
            <a:spLocks xmlns:a="http://schemas.openxmlformats.org/drawingml/2006/main" noGrp="1"/>
          </p:cNvSpPr>
          <p:nvPr/>
        </p:nvSpPr>
        <p:spPr>
          <a:xfrm xmlns:a="http://schemas.openxmlformats.org/drawingml/2006/main">
            <a:off x="10810875" y="6610350"/>
            <a:ext cx="7715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8A94A8"/>
                </a:solidFill>
              </a:defRPr>
            </a:pPr>
            <a:r>
              <a:rPr sz="750" b="1">
                <a:solidFill>
                  <a:srgbClr val="8A94A8"/>
                </a:solidFill>
              </a:rPr>
              <a:t>HADI</a:t>
            </a:r>
          </a:p>
        </p:txBody>
      </p:sp>
    </p:spTree>
    <p:extLst>
      <p:ext uri="{BB962C8B-B14F-4D97-AF65-F5344CB8AC3E}">
        <p14:creationId xmlns:p14="http://schemas.microsoft.com/office/powerpoint/2010/main" val="594797389"/>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CDA99830-602F-4ACF-9B29-D3F7892EBC8F}"/>
              </a:ext>
            </a:extLst>
          </p:cNvPr>
          <p:cNvSpPr>
            <a:spLocks xmlns:a="http://schemas.openxmlformats.org/drawingml/2006/main" noGrp="1"/>
          </p:cNvSpPr>
          <p:nvPr/>
        </p:nvSpPr>
        <p:spPr>
          <a:xfrm xmlns:a="http://schemas.openxmlformats.org/drawingml/2006/main">
            <a:off x="609600" y="3238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2D8C70"/>
                </a:solidFill>
              </a:defRPr>
            </a:pPr>
            <a:r>
              <a:rPr sz="1050" b="1">
                <a:solidFill>
                  <a:srgbClr val="2D8C70"/>
                </a:solidFill>
              </a:rPr>
              <a:t>PRODUCT LOOP</a:t>
            </a:r>
          </a:p>
        </p:txBody>
      </p:sp>
      <p:sp>
        <p:nvSpPr>
          <p:cNvPr id="2" name="">
            <a:extLst xmlns:a="http://schemas.openxmlformats.org/drawingml/2006/main">
              <a:ext uri="{FF2B5EF4-FFF2-40B4-BE49-F238E27FC236}">
                <a16:creationId xmlns:a16="http://schemas.microsoft.com/office/drawing/2014/main" id="{917E0DAA-B213-46D3-BB19-65FB08585DC1}"/>
              </a:ext>
            </a:extLst>
          </p:cNvPr>
          <p:cNvSpPr>
            <a:spLocks xmlns:a="http://schemas.openxmlformats.org/drawingml/2006/main" noGrp="1"/>
          </p:cNvSpPr>
          <p:nvPr/>
        </p:nvSpPr>
        <p:spPr>
          <a:xfrm xmlns:a="http://schemas.openxmlformats.org/drawingml/2006/main">
            <a:off x="609600" y="66675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00" b="1">
                <a:solidFill>
                  <a:srgbClr val="18223B"/>
                </a:solidFill>
              </a:defRPr>
            </a:pPr>
            <a:r>
              <a:rPr sz="3600" b="1">
                <a:solidFill>
                  <a:srgbClr val="18223B"/>
                </a:solidFill>
              </a:rPr>
              <a:t>Verified payment behaviour drives the loop.</a:t>
            </a:r>
          </a:p>
        </p:txBody>
      </p:sp>
      <p:sp>
        <p:nvSpPr>
          <p:cNvPr id="3" name="">
            <a:extLst xmlns:a="http://schemas.openxmlformats.org/drawingml/2006/main">
              <a:ext uri="{FF2B5EF4-FFF2-40B4-BE49-F238E27FC236}">
                <a16:creationId xmlns:a16="http://schemas.microsoft.com/office/drawing/2014/main" id="{9EEA3D54-4C50-4B89-880B-642BD330ACBB}"/>
              </a:ext>
            </a:extLst>
          </p:cNvPr>
          <p:cNvSpPr>
            <a:spLocks xmlns:a="http://schemas.openxmlformats.org/drawingml/2006/main" noGrp="1"/>
          </p:cNvSpPr>
          <p:nvPr/>
        </p:nvSpPr>
        <p:spPr>
          <a:xfrm xmlns:a="http://schemas.openxmlformats.org/drawingml/2006/main">
            <a:off x="11239500" y="3619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647089"/>
                </a:solidFill>
              </a:defRPr>
            </a:pPr>
            <a:r>
              <a:rPr sz="1050" b="1">
                <a:solidFill>
                  <a:srgbClr val="647089"/>
                </a:solidFill>
              </a:rPr>
              <a:t>04</a:t>
            </a:r>
          </a:p>
        </p:txBody>
      </p:sp>
      <p:sp>
        <p:nvSpPr>
          <p:cNvPr id="4" name="">
            <a:extLst xmlns:a="http://schemas.openxmlformats.org/drawingml/2006/main">
              <a:ext uri="{FF2B5EF4-FFF2-40B4-BE49-F238E27FC236}">
                <a16:creationId xmlns:a16="http://schemas.microsoft.com/office/drawing/2014/main" id="{5431A097-E982-49E9-AD7E-902007F6EBD7}"/>
              </a:ext>
            </a:extLst>
          </p:cNvPr>
          <p:cNvSpPr>
            <a:spLocks xmlns:a="http://schemas.openxmlformats.org/drawingml/2006/main" noGrp="1"/>
          </p:cNvSpPr>
          <p:nvPr/>
        </p:nvSpPr>
        <p:spPr>
          <a:xfrm xmlns:a="http://schemas.openxmlformats.org/drawingml/2006/main">
            <a:off x="609600" y="13525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717"/>
          </a:bodyPr>
          <a:lstStyle xmlns:a="http://schemas.openxmlformats.org/drawingml/2006/main"/>
          <a:p xmlns:a="http://schemas.openxmlformats.org/drawingml/2006/main">
            <a:pPr algn="l">
              <a:lnSpc>
                <a:spcPct val="105000"/>
              </a:lnSpc>
              <a:buNone/>
              <a:defRPr sz="1725" b="0">
                <a:solidFill>
                  <a:srgbClr val="647089"/>
                </a:solidFill>
              </a:defRPr>
            </a:pPr>
            <a:r>
              <a:rPr sz="1725" b="0">
                <a:solidFill>
                  <a:srgbClr val="647089"/>
                </a:solidFill>
              </a:rPr>
              <a:t>Each stage keeps the same user, transaction type, XP balance and reward record — so the experience feels instant while the ledger remains explainable.</a:t>
            </a:r>
          </a:p>
        </p:txBody>
      </p:sp>
      <p:sp>
        <p:nvSpPr>
          <p:cNvPr id="5" name="">
            <a:extLst xmlns:a="http://schemas.openxmlformats.org/drawingml/2006/main">
              <a:ext uri="{FF2B5EF4-FFF2-40B4-BE49-F238E27FC236}">
                <a16:creationId xmlns:a16="http://schemas.microsoft.com/office/drawing/2014/main" id="{8F4F3DB2-1D9C-40ED-A5FD-2763FF2850C5}"/>
              </a:ext>
            </a:extLst>
          </p:cNvPr>
          <p:cNvSpPr>
            <a:spLocks xmlns:a="http://schemas.openxmlformats.org/drawingml/2006/main" noGrp="1"/>
          </p:cNvSpPr>
          <p:nvPr/>
        </p:nvSpPr>
        <p:spPr>
          <a:xfrm xmlns:a="http://schemas.openxmlformats.org/drawingml/2006/main">
            <a:off x="2019300" y="3286125"/>
            <a:ext cx="685800" cy="38100"/>
          </a:xfrm>
          <a:prstGeom xmlns:a="http://schemas.openxmlformats.org/drawingml/2006/main" prst="roundRect">
            <a:avLst>
              <a:gd name="adj" fmla="val 50000"/>
            </a:avLst>
          </a:prstGeom>
          <a:solidFill xmlns:a="http://schemas.openxmlformats.org/drawingml/2006/main">
            <a:srgbClr val="B9C5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78042BB-15E7-4A62-83E3-BA7D753EE30C}"/>
              </a:ext>
            </a:extLst>
          </p:cNvPr>
          <p:cNvSpPr>
            <a:spLocks xmlns:a="http://schemas.openxmlformats.org/drawingml/2006/main" noGrp="1"/>
          </p:cNvSpPr>
          <p:nvPr/>
        </p:nvSpPr>
        <p:spPr>
          <a:xfrm xmlns:a="http://schemas.openxmlformats.org/drawingml/2006/main">
            <a:off x="4191000" y="3286125"/>
            <a:ext cx="685800" cy="38100"/>
          </a:xfrm>
          <a:prstGeom xmlns:a="http://schemas.openxmlformats.org/drawingml/2006/main" prst="roundRect">
            <a:avLst>
              <a:gd name="adj" fmla="val 50000"/>
            </a:avLst>
          </a:prstGeom>
          <a:solidFill xmlns:a="http://schemas.openxmlformats.org/drawingml/2006/main">
            <a:srgbClr val="B9C5D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BC07FE3-176C-4F1A-B2B1-19D81B756B25}"/>
              </a:ext>
            </a:extLst>
          </p:cNvPr>
          <p:cNvSpPr>
            <a:spLocks xmlns:a="http://schemas.openxmlformats.org/drawingml/2006/main" noGrp="1"/>
          </p:cNvSpPr>
          <p:nvPr/>
        </p:nvSpPr>
        <p:spPr>
          <a:xfrm xmlns:a="http://schemas.openxmlformats.org/drawingml/2006/main">
            <a:off x="6362700" y="3286125"/>
            <a:ext cx="685800" cy="38100"/>
          </a:xfrm>
          <a:prstGeom xmlns:a="http://schemas.openxmlformats.org/drawingml/2006/main" prst="roundRect">
            <a:avLst>
              <a:gd name="adj" fmla="val 50000"/>
            </a:avLst>
          </a:prstGeom>
          <a:solidFill xmlns:a="http://schemas.openxmlformats.org/drawingml/2006/main">
            <a:srgbClr val="B9C5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B09CA26-E57C-49B4-B0F7-E950C54227C1}"/>
              </a:ext>
            </a:extLst>
          </p:cNvPr>
          <p:cNvSpPr>
            <a:spLocks xmlns:a="http://schemas.openxmlformats.org/drawingml/2006/main" noGrp="1"/>
          </p:cNvSpPr>
          <p:nvPr/>
        </p:nvSpPr>
        <p:spPr>
          <a:xfrm xmlns:a="http://schemas.openxmlformats.org/drawingml/2006/main">
            <a:off x="8534400" y="3286125"/>
            <a:ext cx="685800" cy="38100"/>
          </a:xfrm>
          <a:prstGeom xmlns:a="http://schemas.openxmlformats.org/drawingml/2006/main" prst="roundRect">
            <a:avLst>
              <a:gd name="adj" fmla="val 50000"/>
            </a:avLst>
          </a:prstGeom>
          <a:solidFill xmlns:a="http://schemas.openxmlformats.org/drawingml/2006/main">
            <a:srgbClr val="B9C5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AA259C3-F8B0-4A78-8FE0-2FCBA1D89D2A}"/>
              </a:ext>
            </a:extLst>
          </p:cNvPr>
          <p:cNvSpPr>
            <a:spLocks xmlns:a="http://schemas.openxmlformats.org/drawingml/2006/main" noGrp="1"/>
          </p:cNvSpPr>
          <p:nvPr/>
        </p:nvSpPr>
        <p:spPr>
          <a:xfrm xmlns:a="http://schemas.openxmlformats.org/drawingml/2006/main">
            <a:off x="609600" y="2400300"/>
            <a:ext cx="1866900" cy="1847850"/>
          </a:xfrm>
          <a:prstGeom xmlns:a="http://schemas.openxmlformats.org/drawingml/2006/main" prst="roundRect">
            <a:avLst>
              <a:gd name="adj" fmla="val 12371"/>
            </a:avLst>
          </a:prstGeom>
          <a:solidFill xmlns:a="http://schemas.openxmlformats.org/drawingml/2006/main">
            <a:srgbClr val="FFFFFF"/>
          </a:solidFill>
          <a:ln xmlns:a="http://schemas.openxmlformats.org/drawingml/2006/main" w="9525">
            <a:solidFill>
              <a:srgbClr val="DCE2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84BBB991-D3F6-4A1D-8904-404E2A393337}"/>
              </a:ext>
            </a:extLst>
          </p:cNvPr>
          <p:cNvSpPr>
            <a:spLocks xmlns:a="http://schemas.openxmlformats.org/drawingml/2006/main" noGrp="1"/>
          </p:cNvSpPr>
          <p:nvPr/>
        </p:nvSpPr>
        <p:spPr>
          <a:xfrm xmlns:a="http://schemas.openxmlformats.org/drawingml/2006/main">
            <a:off x="781050" y="2571750"/>
            <a:ext cx="381000" cy="381000"/>
          </a:xfrm>
          <a:prstGeom xmlns:a="http://schemas.openxmlformats.org/drawingml/2006/main" prst="ellipse">
            <a:avLst/>
          </a:prstGeom>
          <a:solidFill xmlns:a="http://schemas.openxmlformats.org/drawingml/2006/main">
            <a:srgbClr val="5267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2E69C41-A995-4842-8A1C-70F0158A55B2}"/>
              </a:ext>
            </a:extLst>
          </p:cNvPr>
          <p:cNvSpPr>
            <a:spLocks xmlns:a="http://schemas.openxmlformats.org/drawingml/2006/main" noGrp="1"/>
          </p:cNvSpPr>
          <p:nvPr/>
        </p:nvSpPr>
        <p:spPr>
          <a:xfrm xmlns:a="http://schemas.openxmlformats.org/drawingml/2006/main">
            <a:off x="781050" y="263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FFFFFF"/>
                </a:solidFill>
              </a:defRPr>
            </a:pPr>
            <a:r>
              <a:rPr sz="1050" b="1">
                <a:solidFill>
                  <a:srgbClr val="FFFFFF"/>
                </a:solidFill>
              </a:rPr>
              <a:t>01</a:t>
            </a:r>
          </a:p>
        </p:txBody>
      </p:sp>
      <p:sp>
        <p:nvSpPr>
          <p:cNvPr id="12" name="">
            <a:extLst xmlns:a="http://schemas.openxmlformats.org/drawingml/2006/main">
              <a:ext uri="{FF2B5EF4-FFF2-40B4-BE49-F238E27FC236}">
                <a16:creationId xmlns:a16="http://schemas.microsoft.com/office/drawing/2014/main" id="{1480C704-EE08-447D-A0DD-852FE8A4A41A}"/>
              </a:ext>
            </a:extLst>
          </p:cNvPr>
          <p:cNvSpPr>
            <a:spLocks xmlns:a="http://schemas.openxmlformats.org/drawingml/2006/main" noGrp="1"/>
          </p:cNvSpPr>
          <p:nvPr/>
        </p:nvSpPr>
        <p:spPr>
          <a:xfrm xmlns:a="http://schemas.openxmlformats.org/drawingml/2006/main">
            <a:off x="781050" y="31242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18223B"/>
                </a:solidFill>
              </a:defRPr>
            </a:pPr>
            <a:r>
              <a:rPr sz="1800" b="1">
                <a:solidFill>
                  <a:srgbClr val="18223B"/>
                </a:solidFill>
              </a:rPr>
              <a:t>PAY</a:t>
            </a:r>
          </a:p>
        </p:txBody>
      </p:sp>
      <p:sp>
        <p:nvSpPr>
          <p:cNvPr id="13" name="">
            <a:extLst xmlns:a="http://schemas.openxmlformats.org/drawingml/2006/main">
              <a:ext uri="{FF2B5EF4-FFF2-40B4-BE49-F238E27FC236}">
                <a16:creationId xmlns:a16="http://schemas.microsoft.com/office/drawing/2014/main" id="{EF06A75C-1737-4CB5-95F3-7DC4403CC7D3}"/>
              </a:ext>
            </a:extLst>
          </p:cNvPr>
          <p:cNvSpPr>
            <a:spLocks xmlns:a="http://schemas.openxmlformats.org/drawingml/2006/main" noGrp="1"/>
          </p:cNvSpPr>
          <p:nvPr/>
        </p:nvSpPr>
        <p:spPr>
          <a:xfrm xmlns:a="http://schemas.openxmlformats.org/drawingml/2006/main">
            <a:off x="781050" y="352425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647089"/>
                </a:solidFill>
              </a:defRPr>
            </a:pPr>
            <a:r>
              <a:rPr sz="1350" b="0">
                <a:solidFill>
                  <a:srgbClr val="647089"/>
                </a:solidFill>
              </a:rPr>
              <a:t>NETS QR / card</a:t>
            </a:r>
          </a:p>
        </p:txBody>
      </p:sp>
      <p:sp>
        <p:nvSpPr>
          <p:cNvPr id="14" name="">
            <a:extLst xmlns:a="http://schemas.openxmlformats.org/drawingml/2006/main">
              <a:ext uri="{FF2B5EF4-FFF2-40B4-BE49-F238E27FC236}">
                <a16:creationId xmlns:a16="http://schemas.microsoft.com/office/drawing/2014/main" id="{45D0929E-A416-446C-A033-E43586B4DD35}"/>
              </a:ext>
            </a:extLst>
          </p:cNvPr>
          <p:cNvSpPr>
            <a:spLocks xmlns:a="http://schemas.openxmlformats.org/drawingml/2006/main" noGrp="1"/>
          </p:cNvSpPr>
          <p:nvPr/>
        </p:nvSpPr>
        <p:spPr>
          <a:xfrm xmlns:a="http://schemas.openxmlformats.org/drawingml/2006/main">
            <a:off x="2781300" y="2400300"/>
            <a:ext cx="1866900" cy="1847850"/>
          </a:xfrm>
          <a:prstGeom xmlns:a="http://schemas.openxmlformats.org/drawingml/2006/main" prst="roundRect">
            <a:avLst>
              <a:gd name="adj" fmla="val 12371"/>
            </a:avLst>
          </a:prstGeom>
          <a:solidFill xmlns:a="http://schemas.openxmlformats.org/drawingml/2006/main">
            <a:srgbClr val="FFFFFF"/>
          </a:solidFill>
          <a:ln xmlns:a="http://schemas.openxmlformats.org/drawingml/2006/main" w="9525">
            <a:solidFill>
              <a:srgbClr val="DCE2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705E43F7-77F6-41D2-89F7-237EA8A2340E}"/>
              </a:ext>
            </a:extLst>
          </p:cNvPr>
          <p:cNvSpPr>
            <a:spLocks xmlns:a="http://schemas.openxmlformats.org/drawingml/2006/main" noGrp="1"/>
          </p:cNvSpPr>
          <p:nvPr/>
        </p:nvSpPr>
        <p:spPr>
          <a:xfrm xmlns:a="http://schemas.openxmlformats.org/drawingml/2006/main">
            <a:off x="2952750" y="2571750"/>
            <a:ext cx="381000" cy="381000"/>
          </a:xfrm>
          <a:prstGeom xmlns:a="http://schemas.openxmlformats.org/drawingml/2006/main" prst="ellipse">
            <a:avLst/>
          </a:prstGeom>
          <a:solidFill xmlns:a="http://schemas.openxmlformats.org/drawingml/2006/main">
            <a:srgbClr val="13264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F31765B-5533-4D4B-B3C7-0767D80DC2A9}"/>
              </a:ext>
            </a:extLst>
          </p:cNvPr>
          <p:cNvSpPr>
            <a:spLocks xmlns:a="http://schemas.openxmlformats.org/drawingml/2006/main" noGrp="1"/>
          </p:cNvSpPr>
          <p:nvPr/>
        </p:nvSpPr>
        <p:spPr>
          <a:xfrm xmlns:a="http://schemas.openxmlformats.org/drawingml/2006/main">
            <a:off x="2952750" y="263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FFFFFF"/>
                </a:solidFill>
              </a:defRPr>
            </a:pPr>
            <a:r>
              <a:rPr sz="1050" b="1">
                <a:solidFill>
                  <a:srgbClr val="FFFFFF"/>
                </a:solidFill>
              </a:rPr>
              <a:t>02</a:t>
            </a:r>
          </a:p>
        </p:txBody>
      </p:sp>
      <p:sp>
        <p:nvSpPr>
          <p:cNvPr id="17" name="">
            <a:extLst xmlns:a="http://schemas.openxmlformats.org/drawingml/2006/main">
              <a:ext uri="{FF2B5EF4-FFF2-40B4-BE49-F238E27FC236}">
                <a16:creationId xmlns:a16="http://schemas.microsoft.com/office/drawing/2014/main" id="{3C612188-1EB7-41E0-B6B4-BD0497B9C7A7}"/>
              </a:ext>
            </a:extLst>
          </p:cNvPr>
          <p:cNvSpPr>
            <a:spLocks xmlns:a="http://schemas.openxmlformats.org/drawingml/2006/main" noGrp="1"/>
          </p:cNvSpPr>
          <p:nvPr/>
        </p:nvSpPr>
        <p:spPr>
          <a:xfrm xmlns:a="http://schemas.openxmlformats.org/drawingml/2006/main">
            <a:off x="2952750" y="31242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18223B"/>
                </a:solidFill>
              </a:defRPr>
            </a:pPr>
            <a:r>
              <a:rPr sz="1800" b="1">
                <a:solidFill>
                  <a:srgbClr val="18223B"/>
                </a:solidFill>
              </a:rPr>
              <a:t>CLASSIFY</a:t>
            </a:r>
          </a:p>
        </p:txBody>
      </p:sp>
      <p:sp>
        <p:nvSpPr>
          <p:cNvPr id="18" name="">
            <a:extLst xmlns:a="http://schemas.openxmlformats.org/drawingml/2006/main">
              <a:ext uri="{FF2B5EF4-FFF2-40B4-BE49-F238E27FC236}">
                <a16:creationId xmlns:a16="http://schemas.microsoft.com/office/drawing/2014/main" id="{8DB4E6B7-86CA-44AA-ABE7-AE0B88012B5B}"/>
              </a:ext>
            </a:extLst>
          </p:cNvPr>
          <p:cNvSpPr>
            <a:spLocks xmlns:a="http://schemas.openxmlformats.org/drawingml/2006/main" noGrp="1"/>
          </p:cNvSpPr>
          <p:nvPr/>
        </p:nvSpPr>
        <p:spPr>
          <a:xfrm xmlns:a="http://schemas.openxmlformats.org/drawingml/2006/main">
            <a:off x="2952750" y="352425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647089"/>
                </a:solidFill>
              </a:defRPr>
            </a:pPr>
            <a:r>
              <a:rPr sz="1350" b="0">
                <a:solidFill>
                  <a:srgbClr val="647089"/>
                </a:solidFill>
              </a:rPr>
              <a:t>purchase vs transfer</a:t>
            </a:r>
          </a:p>
        </p:txBody>
      </p:sp>
      <p:sp>
        <p:nvSpPr>
          <p:cNvPr id="19" name="">
            <a:extLst xmlns:a="http://schemas.openxmlformats.org/drawingml/2006/main">
              <a:ext uri="{FF2B5EF4-FFF2-40B4-BE49-F238E27FC236}">
                <a16:creationId xmlns:a16="http://schemas.microsoft.com/office/drawing/2014/main" id="{282D516F-2FC6-4320-A207-CBB557DBBEF2}"/>
              </a:ext>
            </a:extLst>
          </p:cNvPr>
          <p:cNvSpPr>
            <a:spLocks xmlns:a="http://schemas.openxmlformats.org/drawingml/2006/main" noGrp="1"/>
          </p:cNvSpPr>
          <p:nvPr/>
        </p:nvSpPr>
        <p:spPr>
          <a:xfrm xmlns:a="http://schemas.openxmlformats.org/drawingml/2006/main">
            <a:off x="4953000" y="2400300"/>
            <a:ext cx="1866900" cy="1847850"/>
          </a:xfrm>
          <a:prstGeom xmlns:a="http://schemas.openxmlformats.org/drawingml/2006/main" prst="roundRect">
            <a:avLst>
              <a:gd name="adj" fmla="val 12371"/>
            </a:avLst>
          </a:prstGeom>
          <a:solidFill xmlns:a="http://schemas.openxmlformats.org/drawingml/2006/main">
            <a:srgbClr val="FFFFFF"/>
          </a:solidFill>
          <a:ln xmlns:a="http://schemas.openxmlformats.org/drawingml/2006/main" w="9525">
            <a:solidFill>
              <a:srgbClr val="DCE2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85BC381F-CE1D-4774-8D59-0E1011756AE1}"/>
              </a:ext>
            </a:extLst>
          </p:cNvPr>
          <p:cNvSpPr>
            <a:spLocks xmlns:a="http://schemas.openxmlformats.org/drawingml/2006/main" noGrp="1"/>
          </p:cNvSpPr>
          <p:nvPr/>
        </p:nvSpPr>
        <p:spPr>
          <a:xfrm xmlns:a="http://schemas.openxmlformats.org/drawingml/2006/main">
            <a:off x="5124450" y="2571750"/>
            <a:ext cx="381000" cy="381000"/>
          </a:xfrm>
          <a:prstGeom xmlns:a="http://schemas.openxmlformats.org/drawingml/2006/main" prst="ellipse">
            <a:avLst/>
          </a:prstGeom>
          <a:solidFill xmlns:a="http://schemas.openxmlformats.org/drawingml/2006/main">
            <a:srgbClr val="2D8C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2467B98-8DAE-42F6-83D4-332D6B438B21}"/>
              </a:ext>
            </a:extLst>
          </p:cNvPr>
          <p:cNvSpPr>
            <a:spLocks xmlns:a="http://schemas.openxmlformats.org/drawingml/2006/main" noGrp="1"/>
          </p:cNvSpPr>
          <p:nvPr/>
        </p:nvSpPr>
        <p:spPr>
          <a:xfrm xmlns:a="http://schemas.openxmlformats.org/drawingml/2006/main">
            <a:off x="5124450" y="263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FFFFFF"/>
                </a:solidFill>
              </a:defRPr>
            </a:pPr>
            <a:r>
              <a:rPr sz="1050" b="1">
                <a:solidFill>
                  <a:srgbClr val="FFFFFF"/>
                </a:solidFill>
              </a:rPr>
              <a:t>03</a:t>
            </a:r>
          </a:p>
        </p:txBody>
      </p:sp>
      <p:sp>
        <p:nvSpPr>
          <p:cNvPr id="22" name="">
            <a:extLst xmlns:a="http://schemas.openxmlformats.org/drawingml/2006/main">
              <a:ext uri="{FF2B5EF4-FFF2-40B4-BE49-F238E27FC236}">
                <a16:creationId xmlns:a16="http://schemas.microsoft.com/office/drawing/2014/main" id="{17C2C476-7041-4C2D-A1AD-F0EDCF78570A}"/>
              </a:ext>
            </a:extLst>
          </p:cNvPr>
          <p:cNvSpPr>
            <a:spLocks xmlns:a="http://schemas.openxmlformats.org/drawingml/2006/main" noGrp="1"/>
          </p:cNvSpPr>
          <p:nvPr/>
        </p:nvSpPr>
        <p:spPr>
          <a:xfrm xmlns:a="http://schemas.openxmlformats.org/drawingml/2006/main">
            <a:off x="5124450" y="31242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18223B"/>
                </a:solidFill>
              </a:defRPr>
            </a:pPr>
            <a:r>
              <a:rPr sz="1800" b="1">
                <a:solidFill>
                  <a:srgbClr val="18223B"/>
                </a:solidFill>
              </a:rPr>
              <a:t>EARN</a:t>
            </a:r>
          </a:p>
        </p:txBody>
      </p:sp>
      <p:sp>
        <p:nvSpPr>
          <p:cNvPr id="23" name="">
            <a:extLst xmlns:a="http://schemas.openxmlformats.org/drawingml/2006/main">
              <a:ext uri="{FF2B5EF4-FFF2-40B4-BE49-F238E27FC236}">
                <a16:creationId xmlns:a16="http://schemas.microsoft.com/office/drawing/2014/main" id="{A79FA496-4657-4BE9-BA84-8EFD969E52A0}"/>
              </a:ext>
            </a:extLst>
          </p:cNvPr>
          <p:cNvSpPr>
            <a:spLocks xmlns:a="http://schemas.openxmlformats.org/drawingml/2006/main" noGrp="1"/>
          </p:cNvSpPr>
          <p:nvPr/>
        </p:nvSpPr>
        <p:spPr>
          <a:xfrm xmlns:a="http://schemas.openxmlformats.org/drawingml/2006/main">
            <a:off x="5124450" y="352425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647089"/>
                </a:solidFill>
              </a:defRPr>
            </a:pPr>
            <a:r>
              <a:rPr sz="1350" b="0">
                <a:solidFill>
                  <a:srgbClr val="647089"/>
                </a:solidFill>
              </a:rPr>
              <a:t>10 XP per $1</a:t>
            </a:r>
          </a:p>
        </p:txBody>
      </p:sp>
      <p:sp>
        <p:nvSpPr>
          <p:cNvPr id="24" name="">
            <a:extLst xmlns:a="http://schemas.openxmlformats.org/drawingml/2006/main">
              <a:ext uri="{FF2B5EF4-FFF2-40B4-BE49-F238E27FC236}">
                <a16:creationId xmlns:a16="http://schemas.microsoft.com/office/drawing/2014/main" id="{E113A10B-6282-448B-B6F0-3F12F2520F05}"/>
              </a:ext>
            </a:extLst>
          </p:cNvPr>
          <p:cNvSpPr>
            <a:spLocks xmlns:a="http://schemas.openxmlformats.org/drawingml/2006/main" noGrp="1"/>
          </p:cNvSpPr>
          <p:nvPr/>
        </p:nvSpPr>
        <p:spPr>
          <a:xfrm xmlns:a="http://schemas.openxmlformats.org/drawingml/2006/main">
            <a:off x="7124700" y="2400300"/>
            <a:ext cx="1866900" cy="1847850"/>
          </a:xfrm>
          <a:prstGeom xmlns:a="http://schemas.openxmlformats.org/drawingml/2006/main" prst="roundRect">
            <a:avLst>
              <a:gd name="adj" fmla="val 12371"/>
            </a:avLst>
          </a:prstGeom>
          <a:solidFill xmlns:a="http://schemas.openxmlformats.org/drawingml/2006/main">
            <a:srgbClr val="FFFFFF"/>
          </a:solidFill>
          <a:ln xmlns:a="http://schemas.openxmlformats.org/drawingml/2006/main" w="9525">
            <a:solidFill>
              <a:srgbClr val="DCE2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A5DD6719-4E7C-4B1E-9F77-CEDA27D3ADCC}"/>
              </a:ext>
            </a:extLst>
          </p:cNvPr>
          <p:cNvSpPr>
            <a:spLocks xmlns:a="http://schemas.openxmlformats.org/drawingml/2006/main" noGrp="1"/>
          </p:cNvSpPr>
          <p:nvPr/>
        </p:nvSpPr>
        <p:spPr>
          <a:xfrm xmlns:a="http://schemas.openxmlformats.org/drawingml/2006/main">
            <a:off x="7296150" y="2571750"/>
            <a:ext cx="381000" cy="381000"/>
          </a:xfrm>
          <a:prstGeom xmlns:a="http://schemas.openxmlformats.org/drawingml/2006/main" prst="ellipse">
            <a:avLst/>
          </a:prstGeom>
          <a:solidFill xmlns:a="http://schemas.openxmlformats.org/drawingml/2006/main">
            <a:srgbClr val="FF334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A7841F7-39A8-4C72-B289-B077E4F8F111}"/>
              </a:ext>
            </a:extLst>
          </p:cNvPr>
          <p:cNvSpPr>
            <a:spLocks xmlns:a="http://schemas.openxmlformats.org/drawingml/2006/main" noGrp="1"/>
          </p:cNvSpPr>
          <p:nvPr/>
        </p:nvSpPr>
        <p:spPr>
          <a:xfrm xmlns:a="http://schemas.openxmlformats.org/drawingml/2006/main">
            <a:off x="7296150" y="263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FFFFFF"/>
                </a:solidFill>
              </a:defRPr>
            </a:pPr>
            <a:r>
              <a:rPr sz="1050" b="1">
                <a:solidFill>
                  <a:srgbClr val="FFFFFF"/>
                </a:solidFill>
              </a:rPr>
              <a:t>04</a:t>
            </a:r>
          </a:p>
        </p:txBody>
      </p:sp>
      <p:sp>
        <p:nvSpPr>
          <p:cNvPr id="27" name="">
            <a:extLst xmlns:a="http://schemas.openxmlformats.org/drawingml/2006/main">
              <a:ext uri="{FF2B5EF4-FFF2-40B4-BE49-F238E27FC236}">
                <a16:creationId xmlns:a16="http://schemas.microsoft.com/office/drawing/2014/main" id="{D27ACE8F-E777-4914-B1C3-FCB707F9086A}"/>
              </a:ext>
            </a:extLst>
          </p:cNvPr>
          <p:cNvSpPr>
            <a:spLocks xmlns:a="http://schemas.openxmlformats.org/drawingml/2006/main" noGrp="1"/>
          </p:cNvSpPr>
          <p:nvPr/>
        </p:nvSpPr>
        <p:spPr>
          <a:xfrm xmlns:a="http://schemas.openxmlformats.org/drawingml/2006/main">
            <a:off x="7296150" y="31242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18223B"/>
                </a:solidFill>
              </a:defRPr>
            </a:pPr>
            <a:r>
              <a:rPr sz="1800" b="1">
                <a:solidFill>
                  <a:srgbClr val="18223B"/>
                </a:solidFill>
              </a:rPr>
              <a:t>REDEEM</a:t>
            </a:r>
          </a:p>
        </p:txBody>
      </p:sp>
      <p:sp>
        <p:nvSpPr>
          <p:cNvPr id="28" name="">
            <a:extLst xmlns:a="http://schemas.openxmlformats.org/drawingml/2006/main">
              <a:ext uri="{FF2B5EF4-FFF2-40B4-BE49-F238E27FC236}">
                <a16:creationId xmlns:a16="http://schemas.microsoft.com/office/drawing/2014/main" id="{EAB6D1D3-E9C9-497F-B0ED-AC9A4A750377}"/>
              </a:ext>
            </a:extLst>
          </p:cNvPr>
          <p:cNvSpPr>
            <a:spLocks xmlns:a="http://schemas.openxmlformats.org/drawingml/2006/main" noGrp="1"/>
          </p:cNvSpPr>
          <p:nvPr/>
        </p:nvSpPr>
        <p:spPr>
          <a:xfrm xmlns:a="http://schemas.openxmlformats.org/drawingml/2006/main">
            <a:off x="7296150" y="352425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647089"/>
                </a:solidFill>
              </a:defRPr>
            </a:pPr>
            <a:r>
              <a:rPr sz="1350" b="0">
                <a:solidFill>
                  <a:srgbClr val="647089"/>
                </a:solidFill>
              </a:rPr>
              <a:t>balance checked first</a:t>
            </a:r>
          </a:p>
        </p:txBody>
      </p:sp>
      <p:sp>
        <p:nvSpPr>
          <p:cNvPr id="29" name="">
            <a:extLst xmlns:a="http://schemas.openxmlformats.org/drawingml/2006/main">
              <a:ext uri="{FF2B5EF4-FFF2-40B4-BE49-F238E27FC236}">
                <a16:creationId xmlns:a16="http://schemas.microsoft.com/office/drawing/2014/main" id="{1FC35A7C-E117-4D6C-8DC2-8F3512552F66}"/>
              </a:ext>
            </a:extLst>
          </p:cNvPr>
          <p:cNvSpPr>
            <a:spLocks xmlns:a="http://schemas.openxmlformats.org/drawingml/2006/main" noGrp="1"/>
          </p:cNvSpPr>
          <p:nvPr/>
        </p:nvSpPr>
        <p:spPr>
          <a:xfrm xmlns:a="http://schemas.openxmlformats.org/drawingml/2006/main">
            <a:off x="9296400" y="2400300"/>
            <a:ext cx="1866900" cy="1847850"/>
          </a:xfrm>
          <a:prstGeom xmlns:a="http://schemas.openxmlformats.org/drawingml/2006/main" prst="roundRect">
            <a:avLst>
              <a:gd name="adj" fmla="val 12371"/>
            </a:avLst>
          </a:prstGeom>
          <a:solidFill xmlns:a="http://schemas.openxmlformats.org/drawingml/2006/main">
            <a:srgbClr val="FFFFFF"/>
          </a:solidFill>
          <a:ln xmlns:a="http://schemas.openxmlformats.org/drawingml/2006/main" w="9525">
            <a:solidFill>
              <a:srgbClr val="DCE2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C1B58086-FC9C-4E81-BD9D-4703AE603BB6}"/>
              </a:ext>
            </a:extLst>
          </p:cNvPr>
          <p:cNvSpPr>
            <a:spLocks xmlns:a="http://schemas.openxmlformats.org/drawingml/2006/main" noGrp="1"/>
          </p:cNvSpPr>
          <p:nvPr/>
        </p:nvSpPr>
        <p:spPr>
          <a:xfrm xmlns:a="http://schemas.openxmlformats.org/drawingml/2006/main">
            <a:off x="9467850" y="2571750"/>
            <a:ext cx="381000" cy="381000"/>
          </a:xfrm>
          <a:prstGeom xmlns:a="http://schemas.openxmlformats.org/drawingml/2006/main" prst="ellipse">
            <a:avLst/>
          </a:prstGeom>
          <a:solidFill xmlns:a="http://schemas.openxmlformats.org/drawingml/2006/main">
            <a:srgbClr val="9A6A0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3754A49-0DE4-47DA-9D16-3809E9AE042A}"/>
              </a:ext>
            </a:extLst>
          </p:cNvPr>
          <p:cNvSpPr>
            <a:spLocks xmlns:a="http://schemas.openxmlformats.org/drawingml/2006/main" noGrp="1"/>
          </p:cNvSpPr>
          <p:nvPr/>
        </p:nvSpPr>
        <p:spPr>
          <a:xfrm xmlns:a="http://schemas.openxmlformats.org/drawingml/2006/main">
            <a:off x="9467850" y="26384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FFFFFF"/>
                </a:solidFill>
              </a:defRPr>
            </a:pPr>
            <a:r>
              <a:rPr sz="1050" b="1">
                <a:solidFill>
                  <a:srgbClr val="FFFFFF"/>
                </a:solidFill>
              </a:rPr>
              <a:t>05</a:t>
            </a:r>
          </a:p>
        </p:txBody>
      </p:sp>
      <p:sp>
        <p:nvSpPr>
          <p:cNvPr id="32" name="">
            <a:extLst xmlns:a="http://schemas.openxmlformats.org/drawingml/2006/main">
              <a:ext uri="{FF2B5EF4-FFF2-40B4-BE49-F238E27FC236}">
                <a16:creationId xmlns:a16="http://schemas.microsoft.com/office/drawing/2014/main" id="{B374D3E3-82CC-40C0-BE30-A91CA7EF5796}"/>
              </a:ext>
            </a:extLst>
          </p:cNvPr>
          <p:cNvSpPr>
            <a:spLocks xmlns:a="http://schemas.openxmlformats.org/drawingml/2006/main" noGrp="1"/>
          </p:cNvSpPr>
          <p:nvPr/>
        </p:nvSpPr>
        <p:spPr>
          <a:xfrm xmlns:a="http://schemas.openxmlformats.org/drawingml/2006/main">
            <a:off x="9467850" y="31242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5000"/>
              </a:lnSpc>
              <a:buNone/>
              <a:defRPr sz="1800" b="1">
                <a:solidFill>
                  <a:srgbClr val="18223B"/>
                </a:solidFill>
              </a:defRPr>
            </a:pPr>
            <a:r>
              <a:rPr sz="1800" b="1">
                <a:solidFill>
                  <a:srgbClr val="18223B"/>
                </a:solidFill>
              </a:rPr>
              <a:t>APPLY</a:t>
            </a:r>
          </a:p>
        </p:txBody>
      </p:sp>
      <p:sp>
        <p:nvSpPr>
          <p:cNvPr id="33" name="">
            <a:extLst xmlns:a="http://schemas.openxmlformats.org/drawingml/2006/main">
              <a:ext uri="{FF2B5EF4-FFF2-40B4-BE49-F238E27FC236}">
                <a16:creationId xmlns:a16="http://schemas.microsoft.com/office/drawing/2014/main" id="{2F3D17C8-B598-4CA9-ACF6-C8C56AC57B74}"/>
              </a:ext>
            </a:extLst>
          </p:cNvPr>
          <p:cNvSpPr>
            <a:spLocks xmlns:a="http://schemas.openxmlformats.org/drawingml/2006/main" noGrp="1"/>
          </p:cNvSpPr>
          <p:nvPr/>
        </p:nvSpPr>
        <p:spPr>
          <a:xfrm xmlns:a="http://schemas.openxmlformats.org/drawingml/2006/main">
            <a:off x="9467850" y="352425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647089"/>
                </a:solidFill>
              </a:defRPr>
            </a:pPr>
            <a:r>
              <a:rPr sz="1350" b="0">
                <a:solidFill>
                  <a:srgbClr val="647089"/>
                </a:solidFill>
              </a:rPr>
              <a:t>cashback or code</a:t>
            </a:r>
          </a:p>
        </p:txBody>
      </p:sp>
      <p:sp>
        <p:nvSpPr>
          <p:cNvPr id="34" name="">
            <a:extLst xmlns:a="http://schemas.openxmlformats.org/drawingml/2006/main">
              <a:ext uri="{FF2B5EF4-FFF2-40B4-BE49-F238E27FC236}">
                <a16:creationId xmlns:a16="http://schemas.microsoft.com/office/drawing/2014/main" id="{3F393295-B6DE-4CEA-9912-F15B990D3AD1}"/>
              </a:ext>
            </a:extLst>
          </p:cNvPr>
          <p:cNvSpPr>
            <a:spLocks xmlns:a="http://schemas.openxmlformats.org/drawingml/2006/main" noGrp="1"/>
          </p:cNvSpPr>
          <p:nvPr/>
        </p:nvSpPr>
        <p:spPr>
          <a:xfrm xmlns:a="http://schemas.openxmlformats.org/drawingml/2006/main">
            <a:off x="609600" y="4667250"/>
            <a:ext cx="10972800" cy="1219200"/>
          </a:xfrm>
          <a:prstGeom xmlns:a="http://schemas.openxmlformats.org/drawingml/2006/main" prst="roundRect">
            <a:avLst>
              <a:gd name="adj" fmla="val 18750"/>
            </a:avLst>
          </a:prstGeom>
          <a:solidFill xmlns:a="http://schemas.openxmlformats.org/drawingml/2006/main">
            <a:srgbClr val="0B1836"/>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ACBB754E-0CB2-4E1A-9A3F-5418B0BB7CD9}"/>
              </a:ext>
            </a:extLst>
          </p:cNvPr>
          <p:cNvSpPr>
            <a:spLocks xmlns:a="http://schemas.openxmlformats.org/drawingml/2006/main" noGrp="1"/>
          </p:cNvSpPr>
          <p:nvPr/>
        </p:nvSpPr>
        <p:spPr>
          <a:xfrm xmlns:a="http://schemas.openxmlformats.org/drawingml/2006/main">
            <a:off x="895350" y="49530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FD44D"/>
                </a:solidFill>
              </a:defRPr>
            </a:pPr>
            <a:r>
              <a:rPr sz="1275" b="1">
                <a:solidFill>
                  <a:srgbClr val="FFD44D"/>
                </a:solidFill>
              </a:rPr>
              <a:t>Payment ID</a:t>
            </a:r>
          </a:p>
        </p:txBody>
      </p:sp>
      <p:sp>
        <p:nvSpPr>
          <p:cNvPr id="36" name="">
            <a:extLst xmlns:a="http://schemas.openxmlformats.org/drawingml/2006/main">
              <a:ext uri="{FF2B5EF4-FFF2-40B4-BE49-F238E27FC236}">
                <a16:creationId xmlns:a16="http://schemas.microsoft.com/office/drawing/2014/main" id="{CEB2E1A5-DFAF-4671-9CE4-C5BF66D65504}"/>
              </a:ext>
            </a:extLst>
          </p:cNvPr>
          <p:cNvSpPr>
            <a:spLocks xmlns:a="http://schemas.openxmlformats.org/drawingml/2006/main" noGrp="1"/>
          </p:cNvSpPr>
          <p:nvPr/>
        </p:nvSpPr>
        <p:spPr>
          <a:xfrm xmlns:a="http://schemas.openxmlformats.org/drawingml/2006/main">
            <a:off x="895350" y="52578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FFFFF"/>
                </a:solidFill>
              </a:defRPr>
            </a:pPr>
            <a:r>
              <a:rPr sz="1425" b="1">
                <a:solidFill>
                  <a:srgbClr val="FFFFFF"/>
                </a:solidFill>
              </a:rPr>
              <a:t>blocks duplicates</a:t>
            </a:r>
          </a:p>
        </p:txBody>
      </p:sp>
      <p:sp>
        <p:nvSpPr>
          <p:cNvPr id="37" name="">
            <a:extLst xmlns:a="http://schemas.openxmlformats.org/drawingml/2006/main">
              <a:ext uri="{FF2B5EF4-FFF2-40B4-BE49-F238E27FC236}">
                <a16:creationId xmlns:a16="http://schemas.microsoft.com/office/drawing/2014/main" id="{077A37D8-D7EA-4963-9156-F3B525B4B6D0}"/>
              </a:ext>
            </a:extLst>
          </p:cNvPr>
          <p:cNvSpPr>
            <a:spLocks xmlns:a="http://schemas.openxmlformats.org/drawingml/2006/main" noGrp="1"/>
          </p:cNvSpPr>
          <p:nvPr/>
        </p:nvSpPr>
        <p:spPr>
          <a:xfrm xmlns:a="http://schemas.openxmlformats.org/drawingml/2006/main">
            <a:off x="3562350" y="49530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FD44D"/>
                </a:solidFill>
              </a:defRPr>
            </a:pPr>
            <a:r>
              <a:rPr sz="1275" b="1">
                <a:solidFill>
                  <a:srgbClr val="FFD44D"/>
                </a:solidFill>
              </a:rPr>
              <a:t>Transaction kind</a:t>
            </a:r>
          </a:p>
        </p:txBody>
      </p:sp>
      <p:sp>
        <p:nvSpPr>
          <p:cNvPr id="38" name="">
            <a:extLst xmlns:a="http://schemas.openxmlformats.org/drawingml/2006/main">
              <a:ext uri="{FF2B5EF4-FFF2-40B4-BE49-F238E27FC236}">
                <a16:creationId xmlns:a16="http://schemas.microsoft.com/office/drawing/2014/main" id="{4965DFF1-4B05-4FB5-B377-9CB0642E9A7A}"/>
              </a:ext>
            </a:extLst>
          </p:cNvPr>
          <p:cNvSpPr>
            <a:spLocks xmlns:a="http://schemas.openxmlformats.org/drawingml/2006/main" noGrp="1"/>
          </p:cNvSpPr>
          <p:nvPr/>
        </p:nvSpPr>
        <p:spPr>
          <a:xfrm xmlns:a="http://schemas.openxmlformats.org/drawingml/2006/main">
            <a:off x="3562350" y="52578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FFFFF"/>
                </a:solidFill>
              </a:defRPr>
            </a:pPr>
            <a:r>
              <a:rPr sz="1425" b="1">
                <a:solidFill>
                  <a:srgbClr val="FFFFFF"/>
                </a:solidFill>
              </a:rPr>
              <a:t>controls eligibility</a:t>
            </a:r>
          </a:p>
        </p:txBody>
      </p:sp>
      <p:sp>
        <p:nvSpPr>
          <p:cNvPr id="39" name="">
            <a:extLst xmlns:a="http://schemas.openxmlformats.org/drawingml/2006/main">
              <a:ext uri="{FF2B5EF4-FFF2-40B4-BE49-F238E27FC236}">
                <a16:creationId xmlns:a16="http://schemas.microsoft.com/office/drawing/2014/main" id="{17CD4C5E-8633-473A-B4B6-5A9D1B421835}"/>
              </a:ext>
            </a:extLst>
          </p:cNvPr>
          <p:cNvSpPr>
            <a:spLocks xmlns:a="http://schemas.openxmlformats.org/drawingml/2006/main" noGrp="1"/>
          </p:cNvSpPr>
          <p:nvPr/>
        </p:nvSpPr>
        <p:spPr>
          <a:xfrm xmlns:a="http://schemas.openxmlformats.org/drawingml/2006/main">
            <a:off x="6229350" y="49530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FD44D"/>
                </a:solidFill>
              </a:defRPr>
            </a:pPr>
            <a:r>
              <a:rPr sz="1275" b="1">
                <a:solidFill>
                  <a:srgbClr val="FFD44D"/>
                </a:solidFill>
              </a:rPr>
              <a:t>XP balance</a:t>
            </a:r>
          </a:p>
        </p:txBody>
      </p:sp>
      <p:sp>
        <p:nvSpPr>
          <p:cNvPr id="40" name="">
            <a:extLst xmlns:a="http://schemas.openxmlformats.org/drawingml/2006/main">
              <a:ext uri="{FF2B5EF4-FFF2-40B4-BE49-F238E27FC236}">
                <a16:creationId xmlns:a16="http://schemas.microsoft.com/office/drawing/2014/main" id="{644C85D3-42E2-4657-B686-0E52F0FA403F}"/>
              </a:ext>
            </a:extLst>
          </p:cNvPr>
          <p:cNvSpPr>
            <a:spLocks xmlns:a="http://schemas.openxmlformats.org/drawingml/2006/main" noGrp="1"/>
          </p:cNvSpPr>
          <p:nvPr/>
        </p:nvSpPr>
        <p:spPr>
          <a:xfrm xmlns:a="http://schemas.openxmlformats.org/drawingml/2006/main">
            <a:off x="6229350" y="52578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FFFFF"/>
                </a:solidFill>
              </a:defRPr>
            </a:pPr>
            <a:r>
              <a:rPr sz="1425" b="1">
                <a:solidFill>
                  <a:srgbClr val="FFFFFF"/>
                </a:solidFill>
              </a:rPr>
              <a:t>never drops below zero</a:t>
            </a:r>
          </a:p>
        </p:txBody>
      </p:sp>
      <p:sp>
        <p:nvSpPr>
          <p:cNvPr id="41" name="">
            <a:extLst xmlns:a="http://schemas.openxmlformats.org/drawingml/2006/main">
              <a:ext uri="{FF2B5EF4-FFF2-40B4-BE49-F238E27FC236}">
                <a16:creationId xmlns:a16="http://schemas.microsoft.com/office/drawing/2014/main" id="{3056D071-4FC2-4AEC-AB97-889642B64917}"/>
              </a:ext>
            </a:extLst>
          </p:cNvPr>
          <p:cNvSpPr>
            <a:spLocks xmlns:a="http://schemas.openxmlformats.org/drawingml/2006/main" noGrp="1"/>
          </p:cNvSpPr>
          <p:nvPr/>
        </p:nvSpPr>
        <p:spPr>
          <a:xfrm xmlns:a="http://schemas.openxmlformats.org/drawingml/2006/main">
            <a:off x="8896350" y="49530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FD44D"/>
                </a:solidFill>
              </a:defRPr>
            </a:pPr>
            <a:r>
              <a:rPr sz="1275" b="1">
                <a:solidFill>
                  <a:srgbClr val="FFD44D"/>
                </a:solidFill>
              </a:rPr>
              <a:t>Reward status</a:t>
            </a:r>
          </a:p>
        </p:txBody>
      </p:sp>
      <p:sp>
        <p:nvSpPr>
          <p:cNvPr id="42" name="">
            <a:extLst xmlns:a="http://schemas.openxmlformats.org/drawingml/2006/main">
              <a:ext uri="{FF2B5EF4-FFF2-40B4-BE49-F238E27FC236}">
                <a16:creationId xmlns:a16="http://schemas.microsoft.com/office/drawing/2014/main" id="{BEE3150E-CBF3-4035-BF8E-14906A570913}"/>
              </a:ext>
            </a:extLst>
          </p:cNvPr>
          <p:cNvSpPr>
            <a:spLocks xmlns:a="http://schemas.openxmlformats.org/drawingml/2006/main" noGrp="1"/>
          </p:cNvSpPr>
          <p:nvPr/>
        </p:nvSpPr>
        <p:spPr>
          <a:xfrm xmlns:a="http://schemas.openxmlformats.org/drawingml/2006/main">
            <a:off x="8896350" y="52578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FFFFF"/>
                </a:solidFill>
              </a:defRPr>
            </a:pPr>
            <a:r>
              <a:rPr sz="1425" b="1">
                <a:solidFill>
                  <a:srgbClr val="FFFFFF"/>
                </a:solidFill>
              </a:rPr>
              <a:t>keeps outcomes honest</a:t>
            </a:r>
          </a:p>
        </p:txBody>
      </p:sp>
      <p:sp>
        <p:nvSpPr>
          <p:cNvPr id="43" name="">
            <a:extLst xmlns:a="http://schemas.openxmlformats.org/drawingml/2006/main">
              <a:ext uri="{FF2B5EF4-FFF2-40B4-BE49-F238E27FC236}">
                <a16:creationId xmlns:a16="http://schemas.microsoft.com/office/drawing/2014/main" id="{C4982D30-3DFC-46B4-8DB5-1F374B36C489}"/>
              </a:ext>
            </a:extLst>
          </p:cNvPr>
          <p:cNvSpPr>
            <a:spLocks xmlns:a="http://schemas.openxmlformats.org/drawingml/2006/main" noGrp="1"/>
          </p:cNvSpPr>
          <p:nvPr/>
        </p:nvSpPr>
        <p:spPr>
          <a:xfrm xmlns:a="http://schemas.openxmlformats.org/drawingml/2006/main">
            <a:off x="609600" y="6515100"/>
            <a:ext cx="10972800" cy="19050"/>
          </a:xfrm>
          <a:prstGeom xmlns:a="http://schemas.openxmlformats.org/drawingml/2006/main" prst="rect">
            <a:avLst/>
          </a:prstGeom>
          <a:solidFill xmlns:a="http://schemas.openxmlformats.org/drawingml/2006/main">
            <a:srgbClr val="DCE2ED"/>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26BDE0B5-8A5A-4509-ADA0-F65403AD08D7}"/>
              </a:ext>
            </a:extLst>
          </p:cNvPr>
          <p:cNvSpPr>
            <a:spLocks xmlns:a="http://schemas.openxmlformats.org/drawingml/2006/main" noGrp="1"/>
          </p:cNvSpPr>
          <p:nvPr/>
        </p:nvSpPr>
        <p:spPr>
          <a:xfrm xmlns:a="http://schemas.openxmlformats.org/drawingml/2006/main">
            <a:off x="609600" y="6515100"/>
            <a:ext cx="4391025" cy="19050"/>
          </a:xfrm>
          <a:prstGeom xmlns:a="http://schemas.openxmlformats.org/drawingml/2006/main" prst="rect">
            <a:avLst/>
          </a:prstGeom>
          <a:solidFill xmlns:a="http://schemas.openxmlformats.org/drawingml/2006/main">
            <a:srgbClr val="2D8C70"/>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2C1DFC23-7B87-4C68-B717-66182B03A3B1}"/>
              </a:ext>
            </a:extLst>
          </p:cNvPr>
          <p:cNvSpPr>
            <a:spLocks xmlns:a="http://schemas.openxmlformats.org/drawingml/2006/main" noGrp="1"/>
          </p:cNvSpPr>
          <p:nvPr/>
        </p:nvSpPr>
        <p:spPr>
          <a:xfrm xmlns:a="http://schemas.openxmlformats.org/drawingml/2006/main">
            <a:off x="609600" y="6610350"/>
            <a:ext cx="2286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8A94A8"/>
                </a:solidFill>
              </a:defRPr>
            </a:pPr>
            <a:r>
              <a:rPr sz="750" b="1">
                <a:solidFill>
                  <a:srgbClr val="8A94A8"/>
                </a:solidFill>
              </a:rPr>
              <a:t>XP REWARDS STORE</a:t>
            </a:r>
          </a:p>
        </p:txBody>
      </p:sp>
      <p:sp>
        <p:nvSpPr>
          <p:cNvPr id="46" name="">
            <a:extLst xmlns:a="http://schemas.openxmlformats.org/drawingml/2006/main">
              <a:ext uri="{FF2B5EF4-FFF2-40B4-BE49-F238E27FC236}">
                <a16:creationId xmlns:a16="http://schemas.microsoft.com/office/drawing/2014/main" id="{D9E2B703-546B-4500-A204-986FBE9CA271}"/>
              </a:ext>
            </a:extLst>
          </p:cNvPr>
          <p:cNvSpPr>
            <a:spLocks xmlns:a="http://schemas.openxmlformats.org/drawingml/2006/main" noGrp="1"/>
          </p:cNvSpPr>
          <p:nvPr/>
        </p:nvSpPr>
        <p:spPr>
          <a:xfrm xmlns:a="http://schemas.openxmlformats.org/drawingml/2006/main">
            <a:off x="10810875" y="6610350"/>
            <a:ext cx="7715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8A94A8"/>
                </a:solidFill>
              </a:defRPr>
            </a:pPr>
            <a:r>
              <a:rPr sz="750" b="1">
                <a:solidFill>
                  <a:srgbClr val="8A94A8"/>
                </a:solidFill>
              </a:rPr>
              <a:t>HADI</a:t>
            </a:r>
          </a:p>
        </p:txBody>
      </p:sp>
    </p:spTree>
    <p:extLst>
      <p:ext uri="{BB962C8B-B14F-4D97-AF65-F5344CB8AC3E}">
        <p14:creationId xmlns:p14="http://schemas.microsoft.com/office/powerpoint/2010/main" val="5295798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4D0AD18-4C7C-4EA7-B606-4949B051EBEE}"/>
              </a:ext>
            </a:extLst>
          </p:cNvPr>
          <p:cNvSpPr>
            <a:spLocks xmlns:a="http://schemas.openxmlformats.org/drawingml/2006/main" noGrp="1"/>
          </p:cNvSpPr>
          <p:nvPr/>
        </p:nvSpPr>
        <p:spPr>
          <a:xfrm xmlns:a="http://schemas.openxmlformats.org/drawingml/2006/main">
            <a:off x="609600" y="3238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5267F8"/>
                </a:solidFill>
              </a:defRPr>
            </a:pPr>
            <a:r>
              <a:rPr sz="1050" b="1">
                <a:solidFill>
                  <a:srgbClr val="5267F8"/>
                </a:solidFill>
              </a:rPr>
              <a:t>WORKING PROTOTYPE</a:t>
            </a:r>
          </a:p>
        </p:txBody>
      </p:sp>
      <p:sp>
        <p:nvSpPr>
          <p:cNvPr id="2" name="">
            <a:extLst xmlns:a="http://schemas.openxmlformats.org/drawingml/2006/main">
              <a:ext uri="{FF2B5EF4-FFF2-40B4-BE49-F238E27FC236}">
                <a16:creationId xmlns:a16="http://schemas.microsoft.com/office/drawing/2014/main" id="{A1027A9F-D47B-468D-B14A-67C55460BA4D}"/>
              </a:ext>
            </a:extLst>
          </p:cNvPr>
          <p:cNvSpPr>
            <a:spLocks xmlns:a="http://schemas.openxmlformats.org/drawingml/2006/main" noGrp="1"/>
          </p:cNvSpPr>
          <p:nvPr/>
        </p:nvSpPr>
        <p:spPr>
          <a:xfrm xmlns:a="http://schemas.openxmlformats.org/drawingml/2006/main">
            <a:off x="609600" y="66675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00" b="1">
                <a:solidFill>
                  <a:srgbClr val="18223B"/>
                </a:solidFill>
              </a:defRPr>
            </a:pPr>
            <a:r>
              <a:rPr sz="3600" b="1">
                <a:solidFill>
                  <a:srgbClr val="18223B"/>
                </a:solidFill>
              </a:rPr>
              <a:t>The reward becomes real in under a minute.</a:t>
            </a:r>
          </a:p>
        </p:txBody>
      </p:sp>
      <p:sp>
        <p:nvSpPr>
          <p:cNvPr id="3" name="">
            <a:extLst xmlns:a="http://schemas.openxmlformats.org/drawingml/2006/main">
              <a:ext uri="{FF2B5EF4-FFF2-40B4-BE49-F238E27FC236}">
                <a16:creationId xmlns:a16="http://schemas.microsoft.com/office/drawing/2014/main" id="{C0233ABD-7BBD-49DF-B174-B6044D75ECBC}"/>
              </a:ext>
            </a:extLst>
          </p:cNvPr>
          <p:cNvSpPr>
            <a:spLocks xmlns:a="http://schemas.openxmlformats.org/drawingml/2006/main" noGrp="1"/>
          </p:cNvSpPr>
          <p:nvPr/>
        </p:nvSpPr>
        <p:spPr>
          <a:xfrm xmlns:a="http://schemas.openxmlformats.org/drawingml/2006/main">
            <a:off x="11239500" y="3619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647089"/>
                </a:solidFill>
              </a:defRPr>
            </a:pPr>
            <a:r>
              <a:rPr sz="1050" b="1">
                <a:solidFill>
                  <a:srgbClr val="647089"/>
                </a:solidFill>
              </a:rPr>
              <a:t>05</a:t>
            </a:r>
          </a:p>
        </p:txBody>
      </p:sp>
      <p:sp>
        <p:nvSpPr>
          <p:cNvPr id="4" name="">
            <a:extLst xmlns:a="http://schemas.openxmlformats.org/drawingml/2006/main">
              <a:ext uri="{FF2B5EF4-FFF2-40B4-BE49-F238E27FC236}">
                <a16:creationId xmlns:a16="http://schemas.microsoft.com/office/drawing/2014/main" id="{CBE34306-8B13-4E18-8A1F-62E06B9DA44F}"/>
              </a:ext>
            </a:extLst>
          </p:cNvPr>
          <p:cNvSpPr>
            <a:spLocks xmlns:a="http://schemas.openxmlformats.org/drawingml/2006/main" noGrp="1"/>
          </p:cNvSpPr>
          <p:nvPr/>
        </p:nvSpPr>
        <p:spPr>
          <a:xfrm xmlns:a="http://schemas.openxmlformats.org/drawingml/2006/main">
            <a:off x="609600" y="13525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a:solidFill>
                  <a:srgbClr val="647089"/>
                </a:solidFill>
              </a:defRPr>
            </a:pPr>
            <a:r>
              <a:rPr sz="1725" b="0">
                <a:solidFill>
                  <a:srgbClr val="647089"/>
                </a:solidFill>
              </a:rPr>
              <a:t>A complete loop is visible to the user: choose value, confirm the trade-off, then see the money and history update.</a:t>
            </a:r>
          </a:p>
        </p:txBody>
      </p:sp>
      <p:sp>
        <p:nvSpPr>
          <p:cNvPr id="5" name="">
            <a:extLst xmlns:a="http://schemas.openxmlformats.org/drawingml/2006/main">
              <a:ext uri="{FF2B5EF4-FFF2-40B4-BE49-F238E27FC236}">
                <a16:creationId xmlns:a16="http://schemas.microsoft.com/office/drawing/2014/main" id="{737B1CCC-0EA1-4954-9501-9549198245DC}"/>
              </a:ext>
            </a:extLst>
          </p:cNvPr>
          <p:cNvSpPr>
            <a:spLocks xmlns:a="http://schemas.openxmlformats.org/drawingml/2006/main" noGrp="1"/>
          </p:cNvSpPr>
          <p:nvPr/>
        </p:nvSpPr>
        <p:spPr>
          <a:xfrm xmlns:a="http://schemas.openxmlformats.org/drawingml/2006/main">
            <a:off x="609600" y="2057400"/>
            <a:ext cx="3371850" cy="3600450"/>
          </a:xfrm>
          <a:prstGeom xmlns:a="http://schemas.openxmlformats.org/drawingml/2006/main" prst="roundRect">
            <a:avLst>
              <a:gd name="adj" fmla="val 6780"/>
            </a:avLst>
          </a:prstGeom>
          <a:solidFill xmlns:a="http://schemas.openxmlformats.org/drawingml/2006/main">
            <a:srgbClr val="F5F7FB"/>
          </a:solidFill>
          <a:ln xmlns:a="http://schemas.openxmlformats.org/drawingml/2006/main" w="9525">
            <a:solidFill>
              <a:srgbClr val="DCE2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b121c4705a8a40ae"/>
          <a:srcRect xmlns:a="http://schemas.openxmlformats.org/drawingml/2006/main" l="17828" t="0" r="17828" b="0"/>
          <a:stretch xmlns:a="http://schemas.openxmlformats.org/drawingml/2006/main">
            <a:fillRect l="0" t="0" r="0" b="0"/>
          </a:stretch>
        </p:blipFill>
        <p:spPr>
          <a:xfrm xmlns:a="http://schemas.openxmlformats.org/drawingml/2006/main">
            <a:off x="781050" y="2209800"/>
            <a:ext cx="3028950" cy="2647950"/>
          </a:xfrm>
          <a:prstGeom xmlns:a="http://schemas.openxmlformats.org/drawingml/2006/main" prst="roundRect">
            <a:avLst>
              <a:gd name="adj" fmla="val 5755"/>
            </a:avLst>
          </a:prstGeom>
        </p:spPr>
      </p:pic>
      <p:sp>
        <p:nvSpPr>
          <p:cNvPr id="7" name="">
            <a:extLst xmlns:a="http://schemas.openxmlformats.org/drawingml/2006/main">
              <a:ext uri="{FF2B5EF4-FFF2-40B4-BE49-F238E27FC236}">
                <a16:creationId xmlns:a16="http://schemas.microsoft.com/office/drawing/2014/main" id="{5F29C3D7-4731-4ED6-9451-50B36FBC9311}"/>
              </a:ext>
            </a:extLst>
          </p:cNvPr>
          <p:cNvSpPr>
            <a:spLocks xmlns:a="http://schemas.openxmlformats.org/drawingml/2006/main" noGrp="1"/>
          </p:cNvSpPr>
          <p:nvPr/>
        </p:nvSpPr>
        <p:spPr>
          <a:xfrm xmlns:a="http://schemas.openxmlformats.org/drawingml/2006/main">
            <a:off x="819150" y="5029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5267F8"/>
                </a:solidFill>
              </a:defRPr>
            </a:pPr>
            <a:r>
              <a:rPr sz="1200" b="1">
                <a:solidFill>
                  <a:srgbClr val="5267F8"/>
                </a:solidFill>
              </a:rPr>
              <a:t>1 · CHOOSE</a:t>
            </a:r>
          </a:p>
        </p:txBody>
      </p:sp>
      <p:sp>
        <p:nvSpPr>
          <p:cNvPr id="8" name="">
            <a:extLst xmlns:a="http://schemas.openxmlformats.org/drawingml/2006/main">
              <a:ext uri="{FF2B5EF4-FFF2-40B4-BE49-F238E27FC236}">
                <a16:creationId xmlns:a16="http://schemas.microsoft.com/office/drawing/2014/main" id="{9A859D8A-5DE2-4035-AA03-402310EAB4D9}"/>
              </a:ext>
            </a:extLst>
          </p:cNvPr>
          <p:cNvSpPr>
            <a:spLocks xmlns:a="http://schemas.openxmlformats.org/drawingml/2006/main" noGrp="1"/>
          </p:cNvSpPr>
          <p:nvPr/>
        </p:nvSpPr>
        <p:spPr>
          <a:xfrm xmlns:a="http://schemas.openxmlformats.org/drawingml/2006/main">
            <a:off x="819150" y="529590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86"/>
          </a:bodyPr>
          <a:lstStyle xmlns:a="http://schemas.openxmlformats.org/drawingml/2006/main"/>
          <a:p xmlns:a="http://schemas.openxmlformats.org/drawingml/2006/main">
            <a:pPr algn="l">
              <a:lnSpc>
                <a:spcPct val="105000"/>
              </a:lnSpc>
              <a:buNone/>
              <a:defRPr sz="1350" b="1">
                <a:solidFill>
                  <a:srgbClr val="18223B"/>
                </a:solidFill>
              </a:defRPr>
            </a:pPr>
            <a:r>
              <a:rPr sz="1350" b="1">
                <a:solidFill>
                  <a:srgbClr val="18223B"/>
                </a:solidFill>
              </a:rPr>
              <a:t>Cashback, local vouchers and partner deals</a:t>
            </a:r>
          </a:p>
        </p:txBody>
      </p:sp>
      <p:sp>
        <p:nvSpPr>
          <p:cNvPr id="9" name="">
            <a:extLst xmlns:a="http://schemas.openxmlformats.org/drawingml/2006/main">
              <a:ext uri="{FF2B5EF4-FFF2-40B4-BE49-F238E27FC236}">
                <a16:creationId xmlns:a16="http://schemas.microsoft.com/office/drawing/2014/main" id="{F0BC4968-931B-440E-A684-14D3DAB15FD1}"/>
              </a:ext>
            </a:extLst>
          </p:cNvPr>
          <p:cNvSpPr>
            <a:spLocks xmlns:a="http://schemas.openxmlformats.org/drawingml/2006/main" noGrp="1"/>
          </p:cNvSpPr>
          <p:nvPr/>
        </p:nvSpPr>
        <p:spPr>
          <a:xfrm xmlns:a="http://schemas.openxmlformats.org/drawingml/2006/main">
            <a:off x="4362450" y="2057400"/>
            <a:ext cx="3371850" cy="3600450"/>
          </a:xfrm>
          <a:prstGeom xmlns:a="http://schemas.openxmlformats.org/drawingml/2006/main" prst="roundRect">
            <a:avLst>
              <a:gd name="adj" fmla="val 6780"/>
            </a:avLst>
          </a:prstGeom>
          <a:solidFill xmlns:a="http://schemas.openxmlformats.org/drawingml/2006/main">
            <a:srgbClr val="F5F7FB"/>
          </a:solidFill>
          <a:ln xmlns:a="http://schemas.openxmlformats.org/drawingml/2006/main" w="9525">
            <a:solidFill>
              <a:srgbClr val="DCE2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02a5590d28948eb"/>
          <a:srcRect xmlns:a="http://schemas.openxmlformats.org/drawingml/2006/main" l="17828" t="0" r="17828" b="0"/>
          <a:stretch xmlns:a="http://schemas.openxmlformats.org/drawingml/2006/main">
            <a:fillRect l="0" t="0" r="0" b="0"/>
          </a:stretch>
        </p:blipFill>
        <p:spPr>
          <a:xfrm xmlns:a="http://schemas.openxmlformats.org/drawingml/2006/main">
            <a:off x="4533900" y="2209800"/>
            <a:ext cx="3028950" cy="2647950"/>
          </a:xfrm>
          <a:prstGeom xmlns:a="http://schemas.openxmlformats.org/drawingml/2006/main" prst="roundRect">
            <a:avLst>
              <a:gd name="adj" fmla="val 5755"/>
            </a:avLst>
          </a:prstGeom>
        </p:spPr>
      </p:pic>
      <p:sp>
        <p:nvSpPr>
          <p:cNvPr id="11" name="">
            <a:extLst xmlns:a="http://schemas.openxmlformats.org/drawingml/2006/main">
              <a:ext uri="{FF2B5EF4-FFF2-40B4-BE49-F238E27FC236}">
                <a16:creationId xmlns:a16="http://schemas.microsoft.com/office/drawing/2014/main" id="{3F8EE87B-3157-4738-97F2-2CA394D08334}"/>
              </a:ext>
            </a:extLst>
          </p:cNvPr>
          <p:cNvSpPr>
            <a:spLocks xmlns:a="http://schemas.openxmlformats.org/drawingml/2006/main" noGrp="1"/>
          </p:cNvSpPr>
          <p:nvPr/>
        </p:nvSpPr>
        <p:spPr>
          <a:xfrm xmlns:a="http://schemas.openxmlformats.org/drawingml/2006/main">
            <a:off x="4572000" y="5029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FF3347"/>
                </a:solidFill>
              </a:defRPr>
            </a:pPr>
            <a:r>
              <a:rPr sz="1200" b="1">
                <a:solidFill>
                  <a:srgbClr val="FF3347"/>
                </a:solidFill>
              </a:rPr>
              <a:t>2 · CONFIRM</a:t>
            </a:r>
          </a:p>
        </p:txBody>
      </p:sp>
      <p:sp>
        <p:nvSpPr>
          <p:cNvPr id="12" name="">
            <a:extLst xmlns:a="http://schemas.openxmlformats.org/drawingml/2006/main">
              <a:ext uri="{FF2B5EF4-FFF2-40B4-BE49-F238E27FC236}">
                <a16:creationId xmlns:a16="http://schemas.microsoft.com/office/drawing/2014/main" id="{99752D02-2F6B-46BC-81EC-D4B7CD958923}"/>
              </a:ext>
            </a:extLst>
          </p:cNvPr>
          <p:cNvSpPr>
            <a:spLocks xmlns:a="http://schemas.openxmlformats.org/drawingml/2006/main" noGrp="1"/>
          </p:cNvSpPr>
          <p:nvPr/>
        </p:nvSpPr>
        <p:spPr>
          <a:xfrm xmlns:a="http://schemas.openxmlformats.org/drawingml/2006/main">
            <a:off x="4572000" y="529590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742"/>
          </a:bodyPr>
          <a:lstStyle xmlns:a="http://schemas.openxmlformats.org/drawingml/2006/main"/>
          <a:p xmlns:a="http://schemas.openxmlformats.org/drawingml/2006/main">
            <a:pPr algn="l">
              <a:lnSpc>
                <a:spcPct val="105000"/>
              </a:lnSpc>
              <a:buNone/>
              <a:defRPr sz="1350" b="1">
                <a:solidFill>
                  <a:srgbClr val="18223B"/>
                </a:solidFill>
              </a:defRPr>
            </a:pPr>
            <a:r>
              <a:rPr sz="1350" b="1">
                <a:solidFill>
                  <a:srgbClr val="18223B"/>
                </a:solidFill>
              </a:rPr>
              <a:t>Reference, XP spent and remaining balance</a:t>
            </a:r>
          </a:p>
        </p:txBody>
      </p:sp>
      <p:sp>
        <p:nvSpPr>
          <p:cNvPr id="13" name="">
            <a:extLst xmlns:a="http://schemas.openxmlformats.org/drawingml/2006/main">
              <a:ext uri="{FF2B5EF4-FFF2-40B4-BE49-F238E27FC236}">
                <a16:creationId xmlns:a16="http://schemas.microsoft.com/office/drawing/2014/main" id="{998BE921-3C28-4082-A9E5-46F45EA685E8}"/>
              </a:ext>
            </a:extLst>
          </p:cNvPr>
          <p:cNvSpPr>
            <a:spLocks xmlns:a="http://schemas.openxmlformats.org/drawingml/2006/main" noGrp="1"/>
          </p:cNvSpPr>
          <p:nvPr/>
        </p:nvSpPr>
        <p:spPr>
          <a:xfrm xmlns:a="http://schemas.openxmlformats.org/drawingml/2006/main">
            <a:off x="8115300" y="2057400"/>
            <a:ext cx="3371850" cy="3600450"/>
          </a:xfrm>
          <a:prstGeom xmlns:a="http://schemas.openxmlformats.org/drawingml/2006/main" prst="roundRect">
            <a:avLst>
              <a:gd name="adj" fmla="val 6780"/>
            </a:avLst>
          </a:prstGeom>
          <a:solidFill xmlns:a="http://schemas.openxmlformats.org/drawingml/2006/main">
            <a:srgbClr val="F5F7FB"/>
          </a:solidFill>
          <a:ln xmlns:a="http://schemas.openxmlformats.org/drawingml/2006/main" w="9525">
            <a:solidFill>
              <a:srgbClr val="DCE2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f6d2381254094e52"/>
          <a:srcRect xmlns:a="http://schemas.openxmlformats.org/drawingml/2006/main" l="17828" t="0" r="17828" b="0"/>
          <a:stretch xmlns:a="http://schemas.openxmlformats.org/drawingml/2006/main">
            <a:fillRect l="0" t="0" r="0" b="0"/>
          </a:stretch>
        </p:blipFill>
        <p:spPr>
          <a:xfrm xmlns:a="http://schemas.openxmlformats.org/drawingml/2006/main">
            <a:off x="8286750" y="2209800"/>
            <a:ext cx="3028950" cy="2647950"/>
          </a:xfrm>
          <a:prstGeom xmlns:a="http://schemas.openxmlformats.org/drawingml/2006/main" prst="roundRect">
            <a:avLst>
              <a:gd name="adj" fmla="val 5755"/>
            </a:avLst>
          </a:prstGeom>
        </p:spPr>
      </p:pic>
      <p:sp>
        <p:nvSpPr>
          <p:cNvPr id="15" name="">
            <a:extLst xmlns:a="http://schemas.openxmlformats.org/drawingml/2006/main">
              <a:ext uri="{FF2B5EF4-FFF2-40B4-BE49-F238E27FC236}">
                <a16:creationId xmlns:a16="http://schemas.microsoft.com/office/drawing/2014/main" id="{0145AA48-D209-4169-928E-1FB99FDB71DF}"/>
              </a:ext>
            </a:extLst>
          </p:cNvPr>
          <p:cNvSpPr>
            <a:spLocks xmlns:a="http://schemas.openxmlformats.org/drawingml/2006/main" noGrp="1"/>
          </p:cNvSpPr>
          <p:nvPr/>
        </p:nvSpPr>
        <p:spPr>
          <a:xfrm xmlns:a="http://schemas.openxmlformats.org/drawingml/2006/main">
            <a:off x="8324850" y="5029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5267F8"/>
                </a:solidFill>
              </a:defRPr>
            </a:pPr>
            <a:r>
              <a:rPr sz="1200" b="1">
                <a:solidFill>
                  <a:srgbClr val="5267F8"/>
                </a:solidFill>
              </a:rPr>
              <a:t>3 · USE</a:t>
            </a:r>
          </a:p>
        </p:txBody>
      </p:sp>
      <p:sp>
        <p:nvSpPr>
          <p:cNvPr id="16" name="">
            <a:extLst xmlns:a="http://schemas.openxmlformats.org/drawingml/2006/main">
              <a:ext uri="{FF2B5EF4-FFF2-40B4-BE49-F238E27FC236}">
                <a16:creationId xmlns:a16="http://schemas.microsoft.com/office/drawing/2014/main" id="{2F68C25C-7CD9-4935-BA92-B59254CD7C19}"/>
              </a:ext>
            </a:extLst>
          </p:cNvPr>
          <p:cNvSpPr>
            <a:spLocks xmlns:a="http://schemas.openxmlformats.org/drawingml/2006/main" noGrp="1"/>
          </p:cNvSpPr>
          <p:nvPr/>
        </p:nvSpPr>
        <p:spPr>
          <a:xfrm xmlns:a="http://schemas.openxmlformats.org/drawingml/2006/main">
            <a:off x="8324850" y="529590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a:solidFill>
                  <a:srgbClr val="18223B"/>
                </a:solidFill>
              </a:defRPr>
            </a:pPr>
            <a:r>
              <a:rPr sz="1350" b="1">
                <a:solidFill>
                  <a:srgbClr val="18223B"/>
                </a:solidFill>
              </a:rPr>
              <a:t>$5 appears in the wallet as real cashback</a:t>
            </a:r>
          </a:p>
        </p:txBody>
      </p:sp>
      <p:sp>
        <p:nvSpPr>
          <p:cNvPr id="17" name="">
            <a:extLst xmlns:a="http://schemas.openxmlformats.org/drawingml/2006/main">
              <a:ext uri="{FF2B5EF4-FFF2-40B4-BE49-F238E27FC236}">
                <a16:creationId xmlns:a16="http://schemas.microsoft.com/office/drawing/2014/main" id="{FE06525D-350E-4856-BFA8-261DA567909C}"/>
              </a:ext>
            </a:extLst>
          </p:cNvPr>
          <p:cNvSpPr>
            <a:spLocks xmlns:a="http://schemas.openxmlformats.org/drawingml/2006/main" noGrp="1"/>
          </p:cNvSpPr>
          <p:nvPr/>
        </p:nvSpPr>
        <p:spPr>
          <a:xfrm xmlns:a="http://schemas.openxmlformats.org/drawingml/2006/main">
            <a:off x="4914900" y="5924550"/>
            <a:ext cx="2362200" cy="304800"/>
          </a:xfrm>
          <a:prstGeom xmlns:a="http://schemas.openxmlformats.org/drawingml/2006/main" prst="roundRect">
            <a:avLst>
              <a:gd name="adj" fmla="val 37500"/>
            </a:avLst>
          </a:prstGeom>
          <a:solidFill xmlns:a="http://schemas.openxmlformats.org/drawingml/2006/main">
            <a:srgbClr val="E8EB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B818E43-0188-46FF-A8AA-E905E7FE0F38}"/>
              </a:ext>
            </a:extLst>
          </p:cNvPr>
          <p:cNvSpPr>
            <a:spLocks xmlns:a="http://schemas.openxmlformats.org/drawingml/2006/main" noGrp="1"/>
          </p:cNvSpPr>
          <p:nvPr/>
        </p:nvSpPr>
        <p:spPr>
          <a:xfrm xmlns:a="http://schemas.openxmlformats.org/drawingml/2006/main">
            <a:off x="4914900" y="5972175"/>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5267F8"/>
                </a:solidFill>
              </a:defRPr>
            </a:pPr>
            <a:r>
              <a:rPr sz="1050" b="1">
                <a:solidFill>
                  <a:srgbClr val="5267F8"/>
                </a:solidFill>
              </a:rPr>
              <a:t>LIVE DEMO ROUTE</a:t>
            </a:r>
          </a:p>
        </p:txBody>
      </p:sp>
      <p:sp>
        <p:nvSpPr>
          <p:cNvPr id="19" name="">
            <a:extLst xmlns:a="http://schemas.openxmlformats.org/drawingml/2006/main">
              <a:ext uri="{FF2B5EF4-FFF2-40B4-BE49-F238E27FC236}">
                <a16:creationId xmlns:a16="http://schemas.microsoft.com/office/drawing/2014/main" id="{41B4BF34-089C-4F69-8D1D-59D26989F32E}"/>
              </a:ext>
            </a:extLst>
          </p:cNvPr>
          <p:cNvSpPr>
            <a:spLocks xmlns:a="http://schemas.openxmlformats.org/drawingml/2006/main" noGrp="1"/>
          </p:cNvSpPr>
          <p:nvPr/>
        </p:nvSpPr>
        <p:spPr>
          <a:xfrm xmlns:a="http://schemas.openxmlformats.org/drawingml/2006/main">
            <a:off x="3790950" y="6267450"/>
            <a:ext cx="4629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647089"/>
                </a:solidFill>
              </a:defRPr>
            </a:pPr>
            <a:r>
              <a:rPr sz="1275" b="1">
                <a:solidFill>
                  <a:srgbClr val="647089"/>
                </a:solidFill>
              </a:rPr>
              <a:t>Store → $5 Cashback → Confirm → Done → Home</a:t>
            </a:r>
          </a:p>
        </p:txBody>
      </p:sp>
      <p:sp>
        <p:nvSpPr>
          <p:cNvPr id="20" name="">
            <a:extLst xmlns:a="http://schemas.openxmlformats.org/drawingml/2006/main">
              <a:ext uri="{FF2B5EF4-FFF2-40B4-BE49-F238E27FC236}">
                <a16:creationId xmlns:a16="http://schemas.microsoft.com/office/drawing/2014/main" id="{6BDF9E6D-40E0-4951-AD4E-661A1D64DE48}"/>
              </a:ext>
            </a:extLst>
          </p:cNvPr>
          <p:cNvSpPr>
            <a:spLocks xmlns:a="http://schemas.openxmlformats.org/drawingml/2006/main" noGrp="1"/>
          </p:cNvSpPr>
          <p:nvPr/>
        </p:nvSpPr>
        <p:spPr>
          <a:xfrm xmlns:a="http://schemas.openxmlformats.org/drawingml/2006/main">
            <a:off x="609600" y="6515100"/>
            <a:ext cx="10972800" cy="19050"/>
          </a:xfrm>
          <a:prstGeom xmlns:a="http://schemas.openxmlformats.org/drawingml/2006/main" prst="rect">
            <a:avLst/>
          </a:prstGeom>
          <a:solidFill xmlns:a="http://schemas.openxmlformats.org/drawingml/2006/main">
            <a:srgbClr val="DCE2E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B4E0F48-6A62-4070-80C2-8AAFDFDD0762}"/>
              </a:ext>
            </a:extLst>
          </p:cNvPr>
          <p:cNvSpPr>
            <a:spLocks xmlns:a="http://schemas.openxmlformats.org/drawingml/2006/main" noGrp="1"/>
          </p:cNvSpPr>
          <p:nvPr/>
        </p:nvSpPr>
        <p:spPr>
          <a:xfrm xmlns:a="http://schemas.openxmlformats.org/drawingml/2006/main">
            <a:off x="609600" y="6515100"/>
            <a:ext cx="5486400" cy="19050"/>
          </a:xfrm>
          <a:prstGeom xmlns:a="http://schemas.openxmlformats.org/drawingml/2006/main" prst="rect">
            <a:avLst/>
          </a:prstGeom>
          <a:solidFill xmlns:a="http://schemas.openxmlformats.org/drawingml/2006/main">
            <a:srgbClr val="5267F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ABDC422-A44B-451A-AC53-EC7EC69C0D75}"/>
              </a:ext>
            </a:extLst>
          </p:cNvPr>
          <p:cNvSpPr>
            <a:spLocks xmlns:a="http://schemas.openxmlformats.org/drawingml/2006/main" noGrp="1"/>
          </p:cNvSpPr>
          <p:nvPr/>
        </p:nvSpPr>
        <p:spPr>
          <a:xfrm xmlns:a="http://schemas.openxmlformats.org/drawingml/2006/main">
            <a:off x="609600" y="6610350"/>
            <a:ext cx="2286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8A94A8"/>
                </a:solidFill>
              </a:defRPr>
            </a:pPr>
            <a:r>
              <a:rPr sz="750" b="1">
                <a:solidFill>
                  <a:srgbClr val="8A94A8"/>
                </a:solidFill>
              </a:rPr>
              <a:t>XP REWARDS STORE</a:t>
            </a:r>
          </a:p>
        </p:txBody>
      </p:sp>
      <p:sp>
        <p:nvSpPr>
          <p:cNvPr id="23" name="">
            <a:extLst xmlns:a="http://schemas.openxmlformats.org/drawingml/2006/main">
              <a:ext uri="{FF2B5EF4-FFF2-40B4-BE49-F238E27FC236}">
                <a16:creationId xmlns:a16="http://schemas.microsoft.com/office/drawing/2014/main" id="{6671942F-6F5E-4A3A-835B-4F1844E38D10}"/>
              </a:ext>
            </a:extLst>
          </p:cNvPr>
          <p:cNvSpPr>
            <a:spLocks xmlns:a="http://schemas.openxmlformats.org/drawingml/2006/main" noGrp="1"/>
          </p:cNvSpPr>
          <p:nvPr/>
        </p:nvSpPr>
        <p:spPr>
          <a:xfrm xmlns:a="http://schemas.openxmlformats.org/drawingml/2006/main">
            <a:off x="10810875" y="6610350"/>
            <a:ext cx="7715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8A94A8"/>
                </a:solidFill>
              </a:defRPr>
            </a:pPr>
            <a:r>
              <a:rPr sz="750" b="1">
                <a:solidFill>
                  <a:srgbClr val="8A94A8"/>
                </a:solidFill>
              </a:rPr>
              <a:t>HADI</a:t>
            </a:r>
          </a:p>
        </p:txBody>
      </p:sp>
    </p:spTree>
    <p:extLst>
      <p:ext uri="{BB962C8B-B14F-4D97-AF65-F5344CB8AC3E}">
        <p14:creationId xmlns:p14="http://schemas.microsoft.com/office/powerpoint/2010/main" val="1849248676"/>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1021455-0425-4B40-9BFB-CCEB8B173317}"/>
              </a:ext>
            </a:extLst>
          </p:cNvPr>
          <p:cNvSpPr>
            <a:spLocks xmlns:a="http://schemas.openxmlformats.org/drawingml/2006/main" noGrp="1"/>
          </p:cNvSpPr>
          <p:nvPr/>
        </p:nvSpPr>
        <p:spPr>
          <a:xfrm xmlns:a="http://schemas.openxmlformats.org/drawingml/2006/main">
            <a:off x="609600" y="3238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FFD44D"/>
                </a:solidFill>
              </a:defRPr>
            </a:pPr>
            <a:r>
              <a:rPr sz="1050" b="1">
                <a:solidFill>
                  <a:srgbClr val="FFD44D"/>
                </a:solidFill>
              </a:rPr>
              <a:t>EVERYDAY EXPERIENCE</a:t>
            </a:r>
          </a:p>
        </p:txBody>
      </p:sp>
      <p:sp>
        <p:nvSpPr>
          <p:cNvPr id="2" name="">
            <a:extLst xmlns:a="http://schemas.openxmlformats.org/drawingml/2006/main">
              <a:ext uri="{FF2B5EF4-FFF2-40B4-BE49-F238E27FC236}">
                <a16:creationId xmlns:a16="http://schemas.microsoft.com/office/drawing/2014/main" id="{3C36BD07-AAFA-4377-BB04-27E972797311}"/>
              </a:ext>
            </a:extLst>
          </p:cNvPr>
          <p:cNvSpPr>
            <a:spLocks xmlns:a="http://schemas.openxmlformats.org/drawingml/2006/main" noGrp="1"/>
          </p:cNvSpPr>
          <p:nvPr/>
        </p:nvSpPr>
        <p:spPr>
          <a:xfrm xmlns:a="http://schemas.openxmlformats.org/drawingml/2006/main">
            <a:off x="609600" y="66675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00" b="1">
                <a:solidFill>
                  <a:srgbClr val="18223B"/>
                </a:solidFill>
              </a:defRPr>
            </a:pPr>
            <a:r>
              <a:rPr sz="3600" b="1">
                <a:solidFill>
                  <a:srgbClr val="18223B"/>
                </a:solidFill>
              </a:rPr>
              <a:t>Useful because it fits ordinary spending.</a:t>
            </a:r>
          </a:p>
        </p:txBody>
      </p:sp>
      <p:sp>
        <p:nvSpPr>
          <p:cNvPr id="3" name="">
            <a:extLst xmlns:a="http://schemas.openxmlformats.org/drawingml/2006/main">
              <a:ext uri="{FF2B5EF4-FFF2-40B4-BE49-F238E27FC236}">
                <a16:creationId xmlns:a16="http://schemas.microsoft.com/office/drawing/2014/main" id="{0A97D5C8-787F-47FB-A78F-69A17D4F0436}"/>
              </a:ext>
            </a:extLst>
          </p:cNvPr>
          <p:cNvSpPr>
            <a:spLocks xmlns:a="http://schemas.openxmlformats.org/drawingml/2006/main" noGrp="1"/>
          </p:cNvSpPr>
          <p:nvPr/>
        </p:nvSpPr>
        <p:spPr>
          <a:xfrm xmlns:a="http://schemas.openxmlformats.org/drawingml/2006/main">
            <a:off x="11239500" y="3619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647089"/>
                </a:solidFill>
              </a:defRPr>
            </a:pPr>
            <a:r>
              <a:rPr sz="1050" b="1">
                <a:solidFill>
                  <a:srgbClr val="647089"/>
                </a:solidFill>
              </a:rPr>
              <a:t>06</a:t>
            </a:r>
          </a:p>
        </p:txBody>
      </p:sp>
      <p:sp>
        <p:nvSpPr>
          <p:cNvPr id="4" name="">
            <a:extLst xmlns:a="http://schemas.openxmlformats.org/drawingml/2006/main">
              <a:ext uri="{FF2B5EF4-FFF2-40B4-BE49-F238E27FC236}">
                <a16:creationId xmlns:a16="http://schemas.microsoft.com/office/drawing/2014/main" id="{112871FC-3711-4DA9-98BE-E14E490FDC79}"/>
              </a:ext>
            </a:extLst>
          </p:cNvPr>
          <p:cNvSpPr>
            <a:spLocks xmlns:a="http://schemas.openxmlformats.org/drawingml/2006/main" noGrp="1"/>
          </p:cNvSpPr>
          <p:nvPr/>
        </p:nvSpPr>
        <p:spPr>
          <a:xfrm xmlns:a="http://schemas.openxmlformats.org/drawingml/2006/main">
            <a:off x="609600" y="135255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168"/>
          </a:bodyPr>
          <a:lstStyle xmlns:a="http://schemas.openxmlformats.org/drawingml/2006/main"/>
          <a:p xmlns:a="http://schemas.openxmlformats.org/drawingml/2006/main">
            <a:pPr algn="l">
              <a:lnSpc>
                <a:spcPct val="105000"/>
              </a:lnSpc>
              <a:buNone/>
              <a:defRPr sz="1725" b="0">
                <a:solidFill>
                  <a:srgbClr val="647089"/>
                </a:solidFill>
              </a:defRPr>
            </a:pPr>
            <a:r>
              <a:rPr sz="1725" b="0">
                <a:solidFill>
                  <a:srgbClr val="647089"/>
                </a:solidFill>
              </a:rPr>
              <a:t>The user does not manage a separate points system. Rewards are calculated from payments they already make, then surfaced at the moment they can use them.</a:t>
            </a:r>
          </a:p>
        </p:txBody>
      </p:sp>
      <p:sp>
        <p:nvSpPr>
          <p:cNvPr id="5" name="">
            <a:extLst xmlns:a="http://schemas.openxmlformats.org/drawingml/2006/main">
              <a:ext uri="{FF2B5EF4-FFF2-40B4-BE49-F238E27FC236}">
                <a16:creationId xmlns:a16="http://schemas.microsoft.com/office/drawing/2014/main" id="{90241285-6E10-4D1E-9A63-A2E3D41F0793}"/>
              </a:ext>
            </a:extLst>
          </p:cNvPr>
          <p:cNvSpPr>
            <a:spLocks xmlns:a="http://schemas.openxmlformats.org/drawingml/2006/main" noGrp="1"/>
          </p:cNvSpPr>
          <p:nvPr/>
        </p:nvSpPr>
        <p:spPr>
          <a:xfrm xmlns:a="http://schemas.openxmlformats.org/drawingml/2006/main">
            <a:off x="609600" y="2095500"/>
            <a:ext cx="3524250" cy="3886200"/>
          </a:xfrm>
          <a:prstGeom xmlns:a="http://schemas.openxmlformats.org/drawingml/2006/main" prst="roundRect">
            <a:avLst>
              <a:gd name="adj" fmla="val 6486"/>
            </a:avLst>
          </a:prstGeom>
          <a:solidFill xmlns:a="http://schemas.openxmlformats.org/drawingml/2006/main">
            <a:srgbClr val="0B1836"/>
          </a:solidFill>
          <a:ln xmlns:a="http://schemas.openxmlformats.org/drawingml/2006/main" w="0">
            <a:no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993fe3a20dd4ee7"/>
          <a:srcRect xmlns:a="http://schemas.openxmlformats.org/drawingml/2006/main" l="24811" t="0" r="24811" b="0"/>
          <a:stretch xmlns:a="http://schemas.openxmlformats.org/drawingml/2006/main">
            <a:fillRect l="0" t="0" r="0" b="0"/>
          </a:stretch>
        </p:blipFill>
        <p:spPr>
          <a:xfrm xmlns:a="http://schemas.openxmlformats.org/drawingml/2006/main">
            <a:off x="819150" y="2305050"/>
            <a:ext cx="3105150" cy="3467100"/>
          </a:xfrm>
          <a:prstGeom xmlns:a="http://schemas.openxmlformats.org/drawingml/2006/main" prst="roundRect">
            <a:avLst>
              <a:gd name="adj" fmla="val 4908"/>
            </a:avLst>
          </a:prstGeom>
        </p:spPr>
      </p:pic>
      <p:sp>
        <p:nvSpPr>
          <p:cNvPr id="7" name="">
            <a:extLst xmlns:a="http://schemas.openxmlformats.org/drawingml/2006/main">
              <a:ext uri="{FF2B5EF4-FFF2-40B4-BE49-F238E27FC236}">
                <a16:creationId xmlns:a16="http://schemas.microsoft.com/office/drawing/2014/main" id="{3A27D5DF-7B3A-4FDB-9F5C-9530A2852137}"/>
              </a:ext>
            </a:extLst>
          </p:cNvPr>
          <p:cNvSpPr>
            <a:spLocks xmlns:a="http://schemas.openxmlformats.org/drawingml/2006/main" noGrp="1"/>
          </p:cNvSpPr>
          <p:nvPr/>
        </p:nvSpPr>
        <p:spPr>
          <a:xfrm xmlns:a="http://schemas.openxmlformats.org/drawingml/2006/main">
            <a:off x="4648200" y="2181225"/>
            <a:ext cx="400050" cy="400050"/>
          </a:xfrm>
          <a:prstGeom xmlns:a="http://schemas.openxmlformats.org/drawingml/2006/main" prst="ellipse">
            <a:avLst/>
          </a:prstGeom>
          <a:solidFill xmlns:a="http://schemas.openxmlformats.org/drawingml/2006/main">
            <a:srgbClr val="2D8C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4570510-5EBB-4E24-95B1-EF8983627D06}"/>
              </a:ext>
            </a:extLst>
          </p:cNvPr>
          <p:cNvSpPr>
            <a:spLocks xmlns:a="http://schemas.openxmlformats.org/drawingml/2006/main" noGrp="1"/>
          </p:cNvSpPr>
          <p:nvPr/>
        </p:nvSpPr>
        <p:spPr>
          <a:xfrm xmlns:a="http://schemas.openxmlformats.org/drawingml/2006/main">
            <a:off x="4648200" y="22479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FFFFFF"/>
                </a:solidFill>
              </a:defRPr>
            </a:pPr>
            <a:r>
              <a:rPr sz="1050" b="1">
                <a:solidFill>
                  <a:srgbClr val="FFFFFF"/>
                </a:solidFill>
              </a:rPr>
              <a:t>01</a:t>
            </a:r>
          </a:p>
        </p:txBody>
      </p:sp>
      <p:sp>
        <p:nvSpPr>
          <p:cNvPr id="9" name="">
            <a:extLst xmlns:a="http://schemas.openxmlformats.org/drawingml/2006/main">
              <a:ext uri="{FF2B5EF4-FFF2-40B4-BE49-F238E27FC236}">
                <a16:creationId xmlns:a16="http://schemas.microsoft.com/office/drawing/2014/main" id="{57D2DA49-6FB5-40C3-820A-5D72AAD8E612}"/>
              </a:ext>
            </a:extLst>
          </p:cNvPr>
          <p:cNvSpPr>
            <a:spLocks xmlns:a="http://schemas.openxmlformats.org/drawingml/2006/main" noGrp="1"/>
          </p:cNvSpPr>
          <p:nvPr/>
        </p:nvSpPr>
        <p:spPr>
          <a:xfrm xmlns:a="http://schemas.openxmlformats.org/drawingml/2006/main">
            <a:off x="5219700" y="21336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2D8C70"/>
                </a:solidFill>
              </a:defRPr>
            </a:pPr>
            <a:r>
              <a:rPr sz="1050" b="1">
                <a:solidFill>
                  <a:srgbClr val="2D8C70"/>
                </a:solidFill>
              </a:rPr>
              <a:t>LUNCH</a:t>
            </a:r>
          </a:p>
        </p:txBody>
      </p:sp>
      <p:sp>
        <p:nvSpPr>
          <p:cNvPr id="10" name="">
            <a:extLst xmlns:a="http://schemas.openxmlformats.org/drawingml/2006/main">
              <a:ext uri="{FF2B5EF4-FFF2-40B4-BE49-F238E27FC236}">
                <a16:creationId xmlns:a16="http://schemas.microsoft.com/office/drawing/2014/main" id="{B00B7A88-F365-4FFF-9542-DA25CD31C6E0}"/>
              </a:ext>
            </a:extLst>
          </p:cNvPr>
          <p:cNvSpPr>
            <a:spLocks xmlns:a="http://schemas.openxmlformats.org/drawingml/2006/main" noGrp="1"/>
          </p:cNvSpPr>
          <p:nvPr/>
        </p:nvSpPr>
        <p:spPr>
          <a:xfrm xmlns:a="http://schemas.openxmlformats.org/drawingml/2006/main">
            <a:off x="5219700" y="238125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062"/>
          </a:bodyPr>
          <a:lstStyle xmlns:a="http://schemas.openxmlformats.org/drawingml/2006/main"/>
          <a:p xmlns:a="http://schemas.openxmlformats.org/drawingml/2006/main">
            <a:pPr algn="l">
              <a:lnSpc>
                <a:spcPct val="105000"/>
              </a:lnSpc>
              <a:buNone/>
              <a:defRPr sz="2025" b="1">
                <a:solidFill>
                  <a:srgbClr val="18223B"/>
                </a:solidFill>
              </a:defRPr>
            </a:pPr>
            <a:r>
              <a:rPr sz="2025" b="1">
                <a:solidFill>
                  <a:srgbClr val="18223B"/>
                </a:solidFill>
              </a:rPr>
              <a:t>Hawker &amp; campus meals</a:t>
            </a:r>
          </a:p>
        </p:txBody>
      </p:sp>
      <p:sp>
        <p:nvSpPr>
          <p:cNvPr id="11" name="">
            <a:extLst xmlns:a="http://schemas.openxmlformats.org/drawingml/2006/main">
              <a:ext uri="{FF2B5EF4-FFF2-40B4-BE49-F238E27FC236}">
                <a16:creationId xmlns:a16="http://schemas.microsoft.com/office/drawing/2014/main" id="{F6320381-486F-49AE-955E-B8A5770D7F4D}"/>
              </a:ext>
            </a:extLst>
          </p:cNvPr>
          <p:cNvSpPr>
            <a:spLocks xmlns:a="http://schemas.openxmlformats.org/drawingml/2006/main" noGrp="1"/>
          </p:cNvSpPr>
          <p:nvPr/>
        </p:nvSpPr>
        <p:spPr>
          <a:xfrm xmlns:a="http://schemas.openxmlformats.org/drawingml/2006/main">
            <a:off x="5219700" y="2762250"/>
            <a:ext cx="590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425" b="0">
                <a:solidFill>
                  <a:srgbClr val="647089"/>
                </a:solidFill>
              </a:defRPr>
            </a:pPr>
            <a:r>
              <a:rPr sz="1425" b="0">
                <a:solidFill>
                  <a:srgbClr val="647089"/>
                </a:solidFill>
              </a:rPr>
              <a:t>Automatic 2x heartland XP makes low-value, frequent spending feel worthwhile.</a:t>
            </a:r>
          </a:p>
        </p:txBody>
      </p:sp>
      <p:sp>
        <p:nvSpPr>
          <p:cNvPr id="12" name="">
            <a:extLst xmlns:a="http://schemas.openxmlformats.org/drawingml/2006/main">
              <a:ext uri="{FF2B5EF4-FFF2-40B4-BE49-F238E27FC236}">
                <a16:creationId xmlns:a16="http://schemas.microsoft.com/office/drawing/2014/main" id="{7196ED85-CEEF-4D1B-AB38-A7DB8833614D}"/>
              </a:ext>
            </a:extLst>
          </p:cNvPr>
          <p:cNvSpPr>
            <a:spLocks xmlns:a="http://schemas.openxmlformats.org/drawingml/2006/main" noGrp="1"/>
          </p:cNvSpPr>
          <p:nvPr/>
        </p:nvSpPr>
        <p:spPr>
          <a:xfrm xmlns:a="http://schemas.openxmlformats.org/drawingml/2006/main">
            <a:off x="5219700" y="3305175"/>
            <a:ext cx="6057900" cy="9525"/>
          </a:xfrm>
          <a:prstGeom xmlns:a="http://schemas.openxmlformats.org/drawingml/2006/main" prst="rect">
            <a:avLst/>
          </a:prstGeom>
          <a:solidFill xmlns:a="http://schemas.openxmlformats.org/drawingml/2006/main">
            <a:srgbClr val="DCE2E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9C6E561-EB6E-4E98-901A-E0E3D84E14D8}"/>
              </a:ext>
            </a:extLst>
          </p:cNvPr>
          <p:cNvSpPr>
            <a:spLocks xmlns:a="http://schemas.openxmlformats.org/drawingml/2006/main" noGrp="1"/>
          </p:cNvSpPr>
          <p:nvPr/>
        </p:nvSpPr>
        <p:spPr>
          <a:xfrm xmlns:a="http://schemas.openxmlformats.org/drawingml/2006/main">
            <a:off x="4648200" y="3438525"/>
            <a:ext cx="400050" cy="400050"/>
          </a:xfrm>
          <a:prstGeom xmlns:a="http://schemas.openxmlformats.org/drawingml/2006/main" prst="ellipse">
            <a:avLst/>
          </a:prstGeom>
          <a:solidFill xmlns:a="http://schemas.openxmlformats.org/drawingml/2006/main">
            <a:srgbClr val="5267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8DFB4A8-E262-428B-86CB-BB5EEAF3A0D7}"/>
              </a:ext>
            </a:extLst>
          </p:cNvPr>
          <p:cNvSpPr>
            <a:spLocks xmlns:a="http://schemas.openxmlformats.org/drawingml/2006/main" noGrp="1"/>
          </p:cNvSpPr>
          <p:nvPr/>
        </p:nvSpPr>
        <p:spPr>
          <a:xfrm xmlns:a="http://schemas.openxmlformats.org/drawingml/2006/main">
            <a:off x="4648200" y="35052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FFFFFF"/>
                </a:solidFill>
              </a:defRPr>
            </a:pPr>
            <a:r>
              <a:rPr sz="1050" b="1">
                <a:solidFill>
                  <a:srgbClr val="FFFFFF"/>
                </a:solidFill>
              </a:rPr>
              <a:t>02</a:t>
            </a:r>
          </a:p>
        </p:txBody>
      </p:sp>
      <p:sp>
        <p:nvSpPr>
          <p:cNvPr id="15" name="">
            <a:extLst xmlns:a="http://schemas.openxmlformats.org/drawingml/2006/main">
              <a:ext uri="{FF2B5EF4-FFF2-40B4-BE49-F238E27FC236}">
                <a16:creationId xmlns:a16="http://schemas.microsoft.com/office/drawing/2014/main" id="{B88C84FF-D2E6-4963-9998-FB8CE85B47A2}"/>
              </a:ext>
            </a:extLst>
          </p:cNvPr>
          <p:cNvSpPr>
            <a:spLocks xmlns:a="http://schemas.openxmlformats.org/drawingml/2006/main" noGrp="1"/>
          </p:cNvSpPr>
          <p:nvPr/>
        </p:nvSpPr>
        <p:spPr>
          <a:xfrm xmlns:a="http://schemas.openxmlformats.org/drawingml/2006/main">
            <a:off x="5219700" y="33909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5267F8"/>
                </a:solidFill>
              </a:defRPr>
            </a:pPr>
            <a:r>
              <a:rPr sz="1050" b="1">
                <a:solidFill>
                  <a:srgbClr val="5267F8"/>
                </a:solidFill>
              </a:rPr>
              <a:t>CASH FLOW</a:t>
            </a:r>
          </a:p>
        </p:txBody>
      </p:sp>
      <p:sp>
        <p:nvSpPr>
          <p:cNvPr id="16" name="">
            <a:extLst xmlns:a="http://schemas.openxmlformats.org/drawingml/2006/main">
              <a:ext uri="{FF2B5EF4-FFF2-40B4-BE49-F238E27FC236}">
                <a16:creationId xmlns:a16="http://schemas.microsoft.com/office/drawing/2014/main" id="{2C555602-92CB-4800-A153-51D3FC436FC2}"/>
              </a:ext>
            </a:extLst>
          </p:cNvPr>
          <p:cNvSpPr>
            <a:spLocks xmlns:a="http://schemas.openxmlformats.org/drawingml/2006/main" noGrp="1"/>
          </p:cNvSpPr>
          <p:nvPr/>
        </p:nvSpPr>
        <p:spPr>
          <a:xfrm xmlns:a="http://schemas.openxmlformats.org/drawingml/2006/main">
            <a:off x="5219700" y="363855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062"/>
          </a:bodyPr>
          <a:lstStyle xmlns:a="http://schemas.openxmlformats.org/drawingml/2006/main"/>
          <a:p xmlns:a="http://schemas.openxmlformats.org/drawingml/2006/main">
            <a:pPr algn="l">
              <a:lnSpc>
                <a:spcPct val="105000"/>
              </a:lnSpc>
              <a:buNone/>
              <a:defRPr sz="2025" b="1">
                <a:solidFill>
                  <a:srgbClr val="18223B"/>
                </a:solidFill>
              </a:defRPr>
            </a:pPr>
            <a:r>
              <a:rPr sz="2025" b="1">
                <a:solidFill>
                  <a:srgbClr val="18223B"/>
                </a:solidFill>
              </a:rPr>
              <a:t>Instant wallet cashback</a:t>
            </a:r>
          </a:p>
        </p:txBody>
      </p:sp>
      <p:sp>
        <p:nvSpPr>
          <p:cNvPr id="17" name="">
            <a:extLst xmlns:a="http://schemas.openxmlformats.org/drawingml/2006/main">
              <a:ext uri="{FF2B5EF4-FFF2-40B4-BE49-F238E27FC236}">
                <a16:creationId xmlns:a16="http://schemas.microsoft.com/office/drawing/2014/main" id="{EE195720-1A56-4038-B9E3-930EC0A33A35}"/>
              </a:ext>
            </a:extLst>
          </p:cNvPr>
          <p:cNvSpPr>
            <a:spLocks xmlns:a="http://schemas.openxmlformats.org/drawingml/2006/main" noGrp="1"/>
          </p:cNvSpPr>
          <p:nvPr/>
        </p:nvSpPr>
        <p:spPr>
          <a:xfrm xmlns:a="http://schemas.openxmlformats.org/drawingml/2006/main">
            <a:off x="5219700" y="4019550"/>
            <a:ext cx="590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425" b="0">
                <a:solidFill>
                  <a:srgbClr val="647089"/>
                </a:solidFill>
              </a:defRPr>
            </a:pPr>
            <a:r>
              <a:rPr sz="1425" b="0">
                <a:solidFill>
                  <a:srgbClr val="647089"/>
                </a:solidFill>
              </a:rPr>
              <a:t>A reward becomes spendable money immediately — no coupon hunting or waiting.</a:t>
            </a:r>
          </a:p>
        </p:txBody>
      </p:sp>
      <p:sp>
        <p:nvSpPr>
          <p:cNvPr id="18" name="">
            <a:extLst xmlns:a="http://schemas.openxmlformats.org/drawingml/2006/main">
              <a:ext uri="{FF2B5EF4-FFF2-40B4-BE49-F238E27FC236}">
                <a16:creationId xmlns:a16="http://schemas.microsoft.com/office/drawing/2014/main" id="{410A9234-6A29-454D-905B-BA0DBA1F89B3}"/>
              </a:ext>
            </a:extLst>
          </p:cNvPr>
          <p:cNvSpPr>
            <a:spLocks xmlns:a="http://schemas.openxmlformats.org/drawingml/2006/main" noGrp="1"/>
          </p:cNvSpPr>
          <p:nvPr/>
        </p:nvSpPr>
        <p:spPr>
          <a:xfrm xmlns:a="http://schemas.openxmlformats.org/drawingml/2006/main">
            <a:off x="5219700" y="4562475"/>
            <a:ext cx="6057900" cy="9525"/>
          </a:xfrm>
          <a:prstGeom xmlns:a="http://schemas.openxmlformats.org/drawingml/2006/main" prst="rect">
            <a:avLst/>
          </a:prstGeom>
          <a:solidFill xmlns:a="http://schemas.openxmlformats.org/drawingml/2006/main">
            <a:srgbClr val="DCE2E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261B260-2FCD-4ED2-A5C8-B503635685D4}"/>
              </a:ext>
            </a:extLst>
          </p:cNvPr>
          <p:cNvSpPr>
            <a:spLocks xmlns:a="http://schemas.openxmlformats.org/drawingml/2006/main" noGrp="1"/>
          </p:cNvSpPr>
          <p:nvPr/>
        </p:nvSpPr>
        <p:spPr>
          <a:xfrm xmlns:a="http://schemas.openxmlformats.org/drawingml/2006/main">
            <a:off x="4648200" y="4695825"/>
            <a:ext cx="400050" cy="400050"/>
          </a:xfrm>
          <a:prstGeom xmlns:a="http://schemas.openxmlformats.org/drawingml/2006/main" prst="ellipse">
            <a:avLst/>
          </a:prstGeom>
          <a:solidFill xmlns:a="http://schemas.openxmlformats.org/drawingml/2006/main">
            <a:srgbClr val="FF3347"/>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2FA6FD7-7143-449B-9570-AA582BC77277}"/>
              </a:ext>
            </a:extLst>
          </p:cNvPr>
          <p:cNvSpPr>
            <a:spLocks xmlns:a="http://schemas.openxmlformats.org/drawingml/2006/main" noGrp="1"/>
          </p:cNvSpPr>
          <p:nvPr/>
        </p:nvSpPr>
        <p:spPr>
          <a:xfrm xmlns:a="http://schemas.openxmlformats.org/drawingml/2006/main">
            <a:off x="4648200" y="47625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FFFFFF"/>
                </a:solidFill>
              </a:defRPr>
            </a:pPr>
            <a:r>
              <a:rPr sz="1050" b="1">
                <a:solidFill>
                  <a:srgbClr val="FFFFFF"/>
                </a:solidFill>
              </a:rPr>
              <a:t>03</a:t>
            </a:r>
          </a:p>
        </p:txBody>
      </p:sp>
      <p:sp>
        <p:nvSpPr>
          <p:cNvPr id="21" name="">
            <a:extLst xmlns:a="http://schemas.openxmlformats.org/drawingml/2006/main">
              <a:ext uri="{FF2B5EF4-FFF2-40B4-BE49-F238E27FC236}">
                <a16:creationId xmlns:a16="http://schemas.microsoft.com/office/drawing/2014/main" id="{2A9C0B46-854E-4BDC-82FC-424C030E4BCB}"/>
              </a:ext>
            </a:extLst>
          </p:cNvPr>
          <p:cNvSpPr>
            <a:spLocks xmlns:a="http://schemas.openxmlformats.org/drawingml/2006/main" noGrp="1"/>
          </p:cNvSpPr>
          <p:nvPr/>
        </p:nvSpPr>
        <p:spPr>
          <a:xfrm xmlns:a="http://schemas.openxmlformats.org/drawingml/2006/main">
            <a:off x="5219700" y="46482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FF3347"/>
                </a:solidFill>
              </a:defRPr>
            </a:pPr>
            <a:r>
              <a:rPr sz="1050" b="1">
                <a:solidFill>
                  <a:srgbClr val="FF3347"/>
                </a:solidFill>
              </a:rPr>
              <a:t>CONFIDENCE</a:t>
            </a:r>
          </a:p>
        </p:txBody>
      </p:sp>
      <p:sp>
        <p:nvSpPr>
          <p:cNvPr id="22" name="">
            <a:extLst xmlns:a="http://schemas.openxmlformats.org/drawingml/2006/main">
              <a:ext uri="{FF2B5EF4-FFF2-40B4-BE49-F238E27FC236}">
                <a16:creationId xmlns:a16="http://schemas.microsoft.com/office/drawing/2014/main" id="{F2F5D8BF-B5F3-45E0-A3B7-93EE0F38522B}"/>
              </a:ext>
            </a:extLst>
          </p:cNvPr>
          <p:cNvSpPr>
            <a:spLocks xmlns:a="http://schemas.openxmlformats.org/drawingml/2006/main" noGrp="1"/>
          </p:cNvSpPr>
          <p:nvPr/>
        </p:nvSpPr>
        <p:spPr>
          <a:xfrm xmlns:a="http://schemas.openxmlformats.org/drawingml/2006/main">
            <a:off x="5219700" y="489585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062"/>
          </a:bodyPr>
          <a:lstStyle xmlns:a="http://schemas.openxmlformats.org/drawingml/2006/main"/>
          <a:p xmlns:a="http://schemas.openxmlformats.org/drawingml/2006/main">
            <a:pPr algn="l">
              <a:lnSpc>
                <a:spcPct val="105000"/>
              </a:lnSpc>
              <a:buNone/>
              <a:defRPr sz="2025" b="1">
                <a:solidFill>
                  <a:srgbClr val="18223B"/>
                </a:solidFill>
              </a:defRPr>
            </a:pPr>
            <a:r>
              <a:rPr sz="2025" b="1">
                <a:solidFill>
                  <a:srgbClr val="18223B"/>
                </a:solidFill>
              </a:rPr>
              <a:t>Clear states and history</a:t>
            </a:r>
          </a:p>
        </p:txBody>
      </p:sp>
      <p:sp>
        <p:nvSpPr>
          <p:cNvPr id="23" name="">
            <a:extLst xmlns:a="http://schemas.openxmlformats.org/drawingml/2006/main">
              <a:ext uri="{FF2B5EF4-FFF2-40B4-BE49-F238E27FC236}">
                <a16:creationId xmlns:a16="http://schemas.microsoft.com/office/drawing/2014/main" id="{EC6430FD-C186-43B4-B8B3-256CD1C166EF}"/>
              </a:ext>
            </a:extLst>
          </p:cNvPr>
          <p:cNvSpPr>
            <a:spLocks xmlns:a="http://schemas.openxmlformats.org/drawingml/2006/main" noGrp="1"/>
          </p:cNvSpPr>
          <p:nvPr/>
        </p:nvSpPr>
        <p:spPr>
          <a:xfrm xmlns:a="http://schemas.openxmlformats.org/drawingml/2006/main">
            <a:off x="5219700" y="5276850"/>
            <a:ext cx="590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425" b="0">
                <a:solidFill>
                  <a:srgbClr val="647089"/>
                </a:solidFill>
              </a:defRPr>
            </a:pPr>
            <a:r>
              <a:rPr sz="1425" b="0">
                <a:solidFill>
                  <a:srgbClr val="647089"/>
                </a:solidFill>
              </a:rPr>
              <a:t>Users see affordability, expiry, Applied / Active / Used status, and every XP movement.</a:t>
            </a:r>
          </a:p>
        </p:txBody>
      </p:sp>
      <p:sp>
        <p:nvSpPr>
          <p:cNvPr id="24" name="">
            <a:extLst xmlns:a="http://schemas.openxmlformats.org/drawingml/2006/main">
              <a:ext uri="{FF2B5EF4-FFF2-40B4-BE49-F238E27FC236}">
                <a16:creationId xmlns:a16="http://schemas.microsoft.com/office/drawing/2014/main" id="{10F0E50B-4F3B-45FE-81E7-757DCC9E877E}"/>
              </a:ext>
            </a:extLst>
          </p:cNvPr>
          <p:cNvSpPr>
            <a:spLocks xmlns:a="http://schemas.openxmlformats.org/drawingml/2006/main" noGrp="1"/>
          </p:cNvSpPr>
          <p:nvPr/>
        </p:nvSpPr>
        <p:spPr>
          <a:xfrm xmlns:a="http://schemas.openxmlformats.org/drawingml/2006/main">
            <a:off x="4648200" y="5905500"/>
            <a:ext cx="6629400" cy="400050"/>
          </a:xfrm>
          <a:prstGeom xmlns:a="http://schemas.openxmlformats.org/drawingml/2006/main" prst="roundRect">
            <a:avLst>
              <a:gd name="adj" fmla="val 28571"/>
            </a:avLst>
          </a:prstGeom>
          <a:solidFill xmlns:a="http://schemas.openxmlformats.org/drawingml/2006/main">
            <a:srgbClr val="FFF5C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665EBEB-0784-43CC-8D55-78AF0373C577}"/>
              </a:ext>
            </a:extLst>
          </p:cNvPr>
          <p:cNvSpPr>
            <a:spLocks xmlns:a="http://schemas.openxmlformats.org/drawingml/2006/main" noGrp="1"/>
          </p:cNvSpPr>
          <p:nvPr/>
        </p:nvSpPr>
        <p:spPr>
          <a:xfrm xmlns:a="http://schemas.openxmlformats.org/drawingml/2006/main">
            <a:off x="4810125" y="6019800"/>
            <a:ext cx="6305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183"/>
          </a:bodyPr>
          <a:lstStyle xmlns:a="http://schemas.openxmlformats.org/drawingml/2006/main"/>
          <a:p xmlns:a="http://schemas.openxmlformats.org/drawingml/2006/main">
            <a:pPr algn="ctr">
              <a:lnSpc>
                <a:spcPct val="105000"/>
              </a:lnSpc>
              <a:buNone/>
              <a:defRPr sz="1350" b="1">
                <a:solidFill>
                  <a:srgbClr val="6B5200"/>
                </a:solidFill>
              </a:defRPr>
            </a:pPr>
            <a:r>
              <a:rPr sz="1350" b="1">
                <a:solidFill>
                  <a:srgbClr val="6B5200"/>
                </a:solidFill>
              </a:rPr>
              <a:t>Day-to-day value = low effort + visible progress + usable outcomes</a:t>
            </a:r>
          </a:p>
        </p:txBody>
      </p:sp>
      <p:sp>
        <p:nvSpPr>
          <p:cNvPr id="26" name="">
            <a:extLst xmlns:a="http://schemas.openxmlformats.org/drawingml/2006/main">
              <a:ext uri="{FF2B5EF4-FFF2-40B4-BE49-F238E27FC236}">
                <a16:creationId xmlns:a16="http://schemas.microsoft.com/office/drawing/2014/main" id="{2EB7B6E3-F945-425D-B6BC-710E1CAD3504}"/>
              </a:ext>
            </a:extLst>
          </p:cNvPr>
          <p:cNvSpPr>
            <a:spLocks xmlns:a="http://schemas.openxmlformats.org/drawingml/2006/main" noGrp="1"/>
          </p:cNvSpPr>
          <p:nvPr/>
        </p:nvSpPr>
        <p:spPr>
          <a:xfrm xmlns:a="http://schemas.openxmlformats.org/drawingml/2006/main">
            <a:off x="609600" y="6515100"/>
            <a:ext cx="10972800" cy="19050"/>
          </a:xfrm>
          <a:prstGeom xmlns:a="http://schemas.openxmlformats.org/drawingml/2006/main" prst="rect">
            <a:avLst/>
          </a:prstGeom>
          <a:solidFill xmlns:a="http://schemas.openxmlformats.org/drawingml/2006/main">
            <a:srgbClr val="DCE2E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8D978B5-BEAD-4382-B75E-4F0D620EE20B}"/>
              </a:ext>
            </a:extLst>
          </p:cNvPr>
          <p:cNvSpPr>
            <a:spLocks xmlns:a="http://schemas.openxmlformats.org/drawingml/2006/main" noGrp="1"/>
          </p:cNvSpPr>
          <p:nvPr/>
        </p:nvSpPr>
        <p:spPr>
          <a:xfrm xmlns:a="http://schemas.openxmlformats.org/drawingml/2006/main">
            <a:off x="609600" y="6515100"/>
            <a:ext cx="6581775" cy="19050"/>
          </a:xfrm>
          <a:prstGeom xmlns:a="http://schemas.openxmlformats.org/drawingml/2006/main" prst="rect">
            <a:avLst/>
          </a:prstGeom>
          <a:solidFill xmlns:a="http://schemas.openxmlformats.org/drawingml/2006/main">
            <a:srgbClr val="FFD44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229185F-1A83-4818-8588-1092B3F04A67}"/>
              </a:ext>
            </a:extLst>
          </p:cNvPr>
          <p:cNvSpPr>
            <a:spLocks xmlns:a="http://schemas.openxmlformats.org/drawingml/2006/main" noGrp="1"/>
          </p:cNvSpPr>
          <p:nvPr/>
        </p:nvSpPr>
        <p:spPr>
          <a:xfrm xmlns:a="http://schemas.openxmlformats.org/drawingml/2006/main">
            <a:off x="609600" y="6610350"/>
            <a:ext cx="2286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8A94A8"/>
                </a:solidFill>
              </a:defRPr>
            </a:pPr>
            <a:r>
              <a:rPr sz="750" b="1">
                <a:solidFill>
                  <a:srgbClr val="8A94A8"/>
                </a:solidFill>
              </a:rPr>
              <a:t>XP REWARDS STORE</a:t>
            </a:r>
          </a:p>
        </p:txBody>
      </p:sp>
      <p:sp>
        <p:nvSpPr>
          <p:cNvPr id="29" name="">
            <a:extLst xmlns:a="http://schemas.openxmlformats.org/drawingml/2006/main">
              <a:ext uri="{FF2B5EF4-FFF2-40B4-BE49-F238E27FC236}">
                <a16:creationId xmlns:a16="http://schemas.microsoft.com/office/drawing/2014/main" id="{2E75E975-01EB-4FC1-AFDA-23019972CE18}"/>
              </a:ext>
            </a:extLst>
          </p:cNvPr>
          <p:cNvSpPr>
            <a:spLocks xmlns:a="http://schemas.openxmlformats.org/drawingml/2006/main" noGrp="1"/>
          </p:cNvSpPr>
          <p:nvPr/>
        </p:nvSpPr>
        <p:spPr>
          <a:xfrm xmlns:a="http://schemas.openxmlformats.org/drawingml/2006/main">
            <a:off x="10810875" y="6610350"/>
            <a:ext cx="7715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8A94A8"/>
                </a:solidFill>
              </a:defRPr>
            </a:pPr>
            <a:r>
              <a:rPr sz="750" b="1">
                <a:solidFill>
                  <a:srgbClr val="8A94A8"/>
                </a:solidFill>
              </a:rPr>
              <a:t>HADI</a:t>
            </a:r>
          </a:p>
        </p:txBody>
      </p:sp>
    </p:spTree>
    <p:extLst>
      <p:ext uri="{BB962C8B-B14F-4D97-AF65-F5344CB8AC3E}">
        <p14:creationId xmlns:p14="http://schemas.microsoft.com/office/powerpoint/2010/main" val="528766684"/>
      </p:ext>
    </p:extLst>
  </p:cSld>
</p:sld>
</file>

<file path=ppt/slides/slide7.xml><?xml version="1.0" encoding="utf-8"?>
<p:sld xmlns:p="http://schemas.openxmlformats.org/presentationml/2006/main">
  <p:cSld>
    <p:bg>
      <p:bgPr>
        <a:solidFill xmlns:a="http://schemas.openxmlformats.org/drawingml/2006/main">
          <a:srgbClr val="0B183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030AA6D-640D-4F64-B08F-96D676554159}"/>
              </a:ext>
            </a:extLst>
          </p:cNvPr>
          <p:cNvSpPr>
            <a:spLocks xmlns:a="http://schemas.openxmlformats.org/drawingml/2006/main" noGrp="1"/>
          </p:cNvSpPr>
          <p:nvPr/>
        </p:nvSpPr>
        <p:spPr>
          <a:xfrm xmlns:a="http://schemas.openxmlformats.org/drawingml/2006/main">
            <a:off x="609600" y="3238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FF3347"/>
                </a:solidFill>
              </a:defRPr>
            </a:pPr>
            <a:r>
              <a:rPr sz="1050" b="1">
                <a:solidFill>
                  <a:srgbClr val="FF3347"/>
                </a:solidFill>
              </a:rPr>
              <a:t>TECHNICAL INTEGRITY</a:t>
            </a:r>
          </a:p>
        </p:txBody>
      </p:sp>
      <p:sp>
        <p:nvSpPr>
          <p:cNvPr id="2" name="">
            <a:extLst xmlns:a="http://schemas.openxmlformats.org/drawingml/2006/main">
              <a:ext uri="{FF2B5EF4-FFF2-40B4-BE49-F238E27FC236}">
                <a16:creationId xmlns:a16="http://schemas.microsoft.com/office/drawing/2014/main" id="{9AE03FE0-D9CB-4400-805C-0FAFFCE58EA8}"/>
              </a:ext>
            </a:extLst>
          </p:cNvPr>
          <p:cNvSpPr>
            <a:spLocks xmlns:a="http://schemas.openxmlformats.org/drawingml/2006/main" noGrp="1"/>
          </p:cNvSpPr>
          <p:nvPr/>
        </p:nvSpPr>
        <p:spPr>
          <a:xfrm xmlns:a="http://schemas.openxmlformats.org/drawingml/2006/main">
            <a:off x="609600" y="66675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00" b="1">
                <a:solidFill>
                  <a:srgbClr val="FFFFFF"/>
                </a:solidFill>
              </a:defRPr>
            </a:pPr>
            <a:r>
              <a:rPr sz="3600" b="1">
                <a:solidFill>
                  <a:srgbClr val="FFFFFF"/>
                </a:solidFill>
              </a:rPr>
              <a:t>Trust is designed into the XP ledger.</a:t>
            </a:r>
          </a:p>
        </p:txBody>
      </p:sp>
      <p:sp>
        <p:nvSpPr>
          <p:cNvPr id="3" name="">
            <a:extLst xmlns:a="http://schemas.openxmlformats.org/drawingml/2006/main">
              <a:ext uri="{FF2B5EF4-FFF2-40B4-BE49-F238E27FC236}">
                <a16:creationId xmlns:a16="http://schemas.microsoft.com/office/drawing/2014/main" id="{B7A7011D-B5DD-45E6-B458-BDB954FBA6D8}"/>
              </a:ext>
            </a:extLst>
          </p:cNvPr>
          <p:cNvSpPr>
            <a:spLocks xmlns:a="http://schemas.openxmlformats.org/drawingml/2006/main" noGrp="1"/>
          </p:cNvSpPr>
          <p:nvPr/>
        </p:nvSpPr>
        <p:spPr>
          <a:xfrm xmlns:a="http://schemas.openxmlformats.org/drawingml/2006/main">
            <a:off x="11239500" y="3619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AAB6D0"/>
                </a:solidFill>
              </a:defRPr>
            </a:pPr>
            <a:r>
              <a:rPr sz="1050" b="1">
                <a:solidFill>
                  <a:srgbClr val="AAB6D0"/>
                </a:solidFill>
              </a:rPr>
              <a:t>07</a:t>
            </a:r>
          </a:p>
        </p:txBody>
      </p:sp>
      <p:sp>
        <p:nvSpPr>
          <p:cNvPr id="4" name="">
            <a:extLst xmlns:a="http://schemas.openxmlformats.org/drawingml/2006/main">
              <a:ext uri="{FF2B5EF4-FFF2-40B4-BE49-F238E27FC236}">
                <a16:creationId xmlns:a16="http://schemas.microsoft.com/office/drawing/2014/main" id="{D0F5E5EC-4005-4FB1-AF56-B9B2E3A63FFA}"/>
              </a:ext>
            </a:extLst>
          </p:cNvPr>
          <p:cNvSpPr>
            <a:spLocks xmlns:a="http://schemas.openxmlformats.org/drawingml/2006/main" noGrp="1"/>
          </p:cNvSpPr>
          <p:nvPr/>
        </p:nvSpPr>
        <p:spPr>
          <a:xfrm xmlns:a="http://schemas.openxmlformats.org/drawingml/2006/main">
            <a:off x="609600" y="13525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793"/>
          </a:bodyPr>
          <a:lstStyle xmlns:a="http://schemas.openxmlformats.org/drawingml/2006/main"/>
          <a:p xmlns:a="http://schemas.openxmlformats.org/drawingml/2006/main">
            <a:pPr algn="l">
              <a:lnSpc>
                <a:spcPct val="105000"/>
              </a:lnSpc>
              <a:buNone/>
              <a:defRPr sz="1725" b="0">
                <a:solidFill>
                  <a:srgbClr val="AAB6D0"/>
                </a:solidFill>
              </a:defRPr>
            </a:pPr>
            <a:r>
              <a:rPr sz="1725" b="0">
                <a:solidFill>
                  <a:srgbClr val="AAB6D0"/>
                </a:solidFill>
              </a:rPr>
              <a:t>Four safeguards stop the prototype from rewarding the wrong behaviour or displaying a state the ledger cannot support.</a:t>
            </a:r>
          </a:p>
        </p:txBody>
      </p:sp>
      <p:sp>
        <p:nvSpPr>
          <p:cNvPr id="5" name="">
            <a:extLst xmlns:a="http://schemas.openxmlformats.org/drawingml/2006/main">
              <a:ext uri="{FF2B5EF4-FFF2-40B4-BE49-F238E27FC236}">
                <a16:creationId xmlns:a16="http://schemas.microsoft.com/office/drawing/2014/main" id="{944121CE-7F38-401A-BC90-A8EFACC3B992}"/>
              </a:ext>
            </a:extLst>
          </p:cNvPr>
          <p:cNvSpPr>
            <a:spLocks xmlns:a="http://schemas.openxmlformats.org/drawingml/2006/main" noGrp="1"/>
          </p:cNvSpPr>
          <p:nvPr/>
        </p:nvSpPr>
        <p:spPr>
          <a:xfrm xmlns:a="http://schemas.openxmlformats.org/drawingml/2006/main">
            <a:off x="609600" y="2133600"/>
            <a:ext cx="5353050" cy="1600200"/>
          </a:xfrm>
          <a:prstGeom xmlns:a="http://schemas.openxmlformats.org/drawingml/2006/main" prst="roundRect">
            <a:avLst>
              <a:gd name="adj" fmla="val 14286"/>
            </a:avLst>
          </a:prstGeom>
          <a:solidFill xmlns:a="http://schemas.openxmlformats.org/drawingml/2006/main">
            <a:srgbClr val="13264D"/>
          </a:solidFill>
          <a:ln xmlns:a="http://schemas.openxmlformats.org/drawingml/2006/main" w="9525">
            <a:solidFill>
              <a:srgbClr val="30456E"/>
            </a:solidFill>
            <a:prstDash val="solid"/>
          </a:ln>
        </p:spPr>
      </p:sp>
      <p:sp>
        <p:nvSpPr>
          <p:cNvPr id="6" name="">
            <a:extLst xmlns:a="http://schemas.openxmlformats.org/drawingml/2006/main">
              <a:ext uri="{FF2B5EF4-FFF2-40B4-BE49-F238E27FC236}">
                <a16:creationId xmlns:a16="http://schemas.microsoft.com/office/drawing/2014/main" id="{3D61B7F0-CA15-45BB-9B3C-BF05F53C6D6C}"/>
              </a:ext>
            </a:extLst>
          </p:cNvPr>
          <p:cNvSpPr>
            <a:spLocks xmlns:a="http://schemas.openxmlformats.org/drawingml/2006/main" noGrp="1"/>
          </p:cNvSpPr>
          <p:nvPr/>
        </p:nvSpPr>
        <p:spPr>
          <a:xfrm xmlns:a="http://schemas.openxmlformats.org/drawingml/2006/main">
            <a:off x="838200" y="2343150"/>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950" b="1">
                <a:solidFill>
                  <a:srgbClr val="FFD44D"/>
                </a:solidFill>
              </a:defRPr>
            </a:pPr>
            <a:r>
              <a:rPr sz="1950" b="1">
                <a:solidFill>
                  <a:srgbClr val="FFD44D"/>
                </a:solidFill>
              </a:rPr>
              <a:t>01</a:t>
            </a:r>
          </a:p>
        </p:txBody>
      </p:sp>
      <p:sp>
        <p:nvSpPr>
          <p:cNvPr id="7" name="">
            <a:extLst xmlns:a="http://schemas.openxmlformats.org/drawingml/2006/main">
              <a:ext uri="{FF2B5EF4-FFF2-40B4-BE49-F238E27FC236}">
                <a16:creationId xmlns:a16="http://schemas.microsoft.com/office/drawing/2014/main" id="{EE61730E-9A81-4E24-A6B6-B73CAD499F36}"/>
              </a:ext>
            </a:extLst>
          </p:cNvPr>
          <p:cNvSpPr>
            <a:spLocks xmlns:a="http://schemas.openxmlformats.org/drawingml/2006/main" noGrp="1"/>
          </p:cNvSpPr>
          <p:nvPr/>
        </p:nvSpPr>
        <p:spPr>
          <a:xfrm xmlns:a="http://schemas.openxmlformats.org/drawingml/2006/main">
            <a:off x="1504950" y="23622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FFFFFF"/>
                </a:solidFill>
              </a:defRPr>
            </a:pPr>
            <a:r>
              <a:rPr sz="1500" b="1">
                <a:solidFill>
                  <a:srgbClr val="FFFFFF"/>
                </a:solidFill>
              </a:rPr>
              <a:t>PURCHASE ONLY</a:t>
            </a:r>
          </a:p>
        </p:txBody>
      </p:sp>
      <p:sp>
        <p:nvSpPr>
          <p:cNvPr id="8" name="">
            <a:extLst xmlns:a="http://schemas.openxmlformats.org/drawingml/2006/main">
              <a:ext uri="{FF2B5EF4-FFF2-40B4-BE49-F238E27FC236}">
                <a16:creationId xmlns:a16="http://schemas.microsoft.com/office/drawing/2014/main" id="{537A4059-8835-4A86-ABD9-8FAA609C588F}"/>
              </a:ext>
            </a:extLst>
          </p:cNvPr>
          <p:cNvSpPr>
            <a:spLocks xmlns:a="http://schemas.openxmlformats.org/drawingml/2006/main" noGrp="1"/>
          </p:cNvSpPr>
          <p:nvPr/>
        </p:nvSpPr>
        <p:spPr>
          <a:xfrm xmlns:a="http://schemas.openxmlformats.org/drawingml/2006/main">
            <a:off x="1504950" y="278130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3000"/>
              </a:lnSpc>
              <a:buNone/>
              <a:defRPr sz="1425" b="0">
                <a:solidFill>
                  <a:srgbClr val="B8C4DD"/>
                </a:solidFill>
              </a:defRPr>
            </a:pPr>
            <a:r>
              <a:rPr sz="1425" b="0">
                <a:solidFill>
                  <a:srgbClr val="B8C4DD"/>
                </a:solidFill>
              </a:rPr>
              <a:t>XP query accepts kind = purchase; transfers, top-ups, income and cashback do not earn.</a:t>
            </a:r>
          </a:p>
        </p:txBody>
      </p:sp>
      <p:sp>
        <p:nvSpPr>
          <p:cNvPr id="9" name="">
            <a:extLst xmlns:a="http://schemas.openxmlformats.org/drawingml/2006/main">
              <a:ext uri="{FF2B5EF4-FFF2-40B4-BE49-F238E27FC236}">
                <a16:creationId xmlns:a16="http://schemas.microsoft.com/office/drawing/2014/main" id="{D43C7BCE-76C9-48D8-92E4-8D33F8482DAC}"/>
              </a:ext>
            </a:extLst>
          </p:cNvPr>
          <p:cNvSpPr>
            <a:spLocks xmlns:a="http://schemas.openxmlformats.org/drawingml/2006/main" noGrp="1"/>
          </p:cNvSpPr>
          <p:nvPr/>
        </p:nvSpPr>
        <p:spPr>
          <a:xfrm xmlns:a="http://schemas.openxmlformats.org/drawingml/2006/main">
            <a:off x="6229350" y="2133600"/>
            <a:ext cx="5353050" cy="1600200"/>
          </a:xfrm>
          <a:prstGeom xmlns:a="http://schemas.openxmlformats.org/drawingml/2006/main" prst="roundRect">
            <a:avLst>
              <a:gd name="adj" fmla="val 14286"/>
            </a:avLst>
          </a:prstGeom>
          <a:solidFill xmlns:a="http://schemas.openxmlformats.org/drawingml/2006/main">
            <a:srgbClr val="13264D"/>
          </a:solidFill>
          <a:ln xmlns:a="http://schemas.openxmlformats.org/drawingml/2006/main" w="9525">
            <a:solidFill>
              <a:srgbClr val="30456E"/>
            </a:solidFill>
            <a:prstDash val="solid"/>
          </a:ln>
        </p:spPr>
      </p:sp>
      <p:sp>
        <p:nvSpPr>
          <p:cNvPr id="10" name="">
            <a:extLst xmlns:a="http://schemas.openxmlformats.org/drawingml/2006/main">
              <a:ext uri="{FF2B5EF4-FFF2-40B4-BE49-F238E27FC236}">
                <a16:creationId xmlns:a16="http://schemas.microsoft.com/office/drawing/2014/main" id="{D78EB5EA-E41F-428E-9F20-787ACA3D7A95}"/>
              </a:ext>
            </a:extLst>
          </p:cNvPr>
          <p:cNvSpPr>
            <a:spLocks xmlns:a="http://schemas.openxmlformats.org/drawingml/2006/main" noGrp="1"/>
          </p:cNvSpPr>
          <p:nvPr/>
        </p:nvSpPr>
        <p:spPr>
          <a:xfrm xmlns:a="http://schemas.openxmlformats.org/drawingml/2006/main">
            <a:off x="6457950" y="2343150"/>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950" b="1">
                <a:solidFill>
                  <a:srgbClr val="FF3347"/>
                </a:solidFill>
              </a:defRPr>
            </a:pPr>
            <a:r>
              <a:rPr sz="1950" b="1">
                <a:solidFill>
                  <a:srgbClr val="FF3347"/>
                </a:solidFill>
              </a:rPr>
              <a:t>02</a:t>
            </a:r>
          </a:p>
        </p:txBody>
      </p:sp>
      <p:sp>
        <p:nvSpPr>
          <p:cNvPr id="11" name="">
            <a:extLst xmlns:a="http://schemas.openxmlformats.org/drawingml/2006/main">
              <a:ext uri="{FF2B5EF4-FFF2-40B4-BE49-F238E27FC236}">
                <a16:creationId xmlns:a16="http://schemas.microsoft.com/office/drawing/2014/main" id="{CD8B3E65-8AB9-4ED8-A944-A35EAF2C217C}"/>
              </a:ext>
            </a:extLst>
          </p:cNvPr>
          <p:cNvSpPr>
            <a:spLocks xmlns:a="http://schemas.openxmlformats.org/drawingml/2006/main" noGrp="1"/>
          </p:cNvSpPr>
          <p:nvPr/>
        </p:nvSpPr>
        <p:spPr>
          <a:xfrm xmlns:a="http://schemas.openxmlformats.org/drawingml/2006/main">
            <a:off x="7124700" y="23622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FFFFFF"/>
                </a:solidFill>
              </a:defRPr>
            </a:pPr>
            <a:r>
              <a:rPr sz="1500" b="1">
                <a:solidFill>
                  <a:srgbClr val="FFFFFF"/>
                </a:solidFill>
              </a:rPr>
              <a:t>IDEMPOTENT WRITE</a:t>
            </a:r>
          </a:p>
        </p:txBody>
      </p:sp>
      <p:sp>
        <p:nvSpPr>
          <p:cNvPr id="12" name="">
            <a:extLst xmlns:a="http://schemas.openxmlformats.org/drawingml/2006/main">
              <a:ext uri="{FF2B5EF4-FFF2-40B4-BE49-F238E27FC236}">
                <a16:creationId xmlns:a16="http://schemas.microsoft.com/office/drawing/2014/main" id="{FC5EC4EA-5560-401D-8B4E-187A0E92F987}"/>
              </a:ext>
            </a:extLst>
          </p:cNvPr>
          <p:cNvSpPr>
            <a:spLocks xmlns:a="http://schemas.openxmlformats.org/drawingml/2006/main" noGrp="1"/>
          </p:cNvSpPr>
          <p:nvPr/>
        </p:nvSpPr>
        <p:spPr>
          <a:xfrm xmlns:a="http://schemas.openxmlformats.org/drawingml/2006/main">
            <a:off x="7124700" y="278130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3000"/>
              </a:lnSpc>
              <a:buNone/>
              <a:defRPr sz="1425" b="0">
                <a:solidFill>
                  <a:srgbClr val="B8C4DD"/>
                </a:solidFill>
              </a:defRPr>
            </a:pPr>
            <a:r>
              <a:rPr sz="1425" b="0">
                <a:solidFill>
                  <a:srgbClr val="B8C4DD"/>
                </a:solidFill>
              </a:rPr>
              <a:t>A unique payment ID plus processed-payment marker blocks accidental duplicates.</a:t>
            </a:r>
          </a:p>
        </p:txBody>
      </p:sp>
      <p:sp>
        <p:nvSpPr>
          <p:cNvPr id="13" name="">
            <a:extLst xmlns:a="http://schemas.openxmlformats.org/drawingml/2006/main">
              <a:ext uri="{FF2B5EF4-FFF2-40B4-BE49-F238E27FC236}">
                <a16:creationId xmlns:a16="http://schemas.microsoft.com/office/drawing/2014/main" id="{343F80BA-7B3A-4F97-8483-DF955A1100F5}"/>
              </a:ext>
            </a:extLst>
          </p:cNvPr>
          <p:cNvSpPr>
            <a:spLocks xmlns:a="http://schemas.openxmlformats.org/drawingml/2006/main" noGrp="1"/>
          </p:cNvSpPr>
          <p:nvPr/>
        </p:nvSpPr>
        <p:spPr>
          <a:xfrm xmlns:a="http://schemas.openxmlformats.org/drawingml/2006/main">
            <a:off x="609600" y="4095750"/>
            <a:ext cx="5353050" cy="1600200"/>
          </a:xfrm>
          <a:prstGeom xmlns:a="http://schemas.openxmlformats.org/drawingml/2006/main" prst="roundRect">
            <a:avLst>
              <a:gd name="adj" fmla="val 14286"/>
            </a:avLst>
          </a:prstGeom>
          <a:solidFill xmlns:a="http://schemas.openxmlformats.org/drawingml/2006/main">
            <a:srgbClr val="13264D"/>
          </a:solidFill>
          <a:ln xmlns:a="http://schemas.openxmlformats.org/drawingml/2006/main" w="9525">
            <a:solidFill>
              <a:srgbClr val="30456E"/>
            </a:solidFill>
            <a:prstDash val="solid"/>
          </a:ln>
        </p:spPr>
      </p:sp>
      <p:sp>
        <p:nvSpPr>
          <p:cNvPr id="14" name="">
            <a:extLst xmlns:a="http://schemas.openxmlformats.org/drawingml/2006/main">
              <a:ext uri="{FF2B5EF4-FFF2-40B4-BE49-F238E27FC236}">
                <a16:creationId xmlns:a16="http://schemas.microsoft.com/office/drawing/2014/main" id="{E6A5AB59-F66D-4C04-BEDB-1E22782BA704}"/>
              </a:ext>
            </a:extLst>
          </p:cNvPr>
          <p:cNvSpPr>
            <a:spLocks xmlns:a="http://schemas.openxmlformats.org/drawingml/2006/main" noGrp="1"/>
          </p:cNvSpPr>
          <p:nvPr/>
        </p:nvSpPr>
        <p:spPr>
          <a:xfrm xmlns:a="http://schemas.openxmlformats.org/drawingml/2006/main">
            <a:off x="838200" y="4305300"/>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950" b="1">
                <a:solidFill>
                  <a:srgbClr val="FF3347"/>
                </a:solidFill>
              </a:defRPr>
            </a:pPr>
            <a:r>
              <a:rPr sz="1950" b="1">
                <a:solidFill>
                  <a:srgbClr val="FF3347"/>
                </a:solidFill>
              </a:rPr>
              <a:t>03</a:t>
            </a:r>
          </a:p>
        </p:txBody>
      </p:sp>
      <p:sp>
        <p:nvSpPr>
          <p:cNvPr id="15" name="">
            <a:extLst xmlns:a="http://schemas.openxmlformats.org/drawingml/2006/main">
              <a:ext uri="{FF2B5EF4-FFF2-40B4-BE49-F238E27FC236}">
                <a16:creationId xmlns:a16="http://schemas.microsoft.com/office/drawing/2014/main" id="{2DAB92B1-EED7-45B9-BDBD-363361E6BA35}"/>
              </a:ext>
            </a:extLst>
          </p:cNvPr>
          <p:cNvSpPr>
            <a:spLocks xmlns:a="http://schemas.openxmlformats.org/drawingml/2006/main" noGrp="1"/>
          </p:cNvSpPr>
          <p:nvPr/>
        </p:nvSpPr>
        <p:spPr>
          <a:xfrm xmlns:a="http://schemas.openxmlformats.org/drawingml/2006/main">
            <a:off x="1504950" y="43243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FFFFFF"/>
                </a:solidFill>
              </a:defRPr>
            </a:pPr>
            <a:r>
              <a:rPr sz="1500" b="1">
                <a:solidFill>
                  <a:srgbClr val="FFFFFF"/>
                </a:solidFill>
              </a:rPr>
              <a:t>BALANCE SAFE</a:t>
            </a:r>
          </a:p>
        </p:txBody>
      </p:sp>
      <p:sp>
        <p:nvSpPr>
          <p:cNvPr id="16" name="">
            <a:extLst xmlns:a="http://schemas.openxmlformats.org/drawingml/2006/main">
              <a:ext uri="{FF2B5EF4-FFF2-40B4-BE49-F238E27FC236}">
                <a16:creationId xmlns:a16="http://schemas.microsoft.com/office/drawing/2014/main" id="{5F8EFFBE-0CF1-450C-9FA4-119D960B9246}"/>
              </a:ext>
            </a:extLst>
          </p:cNvPr>
          <p:cNvSpPr>
            <a:spLocks xmlns:a="http://schemas.openxmlformats.org/drawingml/2006/main" noGrp="1"/>
          </p:cNvSpPr>
          <p:nvPr/>
        </p:nvSpPr>
        <p:spPr>
          <a:xfrm xmlns:a="http://schemas.openxmlformats.org/drawingml/2006/main">
            <a:off x="1504950" y="474345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3000"/>
              </a:lnSpc>
              <a:buNone/>
              <a:defRPr sz="1425" b="0">
                <a:solidFill>
                  <a:srgbClr val="B8C4DD"/>
                </a:solidFill>
              </a:defRPr>
            </a:pPr>
            <a:r>
              <a:rPr sz="1425" b="0">
                <a:solidFill>
                  <a:srgbClr val="B8C4DD"/>
                </a:solidFill>
              </a:rPr>
              <a:t>Current XP = earned − redeemed; insufficient balances are refused before the write.</a:t>
            </a:r>
          </a:p>
        </p:txBody>
      </p:sp>
      <p:sp>
        <p:nvSpPr>
          <p:cNvPr id="17" name="">
            <a:extLst xmlns:a="http://schemas.openxmlformats.org/drawingml/2006/main">
              <a:ext uri="{FF2B5EF4-FFF2-40B4-BE49-F238E27FC236}">
                <a16:creationId xmlns:a16="http://schemas.microsoft.com/office/drawing/2014/main" id="{23DBEA9F-87B5-4C86-81E2-CD71E3A75458}"/>
              </a:ext>
            </a:extLst>
          </p:cNvPr>
          <p:cNvSpPr>
            <a:spLocks xmlns:a="http://schemas.openxmlformats.org/drawingml/2006/main" noGrp="1"/>
          </p:cNvSpPr>
          <p:nvPr/>
        </p:nvSpPr>
        <p:spPr>
          <a:xfrm xmlns:a="http://schemas.openxmlformats.org/drawingml/2006/main">
            <a:off x="6229350" y="4095750"/>
            <a:ext cx="5353050" cy="1600200"/>
          </a:xfrm>
          <a:prstGeom xmlns:a="http://schemas.openxmlformats.org/drawingml/2006/main" prst="roundRect">
            <a:avLst>
              <a:gd name="adj" fmla="val 14286"/>
            </a:avLst>
          </a:prstGeom>
          <a:solidFill xmlns:a="http://schemas.openxmlformats.org/drawingml/2006/main">
            <a:srgbClr val="13264D"/>
          </a:solidFill>
          <a:ln xmlns:a="http://schemas.openxmlformats.org/drawingml/2006/main" w="9525">
            <a:solidFill>
              <a:srgbClr val="30456E"/>
            </a:solidFill>
            <a:prstDash val="solid"/>
          </a:ln>
        </p:spPr>
      </p:sp>
      <p:sp>
        <p:nvSpPr>
          <p:cNvPr id="18" name="">
            <a:extLst xmlns:a="http://schemas.openxmlformats.org/drawingml/2006/main">
              <a:ext uri="{FF2B5EF4-FFF2-40B4-BE49-F238E27FC236}">
                <a16:creationId xmlns:a16="http://schemas.microsoft.com/office/drawing/2014/main" id="{5651BB1B-0E3F-463D-AD1A-C54345E80F46}"/>
              </a:ext>
            </a:extLst>
          </p:cNvPr>
          <p:cNvSpPr>
            <a:spLocks xmlns:a="http://schemas.openxmlformats.org/drawingml/2006/main" noGrp="1"/>
          </p:cNvSpPr>
          <p:nvPr/>
        </p:nvSpPr>
        <p:spPr>
          <a:xfrm xmlns:a="http://schemas.openxmlformats.org/drawingml/2006/main">
            <a:off x="6457950" y="4305300"/>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950" b="1">
                <a:solidFill>
                  <a:srgbClr val="FF3347"/>
                </a:solidFill>
              </a:defRPr>
            </a:pPr>
            <a:r>
              <a:rPr sz="1950" b="1">
                <a:solidFill>
                  <a:srgbClr val="FF3347"/>
                </a:solidFill>
              </a:rPr>
              <a:t>04</a:t>
            </a:r>
          </a:p>
        </p:txBody>
      </p:sp>
      <p:sp>
        <p:nvSpPr>
          <p:cNvPr id="19" name="">
            <a:extLst xmlns:a="http://schemas.openxmlformats.org/drawingml/2006/main">
              <a:ext uri="{FF2B5EF4-FFF2-40B4-BE49-F238E27FC236}">
                <a16:creationId xmlns:a16="http://schemas.microsoft.com/office/drawing/2014/main" id="{D85F3B61-2CED-4EBD-84D2-31399D224C23}"/>
              </a:ext>
            </a:extLst>
          </p:cNvPr>
          <p:cNvSpPr>
            <a:spLocks xmlns:a="http://schemas.openxmlformats.org/drawingml/2006/main" noGrp="1"/>
          </p:cNvSpPr>
          <p:nvPr/>
        </p:nvSpPr>
        <p:spPr>
          <a:xfrm xmlns:a="http://schemas.openxmlformats.org/drawingml/2006/main">
            <a:off x="7124700" y="43243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00" b="1">
                <a:solidFill>
                  <a:srgbClr val="FFFFFF"/>
                </a:solidFill>
              </a:defRPr>
            </a:pPr>
            <a:r>
              <a:rPr sz="1500" b="1">
                <a:solidFill>
                  <a:srgbClr val="FFFFFF"/>
                </a:solidFill>
              </a:rPr>
              <a:t>HONEST STATUS</a:t>
            </a:r>
          </a:p>
        </p:txBody>
      </p:sp>
      <p:sp>
        <p:nvSpPr>
          <p:cNvPr id="20" name="">
            <a:extLst xmlns:a="http://schemas.openxmlformats.org/drawingml/2006/main">
              <a:ext uri="{FF2B5EF4-FFF2-40B4-BE49-F238E27FC236}">
                <a16:creationId xmlns:a16="http://schemas.microsoft.com/office/drawing/2014/main" id="{C1888799-AAB2-4EC2-90CE-42CFAA650E5C}"/>
              </a:ext>
            </a:extLst>
          </p:cNvPr>
          <p:cNvSpPr>
            <a:spLocks xmlns:a="http://schemas.openxmlformats.org/drawingml/2006/main" noGrp="1"/>
          </p:cNvSpPr>
          <p:nvPr/>
        </p:nvSpPr>
        <p:spPr>
          <a:xfrm xmlns:a="http://schemas.openxmlformats.org/drawingml/2006/main">
            <a:off x="7124700" y="474345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3000"/>
              </a:lnSpc>
              <a:buNone/>
              <a:defRPr sz="1425" b="0">
                <a:solidFill>
                  <a:srgbClr val="B8C4DD"/>
                </a:solidFill>
              </a:defRPr>
            </a:pPr>
            <a:r>
              <a:rPr sz="1425" b="0">
                <a:solidFill>
                  <a:srgbClr val="B8C4DD"/>
                </a:solidFill>
              </a:rPr>
              <a:t>Cashback is Applied; vouchers stay Active, Used or Expired — never ambiguous.</a:t>
            </a:r>
          </a:p>
        </p:txBody>
      </p:sp>
      <p:sp>
        <p:nvSpPr>
          <p:cNvPr id="21" name="">
            <a:extLst xmlns:a="http://schemas.openxmlformats.org/drawingml/2006/main">
              <a:ext uri="{FF2B5EF4-FFF2-40B4-BE49-F238E27FC236}">
                <a16:creationId xmlns:a16="http://schemas.microsoft.com/office/drawing/2014/main" id="{16B35590-1EB6-4910-AFC9-83F9F12D172B}"/>
              </a:ext>
            </a:extLst>
          </p:cNvPr>
          <p:cNvSpPr>
            <a:spLocks xmlns:a="http://schemas.openxmlformats.org/drawingml/2006/main" noGrp="1"/>
          </p:cNvSpPr>
          <p:nvPr/>
        </p:nvSpPr>
        <p:spPr>
          <a:xfrm xmlns:a="http://schemas.openxmlformats.org/drawingml/2006/main">
            <a:off x="609600" y="6515100"/>
            <a:ext cx="10972800" cy="19050"/>
          </a:xfrm>
          <a:prstGeom xmlns:a="http://schemas.openxmlformats.org/drawingml/2006/main" prst="rect">
            <a:avLst/>
          </a:prstGeom>
          <a:solidFill xmlns:a="http://schemas.openxmlformats.org/drawingml/2006/main">
            <a:srgbClr val="2A3B6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3E8B075-C525-40CD-85F3-35ACF2EA0159}"/>
              </a:ext>
            </a:extLst>
          </p:cNvPr>
          <p:cNvSpPr>
            <a:spLocks xmlns:a="http://schemas.openxmlformats.org/drawingml/2006/main" noGrp="1"/>
          </p:cNvSpPr>
          <p:nvPr/>
        </p:nvSpPr>
        <p:spPr>
          <a:xfrm xmlns:a="http://schemas.openxmlformats.org/drawingml/2006/main">
            <a:off x="609600" y="6515100"/>
            <a:ext cx="7677150" cy="19050"/>
          </a:xfrm>
          <a:prstGeom xmlns:a="http://schemas.openxmlformats.org/drawingml/2006/main" prst="rect">
            <a:avLst/>
          </a:prstGeom>
          <a:solidFill xmlns:a="http://schemas.openxmlformats.org/drawingml/2006/main">
            <a:srgbClr val="FF334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ACA718F-937F-430B-AD3E-5F8ADCD879D6}"/>
              </a:ext>
            </a:extLst>
          </p:cNvPr>
          <p:cNvSpPr>
            <a:spLocks xmlns:a="http://schemas.openxmlformats.org/drawingml/2006/main" noGrp="1"/>
          </p:cNvSpPr>
          <p:nvPr/>
        </p:nvSpPr>
        <p:spPr>
          <a:xfrm xmlns:a="http://schemas.openxmlformats.org/drawingml/2006/main">
            <a:off x="609600" y="6610350"/>
            <a:ext cx="2286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8290AE"/>
                </a:solidFill>
              </a:defRPr>
            </a:pPr>
            <a:r>
              <a:rPr sz="750" b="1">
                <a:solidFill>
                  <a:srgbClr val="8290AE"/>
                </a:solidFill>
              </a:rPr>
              <a:t>XP REWARDS STORE</a:t>
            </a:r>
          </a:p>
        </p:txBody>
      </p:sp>
      <p:sp>
        <p:nvSpPr>
          <p:cNvPr id="24" name="">
            <a:extLst xmlns:a="http://schemas.openxmlformats.org/drawingml/2006/main">
              <a:ext uri="{FF2B5EF4-FFF2-40B4-BE49-F238E27FC236}">
                <a16:creationId xmlns:a16="http://schemas.microsoft.com/office/drawing/2014/main" id="{34258A2A-6A33-4697-8D2F-DF9A77D806D0}"/>
              </a:ext>
            </a:extLst>
          </p:cNvPr>
          <p:cNvSpPr>
            <a:spLocks xmlns:a="http://schemas.openxmlformats.org/drawingml/2006/main" noGrp="1"/>
          </p:cNvSpPr>
          <p:nvPr/>
        </p:nvSpPr>
        <p:spPr>
          <a:xfrm xmlns:a="http://schemas.openxmlformats.org/drawingml/2006/main">
            <a:off x="10810875" y="6610350"/>
            <a:ext cx="7715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8290AE"/>
                </a:solidFill>
              </a:defRPr>
            </a:pPr>
            <a:r>
              <a:rPr sz="750" b="1">
                <a:solidFill>
                  <a:srgbClr val="8290AE"/>
                </a:solidFill>
              </a:rPr>
              <a:t>HADI</a:t>
            </a:r>
          </a:p>
        </p:txBody>
      </p:sp>
    </p:spTree>
    <p:extLst>
      <p:ext uri="{BB962C8B-B14F-4D97-AF65-F5344CB8AC3E}">
        <p14:creationId xmlns:p14="http://schemas.microsoft.com/office/powerpoint/2010/main" val="124301016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FDF36A9-E7F2-427D-BCD2-BEA1E08F49F8}"/>
              </a:ext>
            </a:extLst>
          </p:cNvPr>
          <p:cNvSpPr>
            <a:spLocks xmlns:a="http://schemas.openxmlformats.org/drawingml/2006/main" noGrp="1"/>
          </p:cNvSpPr>
          <p:nvPr/>
        </p:nvSpPr>
        <p:spPr>
          <a:xfrm xmlns:a="http://schemas.openxmlformats.org/drawingml/2006/main">
            <a:off x="609600" y="3238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2D8C70"/>
                </a:solidFill>
              </a:defRPr>
            </a:pPr>
            <a:r>
              <a:rPr sz="1050" b="1">
                <a:solidFill>
                  <a:srgbClr val="2D8C70"/>
                </a:solidFill>
              </a:rPr>
              <a:t>SYSTEM INTEGRATION</a:t>
            </a:r>
          </a:p>
        </p:txBody>
      </p:sp>
      <p:sp>
        <p:nvSpPr>
          <p:cNvPr id="2" name="">
            <a:extLst xmlns:a="http://schemas.openxmlformats.org/drawingml/2006/main">
              <a:ext uri="{FF2B5EF4-FFF2-40B4-BE49-F238E27FC236}">
                <a16:creationId xmlns:a16="http://schemas.microsoft.com/office/drawing/2014/main" id="{D1ABEE51-1561-4987-9CD2-292C728172F6}"/>
              </a:ext>
            </a:extLst>
          </p:cNvPr>
          <p:cNvSpPr>
            <a:spLocks xmlns:a="http://schemas.openxmlformats.org/drawingml/2006/main" noGrp="1"/>
          </p:cNvSpPr>
          <p:nvPr/>
        </p:nvSpPr>
        <p:spPr>
          <a:xfrm xmlns:a="http://schemas.openxmlformats.org/drawingml/2006/main">
            <a:off x="609600" y="66675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00" b="1">
                <a:solidFill>
                  <a:srgbClr val="18223B"/>
                </a:solidFill>
              </a:defRPr>
            </a:pPr>
            <a:r>
              <a:rPr sz="3600" b="1">
                <a:solidFill>
                  <a:srgbClr val="18223B"/>
                </a:solidFill>
              </a:rPr>
              <a:t>One ledger connects rewards to the whole product.</a:t>
            </a:r>
          </a:p>
        </p:txBody>
      </p:sp>
      <p:sp>
        <p:nvSpPr>
          <p:cNvPr id="3" name="">
            <a:extLst xmlns:a="http://schemas.openxmlformats.org/drawingml/2006/main">
              <a:ext uri="{FF2B5EF4-FFF2-40B4-BE49-F238E27FC236}">
                <a16:creationId xmlns:a16="http://schemas.microsoft.com/office/drawing/2014/main" id="{804251DA-529D-4886-BE2C-549C725CC512}"/>
              </a:ext>
            </a:extLst>
          </p:cNvPr>
          <p:cNvSpPr>
            <a:spLocks xmlns:a="http://schemas.openxmlformats.org/drawingml/2006/main" noGrp="1"/>
          </p:cNvSpPr>
          <p:nvPr/>
        </p:nvSpPr>
        <p:spPr>
          <a:xfrm xmlns:a="http://schemas.openxmlformats.org/drawingml/2006/main">
            <a:off x="11239500" y="3619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647089"/>
                </a:solidFill>
              </a:defRPr>
            </a:pPr>
            <a:r>
              <a:rPr sz="1050" b="1">
                <a:solidFill>
                  <a:srgbClr val="647089"/>
                </a:solidFill>
              </a:rPr>
              <a:t>08</a:t>
            </a:r>
          </a:p>
        </p:txBody>
      </p:sp>
      <p:sp>
        <p:nvSpPr>
          <p:cNvPr id="4" name="">
            <a:extLst xmlns:a="http://schemas.openxmlformats.org/drawingml/2006/main">
              <a:ext uri="{FF2B5EF4-FFF2-40B4-BE49-F238E27FC236}">
                <a16:creationId xmlns:a16="http://schemas.microsoft.com/office/drawing/2014/main" id="{F5C76278-0581-4529-B575-0683A3D6A8EF}"/>
              </a:ext>
            </a:extLst>
          </p:cNvPr>
          <p:cNvSpPr>
            <a:spLocks xmlns:a="http://schemas.openxmlformats.org/drawingml/2006/main" noGrp="1"/>
          </p:cNvSpPr>
          <p:nvPr/>
        </p:nvSpPr>
        <p:spPr>
          <a:xfrm xmlns:a="http://schemas.openxmlformats.org/drawingml/2006/main">
            <a:off x="609600" y="13525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717"/>
          </a:bodyPr>
          <a:lstStyle xmlns:a="http://schemas.openxmlformats.org/drawingml/2006/main"/>
          <a:p xmlns:a="http://schemas.openxmlformats.org/drawingml/2006/main">
            <a:pPr algn="l">
              <a:lnSpc>
                <a:spcPct val="105000"/>
              </a:lnSpc>
              <a:buNone/>
              <a:defRPr sz="1725" b="0">
                <a:solidFill>
                  <a:srgbClr val="647089"/>
                </a:solidFill>
              </a:defRPr>
            </a:pPr>
            <a:r>
              <a:rPr sz="1725" b="0">
                <a:solidFill>
                  <a:srgbClr val="647089"/>
                </a:solidFill>
              </a:rPr>
              <a:t>The feature is not isolated: it reads the shared transaction table and writes outcomes that the home wallet, history, and management portal immediately understand.</a:t>
            </a:r>
          </a:p>
        </p:txBody>
      </p:sp>
      <p:sp>
        <p:nvSpPr>
          <p:cNvPr id="5" name="">
            <a:extLst xmlns:a="http://schemas.openxmlformats.org/drawingml/2006/main">
              <a:ext uri="{FF2B5EF4-FFF2-40B4-BE49-F238E27FC236}">
                <a16:creationId xmlns:a16="http://schemas.microsoft.com/office/drawing/2014/main" id="{98BB9E14-FA0E-4D0B-B6FE-780A2E3E170E}"/>
              </a:ext>
            </a:extLst>
          </p:cNvPr>
          <p:cNvSpPr>
            <a:spLocks xmlns:a="http://schemas.openxmlformats.org/drawingml/2006/main" noGrp="1"/>
          </p:cNvSpPr>
          <p:nvPr/>
        </p:nvSpPr>
        <p:spPr>
          <a:xfrm xmlns:a="http://schemas.openxmlformats.org/drawingml/2006/main">
            <a:off x="1981200" y="3238500"/>
            <a:ext cx="7448550" cy="38100"/>
          </a:xfrm>
          <a:prstGeom xmlns:a="http://schemas.openxmlformats.org/drawingml/2006/main" prst="roundRect">
            <a:avLst>
              <a:gd name="adj" fmla="val 50000"/>
            </a:avLst>
          </a:prstGeom>
          <a:solidFill xmlns:a="http://schemas.openxmlformats.org/drawingml/2006/main">
            <a:srgbClr val="DCE2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F9C883F-24A0-4C01-8474-0A2DD13EFA1A}"/>
              </a:ext>
            </a:extLst>
          </p:cNvPr>
          <p:cNvSpPr>
            <a:spLocks xmlns:a="http://schemas.openxmlformats.org/drawingml/2006/main" noGrp="1"/>
          </p:cNvSpPr>
          <p:nvPr/>
        </p:nvSpPr>
        <p:spPr>
          <a:xfrm xmlns:a="http://schemas.openxmlformats.org/drawingml/2006/main">
            <a:off x="9010650" y="3238500"/>
            <a:ext cx="38100" cy="1562100"/>
          </a:xfrm>
          <a:prstGeom xmlns:a="http://schemas.openxmlformats.org/drawingml/2006/main" prst="roundRect">
            <a:avLst>
              <a:gd name="adj" fmla="val 50000"/>
            </a:avLst>
          </a:prstGeom>
          <a:solidFill xmlns:a="http://schemas.openxmlformats.org/drawingml/2006/main">
            <a:srgbClr val="DCE2E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FDEB348-1D4D-41C9-8C0A-F5E3FD236D6C}"/>
              </a:ext>
            </a:extLst>
          </p:cNvPr>
          <p:cNvSpPr>
            <a:spLocks xmlns:a="http://schemas.openxmlformats.org/drawingml/2006/main" noGrp="1"/>
          </p:cNvSpPr>
          <p:nvPr/>
        </p:nvSpPr>
        <p:spPr>
          <a:xfrm xmlns:a="http://schemas.openxmlformats.org/drawingml/2006/main">
            <a:off x="9010650" y="4762500"/>
            <a:ext cx="1524000" cy="38100"/>
          </a:xfrm>
          <a:prstGeom xmlns:a="http://schemas.openxmlformats.org/drawingml/2006/main" prst="roundRect">
            <a:avLst>
              <a:gd name="adj" fmla="val 50000"/>
            </a:avLst>
          </a:prstGeom>
          <a:solidFill xmlns:a="http://schemas.openxmlformats.org/drawingml/2006/main">
            <a:srgbClr val="DCE2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368962B-E277-4311-A0DD-EDED39DA9C94}"/>
              </a:ext>
            </a:extLst>
          </p:cNvPr>
          <p:cNvSpPr>
            <a:spLocks xmlns:a="http://schemas.openxmlformats.org/drawingml/2006/main" noGrp="1"/>
          </p:cNvSpPr>
          <p:nvPr/>
        </p:nvSpPr>
        <p:spPr>
          <a:xfrm xmlns:a="http://schemas.openxmlformats.org/drawingml/2006/main">
            <a:off x="609600" y="2571750"/>
            <a:ext cx="2057400" cy="1390650"/>
          </a:xfrm>
          <a:prstGeom xmlns:a="http://schemas.openxmlformats.org/drawingml/2006/main" prst="roundRect">
            <a:avLst>
              <a:gd name="adj" fmla="val 16438"/>
            </a:avLst>
          </a:prstGeom>
          <a:solidFill xmlns:a="http://schemas.openxmlformats.org/drawingml/2006/main">
            <a:srgbClr val="E8EBF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B3E997CF-B238-450A-AC0B-745348933DD8}"/>
              </a:ext>
            </a:extLst>
          </p:cNvPr>
          <p:cNvSpPr>
            <a:spLocks xmlns:a="http://schemas.openxmlformats.org/drawingml/2006/main" noGrp="1"/>
          </p:cNvSpPr>
          <p:nvPr/>
        </p:nvSpPr>
        <p:spPr>
          <a:xfrm xmlns:a="http://schemas.openxmlformats.org/drawingml/2006/main">
            <a:off x="819150" y="2781300"/>
            <a:ext cx="1638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5267F8"/>
                </a:solidFill>
              </a:defRPr>
            </a:pPr>
            <a:r>
              <a:rPr sz="1125" b="1">
                <a:solidFill>
                  <a:srgbClr val="5267F8"/>
                </a:solidFill>
              </a:rPr>
              <a:t>PURCHASE</a:t>
            </a:r>
          </a:p>
        </p:txBody>
      </p:sp>
      <p:sp>
        <p:nvSpPr>
          <p:cNvPr id="10" name="">
            <a:extLst xmlns:a="http://schemas.openxmlformats.org/drawingml/2006/main">
              <a:ext uri="{FF2B5EF4-FFF2-40B4-BE49-F238E27FC236}">
                <a16:creationId xmlns:a16="http://schemas.microsoft.com/office/drawing/2014/main" id="{C5EBC418-167A-4008-A0DD-B037B0B9ED2C}"/>
              </a:ext>
            </a:extLst>
          </p:cNvPr>
          <p:cNvSpPr>
            <a:spLocks xmlns:a="http://schemas.openxmlformats.org/drawingml/2006/main" noGrp="1"/>
          </p:cNvSpPr>
          <p:nvPr/>
        </p:nvSpPr>
        <p:spPr>
          <a:xfrm xmlns:a="http://schemas.openxmlformats.org/drawingml/2006/main">
            <a:off x="819150" y="3124200"/>
            <a:ext cx="1638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8223B"/>
                </a:solidFill>
              </a:defRPr>
            </a:pPr>
            <a:r>
              <a:rPr sz="1500" b="1">
                <a:solidFill>
                  <a:srgbClr val="18223B"/>
                </a:solidFill>
              </a:rPr>
              <a:t>Shared transaction</a:t>
            </a:r>
          </a:p>
          <a:p xmlns:a="http://schemas.openxmlformats.org/drawingml/2006/main">
            <a:pPr algn="l">
              <a:lnSpc>
                <a:spcPct val="108000"/>
              </a:lnSpc>
              <a:buNone/>
              <a:defRPr sz="1500" b="1">
                <a:solidFill>
                  <a:srgbClr val="18223B"/>
                </a:solidFill>
              </a:defRPr>
            </a:pPr>
            <a:r>
              <a:rPr sz="1500" b="1">
                <a:solidFill>
                  <a:srgbClr val="18223B"/>
                </a:solidFill>
              </a:rPr>
              <a:t>kind + payment ID</a:t>
            </a:r>
          </a:p>
        </p:txBody>
      </p:sp>
      <p:sp>
        <p:nvSpPr>
          <p:cNvPr id="11" name="">
            <a:extLst xmlns:a="http://schemas.openxmlformats.org/drawingml/2006/main">
              <a:ext uri="{FF2B5EF4-FFF2-40B4-BE49-F238E27FC236}">
                <a16:creationId xmlns:a16="http://schemas.microsoft.com/office/drawing/2014/main" id="{6E824810-6C82-48BB-A24B-C7BFD4EFD894}"/>
              </a:ext>
            </a:extLst>
          </p:cNvPr>
          <p:cNvSpPr>
            <a:spLocks xmlns:a="http://schemas.openxmlformats.org/drawingml/2006/main" noGrp="1"/>
          </p:cNvSpPr>
          <p:nvPr/>
        </p:nvSpPr>
        <p:spPr>
          <a:xfrm xmlns:a="http://schemas.openxmlformats.org/drawingml/2006/main">
            <a:off x="3219450" y="2571750"/>
            <a:ext cx="2057400" cy="1390650"/>
          </a:xfrm>
          <a:prstGeom xmlns:a="http://schemas.openxmlformats.org/drawingml/2006/main" prst="roundRect">
            <a:avLst>
              <a:gd name="adj" fmla="val 16438"/>
            </a:avLst>
          </a:prstGeom>
          <a:solidFill xmlns:a="http://schemas.openxmlformats.org/drawingml/2006/main">
            <a:srgbClr val="DDF2EB"/>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46D4DA9B-DC27-4848-AC9D-685067BE5B25}"/>
              </a:ext>
            </a:extLst>
          </p:cNvPr>
          <p:cNvSpPr>
            <a:spLocks xmlns:a="http://schemas.openxmlformats.org/drawingml/2006/main" noGrp="1"/>
          </p:cNvSpPr>
          <p:nvPr/>
        </p:nvSpPr>
        <p:spPr>
          <a:xfrm xmlns:a="http://schemas.openxmlformats.org/drawingml/2006/main">
            <a:off x="3429000" y="2781300"/>
            <a:ext cx="1638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2D8C70"/>
                </a:solidFill>
              </a:defRPr>
            </a:pPr>
            <a:r>
              <a:rPr sz="1125" b="1">
                <a:solidFill>
                  <a:srgbClr val="2D8C70"/>
                </a:solidFill>
              </a:rPr>
              <a:t>XP ENGINE</a:t>
            </a:r>
          </a:p>
        </p:txBody>
      </p:sp>
      <p:sp>
        <p:nvSpPr>
          <p:cNvPr id="13" name="">
            <a:extLst xmlns:a="http://schemas.openxmlformats.org/drawingml/2006/main">
              <a:ext uri="{FF2B5EF4-FFF2-40B4-BE49-F238E27FC236}">
                <a16:creationId xmlns:a16="http://schemas.microsoft.com/office/drawing/2014/main" id="{E3FA9561-8385-4F2B-8D27-AB2059AAE9D3}"/>
              </a:ext>
            </a:extLst>
          </p:cNvPr>
          <p:cNvSpPr>
            <a:spLocks xmlns:a="http://schemas.openxmlformats.org/drawingml/2006/main" noGrp="1"/>
          </p:cNvSpPr>
          <p:nvPr/>
        </p:nvSpPr>
        <p:spPr>
          <a:xfrm xmlns:a="http://schemas.openxmlformats.org/drawingml/2006/main">
            <a:off x="3429000" y="3124200"/>
            <a:ext cx="1638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8223B"/>
                </a:solidFill>
              </a:defRPr>
            </a:pPr>
            <a:r>
              <a:rPr sz="1500" b="1">
                <a:solidFill>
                  <a:srgbClr val="18223B"/>
                </a:solidFill>
              </a:rPr>
              <a:t>Rate, multiplier</a:t>
            </a:r>
          </a:p>
          <a:p xmlns:a="http://schemas.openxmlformats.org/drawingml/2006/main">
            <a:pPr algn="l">
              <a:lnSpc>
                <a:spcPct val="108000"/>
              </a:lnSpc>
              <a:buNone/>
              <a:defRPr sz="1500" b="1">
                <a:solidFill>
                  <a:srgbClr val="18223B"/>
                </a:solidFill>
              </a:defRPr>
            </a:pPr>
            <a:r>
              <a:rPr sz="1500" b="1">
                <a:solidFill>
                  <a:srgbClr val="18223B"/>
                </a:solidFill>
              </a:rPr>
              <a:t>and balance</a:t>
            </a:r>
          </a:p>
        </p:txBody>
      </p:sp>
      <p:sp>
        <p:nvSpPr>
          <p:cNvPr id="14" name="">
            <a:extLst xmlns:a="http://schemas.openxmlformats.org/drawingml/2006/main">
              <a:ext uri="{FF2B5EF4-FFF2-40B4-BE49-F238E27FC236}">
                <a16:creationId xmlns:a16="http://schemas.microsoft.com/office/drawing/2014/main" id="{930AED3B-BB22-48B3-B8E7-5A5336B615E4}"/>
              </a:ext>
            </a:extLst>
          </p:cNvPr>
          <p:cNvSpPr>
            <a:spLocks xmlns:a="http://schemas.openxmlformats.org/drawingml/2006/main" noGrp="1"/>
          </p:cNvSpPr>
          <p:nvPr/>
        </p:nvSpPr>
        <p:spPr>
          <a:xfrm xmlns:a="http://schemas.openxmlformats.org/drawingml/2006/main">
            <a:off x="5829300" y="2571750"/>
            <a:ext cx="2057400" cy="1390650"/>
          </a:xfrm>
          <a:prstGeom xmlns:a="http://schemas.openxmlformats.org/drawingml/2006/main" prst="roundRect">
            <a:avLst>
              <a:gd name="adj" fmla="val 16438"/>
            </a:avLst>
          </a:prstGeom>
          <a:solidFill xmlns:a="http://schemas.openxmlformats.org/drawingml/2006/main">
            <a:srgbClr val="FFF5C9"/>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F169BAB0-0A74-42E4-83D8-B5F0C8E256A4}"/>
              </a:ext>
            </a:extLst>
          </p:cNvPr>
          <p:cNvSpPr>
            <a:spLocks xmlns:a="http://schemas.openxmlformats.org/drawingml/2006/main" noGrp="1"/>
          </p:cNvSpPr>
          <p:nvPr/>
        </p:nvSpPr>
        <p:spPr>
          <a:xfrm xmlns:a="http://schemas.openxmlformats.org/drawingml/2006/main">
            <a:off x="6038850" y="2781300"/>
            <a:ext cx="1638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8A6500"/>
                </a:solidFill>
              </a:defRPr>
            </a:pPr>
            <a:r>
              <a:rPr sz="1125" b="1">
                <a:solidFill>
                  <a:srgbClr val="8A6500"/>
                </a:solidFill>
              </a:rPr>
              <a:t>REDEMPTION</a:t>
            </a:r>
          </a:p>
        </p:txBody>
      </p:sp>
      <p:sp>
        <p:nvSpPr>
          <p:cNvPr id="16" name="">
            <a:extLst xmlns:a="http://schemas.openxmlformats.org/drawingml/2006/main">
              <a:ext uri="{FF2B5EF4-FFF2-40B4-BE49-F238E27FC236}">
                <a16:creationId xmlns:a16="http://schemas.microsoft.com/office/drawing/2014/main" id="{371C1DF4-ABC8-40FC-A7B6-BE4624DEA52A}"/>
              </a:ext>
            </a:extLst>
          </p:cNvPr>
          <p:cNvSpPr>
            <a:spLocks xmlns:a="http://schemas.openxmlformats.org/drawingml/2006/main" noGrp="1"/>
          </p:cNvSpPr>
          <p:nvPr/>
        </p:nvSpPr>
        <p:spPr>
          <a:xfrm xmlns:a="http://schemas.openxmlformats.org/drawingml/2006/main">
            <a:off x="6038850" y="3124200"/>
            <a:ext cx="1638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8223B"/>
                </a:solidFill>
              </a:defRPr>
            </a:pPr>
            <a:r>
              <a:rPr sz="1500" b="1">
                <a:solidFill>
                  <a:srgbClr val="18223B"/>
                </a:solidFill>
              </a:rPr>
              <a:t>Cost check +</a:t>
            </a:r>
          </a:p>
          <a:p xmlns:a="http://schemas.openxmlformats.org/drawingml/2006/main">
            <a:pPr algn="l">
              <a:lnSpc>
                <a:spcPct val="108000"/>
              </a:lnSpc>
              <a:buNone/>
              <a:defRPr sz="1500" b="1">
                <a:solidFill>
                  <a:srgbClr val="18223B"/>
                </a:solidFill>
              </a:defRPr>
            </a:pPr>
            <a:r>
              <a:rPr sz="1500" b="1">
                <a:solidFill>
                  <a:srgbClr val="18223B"/>
                </a:solidFill>
              </a:rPr>
              <a:t>persistent record</a:t>
            </a:r>
          </a:p>
        </p:txBody>
      </p:sp>
      <p:sp>
        <p:nvSpPr>
          <p:cNvPr id="17" name="">
            <a:extLst xmlns:a="http://schemas.openxmlformats.org/drawingml/2006/main">
              <a:ext uri="{FF2B5EF4-FFF2-40B4-BE49-F238E27FC236}">
                <a16:creationId xmlns:a16="http://schemas.microsoft.com/office/drawing/2014/main" id="{D87F7C8F-1E94-451B-B069-F447B90737C8}"/>
              </a:ext>
            </a:extLst>
          </p:cNvPr>
          <p:cNvSpPr>
            <a:spLocks xmlns:a="http://schemas.openxmlformats.org/drawingml/2006/main" noGrp="1"/>
          </p:cNvSpPr>
          <p:nvPr/>
        </p:nvSpPr>
        <p:spPr>
          <a:xfrm xmlns:a="http://schemas.openxmlformats.org/drawingml/2006/main">
            <a:off x="8439150" y="2324100"/>
            <a:ext cx="3143250" cy="1028700"/>
          </a:xfrm>
          <a:prstGeom xmlns:a="http://schemas.openxmlformats.org/drawingml/2006/main" prst="roundRect">
            <a:avLst>
              <a:gd name="adj" fmla="val 22222"/>
            </a:avLst>
          </a:prstGeom>
          <a:solidFill xmlns:a="http://schemas.openxmlformats.org/drawingml/2006/main">
            <a:srgbClr val="FFE7EA"/>
          </a:solidFill>
          <a:ln xmlns:a="http://schemas.openxmlformats.org/drawingml/2006/main" w="9525">
            <a:solidFill>
              <a:srgbClr val="DCE2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9E0D5042-F56E-4FA0-8592-A1676C4BEA6E}"/>
              </a:ext>
            </a:extLst>
          </p:cNvPr>
          <p:cNvSpPr>
            <a:spLocks xmlns:a="http://schemas.openxmlformats.org/drawingml/2006/main" noGrp="1"/>
          </p:cNvSpPr>
          <p:nvPr/>
        </p:nvSpPr>
        <p:spPr>
          <a:xfrm xmlns:a="http://schemas.openxmlformats.org/drawingml/2006/main">
            <a:off x="8648700" y="253365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FF3347"/>
                </a:solidFill>
              </a:defRPr>
            </a:pPr>
            <a:r>
              <a:rPr sz="1125" b="1">
                <a:solidFill>
                  <a:srgbClr val="FF3347"/>
                </a:solidFill>
              </a:rPr>
              <a:t>CUSTOMER</a:t>
            </a:r>
          </a:p>
        </p:txBody>
      </p:sp>
      <p:sp>
        <p:nvSpPr>
          <p:cNvPr id="19" name="">
            <a:extLst xmlns:a="http://schemas.openxmlformats.org/drawingml/2006/main">
              <a:ext uri="{FF2B5EF4-FFF2-40B4-BE49-F238E27FC236}">
                <a16:creationId xmlns:a16="http://schemas.microsoft.com/office/drawing/2014/main" id="{25DB8663-BFE3-4B12-BED9-CF99CBC09590}"/>
              </a:ext>
            </a:extLst>
          </p:cNvPr>
          <p:cNvSpPr>
            <a:spLocks xmlns:a="http://schemas.openxmlformats.org/drawingml/2006/main" noGrp="1"/>
          </p:cNvSpPr>
          <p:nvPr/>
        </p:nvSpPr>
        <p:spPr>
          <a:xfrm xmlns:a="http://schemas.openxmlformats.org/drawingml/2006/main">
            <a:off x="8648700" y="2876550"/>
            <a:ext cx="2724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8223B"/>
                </a:solidFill>
              </a:defRPr>
            </a:pPr>
            <a:r>
              <a:rPr sz="1500" b="1">
                <a:solidFill>
                  <a:srgbClr val="18223B"/>
                </a:solidFill>
              </a:rPr>
              <a:t>Wallet cashback + voucher states</a:t>
            </a:r>
          </a:p>
        </p:txBody>
      </p:sp>
      <p:sp>
        <p:nvSpPr>
          <p:cNvPr id="20" name="">
            <a:extLst xmlns:a="http://schemas.openxmlformats.org/drawingml/2006/main">
              <a:ext uri="{FF2B5EF4-FFF2-40B4-BE49-F238E27FC236}">
                <a16:creationId xmlns:a16="http://schemas.microsoft.com/office/drawing/2014/main" id="{B0F5FE1F-2ACB-407F-868C-B9A133C8CE01}"/>
              </a:ext>
            </a:extLst>
          </p:cNvPr>
          <p:cNvSpPr>
            <a:spLocks xmlns:a="http://schemas.openxmlformats.org/drawingml/2006/main" noGrp="1"/>
          </p:cNvSpPr>
          <p:nvPr/>
        </p:nvSpPr>
        <p:spPr>
          <a:xfrm xmlns:a="http://schemas.openxmlformats.org/drawingml/2006/main">
            <a:off x="8439150" y="4191000"/>
            <a:ext cx="3143250" cy="1028700"/>
          </a:xfrm>
          <a:prstGeom xmlns:a="http://schemas.openxmlformats.org/drawingml/2006/main" prst="roundRect">
            <a:avLst>
              <a:gd name="adj" fmla="val 22222"/>
            </a:avLst>
          </a:prstGeom>
          <a:solidFill xmlns:a="http://schemas.openxmlformats.org/drawingml/2006/main">
            <a:srgbClr val="EEF1F7"/>
          </a:solidFill>
          <a:ln xmlns:a="http://schemas.openxmlformats.org/drawingml/2006/main" w="9525">
            <a:solidFill>
              <a:srgbClr val="DCE2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7A3FA341-33A4-40EA-B1C1-7617F291CFD4}"/>
              </a:ext>
            </a:extLst>
          </p:cNvPr>
          <p:cNvSpPr>
            <a:spLocks xmlns:a="http://schemas.openxmlformats.org/drawingml/2006/main" noGrp="1"/>
          </p:cNvSpPr>
          <p:nvPr/>
        </p:nvSpPr>
        <p:spPr>
          <a:xfrm xmlns:a="http://schemas.openxmlformats.org/drawingml/2006/main">
            <a:off x="8648700" y="440055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0B1836"/>
                </a:solidFill>
              </a:defRPr>
            </a:pPr>
            <a:r>
              <a:rPr sz="1125" b="1">
                <a:solidFill>
                  <a:srgbClr val="0B1836"/>
                </a:solidFill>
              </a:rPr>
              <a:t>MANAGEMENT</a:t>
            </a:r>
          </a:p>
        </p:txBody>
      </p:sp>
      <p:sp>
        <p:nvSpPr>
          <p:cNvPr id="22" name="">
            <a:extLst xmlns:a="http://schemas.openxmlformats.org/drawingml/2006/main">
              <a:ext uri="{FF2B5EF4-FFF2-40B4-BE49-F238E27FC236}">
                <a16:creationId xmlns:a16="http://schemas.microsoft.com/office/drawing/2014/main" id="{90746861-CAE0-4BA4-B544-961064982F71}"/>
              </a:ext>
            </a:extLst>
          </p:cNvPr>
          <p:cNvSpPr>
            <a:spLocks xmlns:a="http://schemas.openxmlformats.org/drawingml/2006/main" noGrp="1"/>
          </p:cNvSpPr>
          <p:nvPr/>
        </p:nvSpPr>
        <p:spPr>
          <a:xfrm xmlns:a="http://schemas.openxmlformats.org/drawingml/2006/main">
            <a:off x="8648700" y="4743450"/>
            <a:ext cx="2724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807"/>
          </a:bodyPr>
          <a:lstStyle xmlns:a="http://schemas.openxmlformats.org/drawingml/2006/main"/>
          <a:p xmlns:a="http://schemas.openxmlformats.org/drawingml/2006/main">
            <a:pPr algn="l">
              <a:lnSpc>
                <a:spcPct val="108000"/>
              </a:lnSpc>
              <a:buNone/>
              <a:defRPr sz="1500" b="1">
                <a:solidFill>
                  <a:srgbClr val="18223B"/>
                </a:solidFill>
              </a:defRPr>
            </a:pPr>
            <a:r>
              <a:rPr sz="1500" b="1">
                <a:solidFill>
                  <a:srgbClr val="18223B"/>
                </a:solidFill>
              </a:rPr>
              <a:t>Live redemption count + partner catalogue</a:t>
            </a:r>
          </a:p>
        </p:txBody>
      </p:sp>
      <p:sp>
        <p:nvSpPr>
          <p:cNvPr id="23" name="">
            <a:extLst xmlns:a="http://schemas.openxmlformats.org/drawingml/2006/main">
              <a:ext uri="{FF2B5EF4-FFF2-40B4-BE49-F238E27FC236}">
                <a16:creationId xmlns:a16="http://schemas.microsoft.com/office/drawing/2014/main" id="{390CB617-D30E-4850-966E-1049B688E0AA}"/>
              </a:ext>
            </a:extLst>
          </p:cNvPr>
          <p:cNvSpPr>
            <a:spLocks xmlns:a="http://schemas.openxmlformats.org/drawingml/2006/main" noGrp="1"/>
          </p:cNvSpPr>
          <p:nvPr/>
        </p:nvSpPr>
        <p:spPr>
          <a:xfrm xmlns:a="http://schemas.openxmlformats.org/drawingml/2006/main">
            <a:off x="609600" y="5600700"/>
            <a:ext cx="10972800" cy="628650"/>
          </a:xfrm>
          <a:prstGeom xmlns:a="http://schemas.openxmlformats.org/drawingml/2006/main" prst="roundRect">
            <a:avLst>
              <a:gd name="adj" fmla="val 18182"/>
            </a:avLst>
          </a:prstGeom>
          <a:solidFill xmlns:a="http://schemas.openxmlformats.org/drawingml/2006/main">
            <a:srgbClr val="0B183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91F17AD-D0BA-4C56-9AC6-B3F8ADE58FA5}"/>
              </a:ext>
            </a:extLst>
          </p:cNvPr>
          <p:cNvSpPr>
            <a:spLocks xmlns:a="http://schemas.openxmlformats.org/drawingml/2006/main" noGrp="1"/>
          </p:cNvSpPr>
          <p:nvPr/>
        </p:nvSpPr>
        <p:spPr>
          <a:xfrm xmlns:a="http://schemas.openxmlformats.org/drawingml/2006/main">
            <a:off x="876300" y="5791200"/>
            <a:ext cx="1043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575" b="1">
                <a:solidFill>
                  <a:srgbClr val="FFFFFF"/>
                </a:solidFill>
              </a:defRPr>
            </a:pPr>
            <a:r>
              <a:rPr sz="1575" b="1">
                <a:solidFill>
                  <a:srgbClr val="FFFFFF"/>
                </a:solidFill>
              </a:rPr>
              <a:t>Seamless integration means one action produces consistent state everywhere — without copying or faking the result.</a:t>
            </a:r>
          </a:p>
        </p:txBody>
      </p:sp>
      <p:sp>
        <p:nvSpPr>
          <p:cNvPr id="25" name="">
            <a:extLst xmlns:a="http://schemas.openxmlformats.org/drawingml/2006/main">
              <a:ext uri="{FF2B5EF4-FFF2-40B4-BE49-F238E27FC236}">
                <a16:creationId xmlns:a16="http://schemas.microsoft.com/office/drawing/2014/main" id="{97422DAD-F325-4897-84A7-B8635DEB0485}"/>
              </a:ext>
            </a:extLst>
          </p:cNvPr>
          <p:cNvSpPr>
            <a:spLocks xmlns:a="http://schemas.openxmlformats.org/drawingml/2006/main" noGrp="1"/>
          </p:cNvSpPr>
          <p:nvPr/>
        </p:nvSpPr>
        <p:spPr>
          <a:xfrm xmlns:a="http://schemas.openxmlformats.org/drawingml/2006/main">
            <a:off x="609600" y="6515100"/>
            <a:ext cx="10972800" cy="19050"/>
          </a:xfrm>
          <a:prstGeom xmlns:a="http://schemas.openxmlformats.org/drawingml/2006/main" prst="rect">
            <a:avLst/>
          </a:prstGeom>
          <a:solidFill xmlns:a="http://schemas.openxmlformats.org/drawingml/2006/main">
            <a:srgbClr val="DCE2E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7A3459B-2E06-4881-864E-B75645104868}"/>
              </a:ext>
            </a:extLst>
          </p:cNvPr>
          <p:cNvSpPr>
            <a:spLocks xmlns:a="http://schemas.openxmlformats.org/drawingml/2006/main" noGrp="1"/>
          </p:cNvSpPr>
          <p:nvPr/>
        </p:nvSpPr>
        <p:spPr>
          <a:xfrm xmlns:a="http://schemas.openxmlformats.org/drawingml/2006/main">
            <a:off x="609600" y="6515100"/>
            <a:ext cx="8782050" cy="19050"/>
          </a:xfrm>
          <a:prstGeom xmlns:a="http://schemas.openxmlformats.org/drawingml/2006/main" prst="rect">
            <a:avLst/>
          </a:prstGeom>
          <a:solidFill xmlns:a="http://schemas.openxmlformats.org/drawingml/2006/main">
            <a:srgbClr val="2D8C7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F00B516-5DBD-49E1-86B8-95D82D292F43}"/>
              </a:ext>
            </a:extLst>
          </p:cNvPr>
          <p:cNvSpPr>
            <a:spLocks xmlns:a="http://schemas.openxmlformats.org/drawingml/2006/main" noGrp="1"/>
          </p:cNvSpPr>
          <p:nvPr/>
        </p:nvSpPr>
        <p:spPr>
          <a:xfrm xmlns:a="http://schemas.openxmlformats.org/drawingml/2006/main">
            <a:off x="609600" y="6610350"/>
            <a:ext cx="2286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8A94A8"/>
                </a:solidFill>
              </a:defRPr>
            </a:pPr>
            <a:r>
              <a:rPr sz="750" b="1">
                <a:solidFill>
                  <a:srgbClr val="8A94A8"/>
                </a:solidFill>
              </a:rPr>
              <a:t>XP REWARDS STORE</a:t>
            </a:r>
          </a:p>
        </p:txBody>
      </p:sp>
      <p:sp>
        <p:nvSpPr>
          <p:cNvPr id="28" name="">
            <a:extLst xmlns:a="http://schemas.openxmlformats.org/drawingml/2006/main">
              <a:ext uri="{FF2B5EF4-FFF2-40B4-BE49-F238E27FC236}">
                <a16:creationId xmlns:a16="http://schemas.microsoft.com/office/drawing/2014/main" id="{9D93AA63-4ED3-4741-9E52-2836138BC58F}"/>
              </a:ext>
            </a:extLst>
          </p:cNvPr>
          <p:cNvSpPr>
            <a:spLocks xmlns:a="http://schemas.openxmlformats.org/drawingml/2006/main" noGrp="1"/>
          </p:cNvSpPr>
          <p:nvPr/>
        </p:nvSpPr>
        <p:spPr>
          <a:xfrm xmlns:a="http://schemas.openxmlformats.org/drawingml/2006/main">
            <a:off x="10810875" y="6610350"/>
            <a:ext cx="7715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8A94A8"/>
                </a:solidFill>
              </a:defRPr>
            </a:pPr>
            <a:r>
              <a:rPr sz="750" b="1">
                <a:solidFill>
                  <a:srgbClr val="8A94A8"/>
                </a:solidFill>
              </a:rPr>
              <a:t>HADI</a:t>
            </a:r>
          </a:p>
        </p:txBody>
      </p:sp>
    </p:spTree>
    <p:extLst>
      <p:ext uri="{BB962C8B-B14F-4D97-AF65-F5344CB8AC3E}">
        <p14:creationId xmlns:p14="http://schemas.microsoft.com/office/powerpoint/2010/main" val="234145200"/>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012DB45-854C-4CD0-B8B6-DF9010C0C498}"/>
              </a:ext>
            </a:extLst>
          </p:cNvPr>
          <p:cNvSpPr>
            <a:spLocks xmlns:a="http://schemas.openxmlformats.org/drawingml/2006/main" noGrp="1"/>
          </p:cNvSpPr>
          <p:nvPr/>
        </p:nvSpPr>
        <p:spPr>
          <a:xfrm xmlns:a="http://schemas.openxmlformats.org/drawingml/2006/main">
            <a:off x="609600" y="3238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5267F8"/>
                </a:solidFill>
              </a:defRPr>
            </a:pPr>
            <a:r>
              <a:rPr sz="1050" b="1">
                <a:solidFill>
                  <a:srgbClr val="5267F8"/>
                </a:solidFill>
              </a:rPr>
              <a:t>EVIDENCE OF QUALITY</a:t>
            </a:r>
          </a:p>
        </p:txBody>
      </p:sp>
      <p:sp>
        <p:nvSpPr>
          <p:cNvPr id="2" name="">
            <a:extLst xmlns:a="http://schemas.openxmlformats.org/drawingml/2006/main">
              <a:ext uri="{FF2B5EF4-FFF2-40B4-BE49-F238E27FC236}">
                <a16:creationId xmlns:a16="http://schemas.microsoft.com/office/drawing/2014/main" id="{9823F41F-1B87-410E-B978-AC53605637F9}"/>
              </a:ext>
            </a:extLst>
          </p:cNvPr>
          <p:cNvSpPr>
            <a:spLocks xmlns:a="http://schemas.openxmlformats.org/drawingml/2006/main" noGrp="1"/>
          </p:cNvSpPr>
          <p:nvPr/>
        </p:nvSpPr>
        <p:spPr>
          <a:xfrm xmlns:a="http://schemas.openxmlformats.org/drawingml/2006/main">
            <a:off x="609600" y="66675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00" b="1">
                <a:solidFill>
                  <a:srgbClr val="18223B"/>
                </a:solidFill>
              </a:defRPr>
            </a:pPr>
            <a:r>
              <a:rPr sz="3600" b="1">
                <a:solidFill>
                  <a:srgbClr val="18223B"/>
                </a:solidFill>
              </a:rPr>
              <a:t>The implementation is demonstrably robust.</a:t>
            </a:r>
          </a:p>
        </p:txBody>
      </p:sp>
      <p:sp>
        <p:nvSpPr>
          <p:cNvPr id="3" name="">
            <a:extLst xmlns:a="http://schemas.openxmlformats.org/drawingml/2006/main">
              <a:ext uri="{FF2B5EF4-FFF2-40B4-BE49-F238E27FC236}">
                <a16:creationId xmlns:a16="http://schemas.microsoft.com/office/drawing/2014/main" id="{F694DAC3-D542-4C77-B203-755FDE9BDB4C}"/>
              </a:ext>
            </a:extLst>
          </p:cNvPr>
          <p:cNvSpPr>
            <a:spLocks xmlns:a="http://schemas.openxmlformats.org/drawingml/2006/main" noGrp="1"/>
          </p:cNvSpPr>
          <p:nvPr/>
        </p:nvSpPr>
        <p:spPr>
          <a:xfrm xmlns:a="http://schemas.openxmlformats.org/drawingml/2006/main">
            <a:off x="11239500" y="3619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647089"/>
                </a:solidFill>
              </a:defRPr>
            </a:pPr>
            <a:r>
              <a:rPr sz="1050" b="1">
                <a:solidFill>
                  <a:srgbClr val="647089"/>
                </a:solidFill>
              </a:rPr>
              <a:t>09</a:t>
            </a:r>
          </a:p>
        </p:txBody>
      </p:sp>
      <p:sp>
        <p:nvSpPr>
          <p:cNvPr id="4" name="">
            <a:extLst xmlns:a="http://schemas.openxmlformats.org/drawingml/2006/main">
              <a:ext uri="{FF2B5EF4-FFF2-40B4-BE49-F238E27FC236}">
                <a16:creationId xmlns:a16="http://schemas.microsoft.com/office/drawing/2014/main" id="{4B3EC3D5-2936-4ED8-9FAB-ABB9964F1469}"/>
              </a:ext>
            </a:extLst>
          </p:cNvPr>
          <p:cNvSpPr>
            <a:spLocks xmlns:a="http://schemas.openxmlformats.org/drawingml/2006/main" noGrp="1"/>
          </p:cNvSpPr>
          <p:nvPr/>
        </p:nvSpPr>
        <p:spPr>
          <a:xfrm xmlns:a="http://schemas.openxmlformats.org/drawingml/2006/main">
            <a:off x="609600" y="13525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717"/>
          </a:bodyPr>
          <a:lstStyle xmlns:a="http://schemas.openxmlformats.org/drawingml/2006/main"/>
          <a:p xmlns:a="http://schemas.openxmlformats.org/drawingml/2006/main">
            <a:pPr algn="l">
              <a:lnSpc>
                <a:spcPct val="105000"/>
              </a:lnSpc>
              <a:buNone/>
              <a:defRPr sz="1725" b="0">
                <a:solidFill>
                  <a:srgbClr val="647089"/>
                </a:solidFill>
              </a:defRPr>
            </a:pPr>
            <a:r>
              <a:rPr sz="1725" b="0">
                <a:solidFill>
                  <a:srgbClr val="647089"/>
                </a:solidFill>
              </a:rPr>
              <a:t>Quality is shown through build evidence, authored user-journey tests, and a browser-verified end-to-end redemption — not only through screenshots.</a:t>
            </a:r>
          </a:p>
        </p:txBody>
      </p:sp>
      <p:sp>
        <p:nvSpPr>
          <p:cNvPr id="5" name="">
            <a:extLst xmlns:a="http://schemas.openxmlformats.org/drawingml/2006/main">
              <a:ext uri="{FF2B5EF4-FFF2-40B4-BE49-F238E27FC236}">
                <a16:creationId xmlns:a16="http://schemas.microsoft.com/office/drawing/2014/main" id="{91B8B1EF-B7D9-4B93-8D04-8FD864DE7707}"/>
              </a:ext>
            </a:extLst>
          </p:cNvPr>
          <p:cNvSpPr>
            <a:spLocks xmlns:a="http://schemas.openxmlformats.org/drawingml/2006/main" noGrp="1"/>
          </p:cNvSpPr>
          <p:nvPr/>
        </p:nvSpPr>
        <p:spPr>
          <a:xfrm xmlns:a="http://schemas.openxmlformats.org/drawingml/2006/main">
            <a:off x="609600" y="224790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606"/>
          </a:bodyPr>
          <a:lstStyle xmlns:a="http://schemas.openxmlformats.org/drawingml/2006/main"/>
          <a:p xmlns:a="http://schemas.openxmlformats.org/drawingml/2006/main">
            <a:pPr algn="ctr">
              <a:lnSpc>
                <a:spcPct val="105000"/>
              </a:lnSpc>
              <a:buNone/>
              <a:defRPr sz="4650" b="1">
                <a:solidFill>
                  <a:srgbClr val="2D8C70"/>
                </a:solidFill>
              </a:defRPr>
            </a:pPr>
            <a:r>
              <a:rPr sz="4650" b="1">
                <a:solidFill>
                  <a:srgbClr val="2D8C70"/>
                </a:solidFill>
              </a:rPr>
              <a:t>✓</a:t>
            </a:r>
          </a:p>
        </p:txBody>
      </p:sp>
      <p:sp>
        <p:nvSpPr>
          <p:cNvPr id="6" name="">
            <a:extLst xmlns:a="http://schemas.openxmlformats.org/drawingml/2006/main">
              <a:ext uri="{FF2B5EF4-FFF2-40B4-BE49-F238E27FC236}">
                <a16:creationId xmlns:a16="http://schemas.microsoft.com/office/drawing/2014/main" id="{628CA7A3-DDDA-4AA9-A2B7-BAF82D7C406C}"/>
              </a:ext>
            </a:extLst>
          </p:cNvPr>
          <p:cNvSpPr>
            <a:spLocks xmlns:a="http://schemas.openxmlformats.org/drawingml/2006/main" noGrp="1"/>
          </p:cNvSpPr>
          <p:nvPr/>
        </p:nvSpPr>
        <p:spPr>
          <a:xfrm xmlns:a="http://schemas.openxmlformats.org/drawingml/2006/main">
            <a:off x="609600" y="29908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647089"/>
                </a:solidFill>
              </a:defRPr>
            </a:pPr>
            <a:r>
              <a:rPr sz="1050" b="1">
                <a:solidFill>
                  <a:srgbClr val="647089"/>
                </a:solidFill>
              </a:rPr>
              <a:t>TYPECHECK</a:t>
            </a:r>
          </a:p>
        </p:txBody>
      </p:sp>
      <p:sp>
        <p:nvSpPr>
          <p:cNvPr id="7" name="">
            <a:extLst xmlns:a="http://schemas.openxmlformats.org/drawingml/2006/main">
              <a:ext uri="{FF2B5EF4-FFF2-40B4-BE49-F238E27FC236}">
                <a16:creationId xmlns:a16="http://schemas.microsoft.com/office/drawing/2014/main" id="{858B3BBB-5ED8-4E85-BEFE-810A4508061F}"/>
              </a:ext>
            </a:extLst>
          </p:cNvPr>
          <p:cNvSpPr>
            <a:spLocks xmlns:a="http://schemas.openxmlformats.org/drawingml/2006/main" noGrp="1"/>
          </p:cNvSpPr>
          <p:nvPr/>
        </p:nvSpPr>
        <p:spPr>
          <a:xfrm xmlns:a="http://schemas.openxmlformats.org/drawingml/2006/main">
            <a:off x="609600" y="32575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1">
                <a:solidFill>
                  <a:srgbClr val="18223B"/>
                </a:solidFill>
              </a:defRPr>
            </a:pPr>
            <a:r>
              <a:rPr sz="1350" b="1">
                <a:solidFill>
                  <a:srgbClr val="18223B"/>
                </a:solidFill>
              </a:rPr>
              <a:t>passed</a:t>
            </a:r>
          </a:p>
        </p:txBody>
      </p:sp>
      <p:sp>
        <p:nvSpPr>
          <p:cNvPr id="8" name="">
            <a:extLst xmlns:a="http://schemas.openxmlformats.org/drawingml/2006/main">
              <a:ext uri="{FF2B5EF4-FFF2-40B4-BE49-F238E27FC236}">
                <a16:creationId xmlns:a16="http://schemas.microsoft.com/office/drawing/2014/main" id="{F1121C20-18E8-47DA-B884-A0AF7946DEDE}"/>
              </a:ext>
            </a:extLst>
          </p:cNvPr>
          <p:cNvSpPr>
            <a:spLocks xmlns:a="http://schemas.openxmlformats.org/drawingml/2006/main" noGrp="1"/>
          </p:cNvSpPr>
          <p:nvPr/>
        </p:nvSpPr>
        <p:spPr>
          <a:xfrm xmlns:a="http://schemas.openxmlformats.org/drawingml/2006/main">
            <a:off x="3352800" y="224790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606"/>
          </a:bodyPr>
          <a:lstStyle xmlns:a="http://schemas.openxmlformats.org/drawingml/2006/main"/>
          <a:p xmlns:a="http://schemas.openxmlformats.org/drawingml/2006/main">
            <a:pPr algn="ctr">
              <a:lnSpc>
                <a:spcPct val="105000"/>
              </a:lnSpc>
              <a:buNone/>
              <a:defRPr sz="4650" b="1">
                <a:solidFill>
                  <a:srgbClr val="5267F8"/>
                </a:solidFill>
              </a:defRPr>
            </a:pPr>
            <a:r>
              <a:rPr sz="4650" b="1">
                <a:solidFill>
                  <a:srgbClr val="5267F8"/>
                </a:solidFill>
              </a:rPr>
              <a:t>19</a:t>
            </a:r>
          </a:p>
        </p:txBody>
      </p:sp>
      <p:sp>
        <p:nvSpPr>
          <p:cNvPr id="9" name="">
            <a:extLst xmlns:a="http://schemas.openxmlformats.org/drawingml/2006/main">
              <a:ext uri="{FF2B5EF4-FFF2-40B4-BE49-F238E27FC236}">
                <a16:creationId xmlns:a16="http://schemas.microsoft.com/office/drawing/2014/main" id="{A4F5D7C3-0D19-4D2E-A3B7-A262ECF1CCCA}"/>
              </a:ext>
            </a:extLst>
          </p:cNvPr>
          <p:cNvSpPr>
            <a:spLocks xmlns:a="http://schemas.openxmlformats.org/drawingml/2006/main" noGrp="1"/>
          </p:cNvSpPr>
          <p:nvPr/>
        </p:nvSpPr>
        <p:spPr>
          <a:xfrm xmlns:a="http://schemas.openxmlformats.org/drawingml/2006/main">
            <a:off x="3352800" y="29908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647089"/>
                </a:solidFill>
              </a:defRPr>
            </a:pPr>
            <a:r>
              <a:rPr sz="1050" b="1">
                <a:solidFill>
                  <a:srgbClr val="647089"/>
                </a:solidFill>
              </a:rPr>
              <a:t>REGRESSION TESTS</a:t>
            </a:r>
          </a:p>
        </p:txBody>
      </p:sp>
      <p:sp>
        <p:nvSpPr>
          <p:cNvPr id="10" name="">
            <a:extLst xmlns:a="http://schemas.openxmlformats.org/drawingml/2006/main">
              <a:ext uri="{FF2B5EF4-FFF2-40B4-BE49-F238E27FC236}">
                <a16:creationId xmlns:a16="http://schemas.microsoft.com/office/drawing/2014/main" id="{43514EC5-36E2-457E-9C1A-6319B37D46BA}"/>
              </a:ext>
            </a:extLst>
          </p:cNvPr>
          <p:cNvSpPr>
            <a:spLocks xmlns:a="http://schemas.openxmlformats.org/drawingml/2006/main" noGrp="1"/>
          </p:cNvSpPr>
          <p:nvPr/>
        </p:nvSpPr>
        <p:spPr>
          <a:xfrm xmlns:a="http://schemas.openxmlformats.org/drawingml/2006/main">
            <a:off x="3352800" y="32575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1">
                <a:solidFill>
                  <a:srgbClr val="18223B"/>
                </a:solidFill>
              </a:defRPr>
            </a:pPr>
            <a:r>
              <a:rPr sz="1350" b="1">
                <a:solidFill>
                  <a:srgbClr val="18223B"/>
                </a:solidFill>
              </a:rPr>
              <a:t>passed</a:t>
            </a:r>
          </a:p>
        </p:txBody>
      </p:sp>
      <p:sp>
        <p:nvSpPr>
          <p:cNvPr id="11" name="">
            <a:extLst xmlns:a="http://schemas.openxmlformats.org/drawingml/2006/main">
              <a:ext uri="{FF2B5EF4-FFF2-40B4-BE49-F238E27FC236}">
                <a16:creationId xmlns:a16="http://schemas.microsoft.com/office/drawing/2014/main" id="{0B1BDA9D-638A-487F-83B9-CCFB4D681907}"/>
              </a:ext>
            </a:extLst>
          </p:cNvPr>
          <p:cNvSpPr>
            <a:spLocks xmlns:a="http://schemas.openxmlformats.org/drawingml/2006/main" noGrp="1"/>
          </p:cNvSpPr>
          <p:nvPr/>
        </p:nvSpPr>
        <p:spPr>
          <a:xfrm xmlns:a="http://schemas.openxmlformats.org/drawingml/2006/main">
            <a:off x="6096000" y="224790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606"/>
          </a:bodyPr>
          <a:lstStyle xmlns:a="http://schemas.openxmlformats.org/drawingml/2006/main"/>
          <a:p xmlns:a="http://schemas.openxmlformats.org/drawingml/2006/main">
            <a:pPr algn="ctr">
              <a:lnSpc>
                <a:spcPct val="105000"/>
              </a:lnSpc>
              <a:buNone/>
              <a:defRPr sz="4650" b="1">
                <a:solidFill>
                  <a:srgbClr val="2D8C70"/>
                </a:solidFill>
              </a:defRPr>
            </a:pPr>
            <a:r>
              <a:rPr sz="4650" b="1">
                <a:solidFill>
                  <a:srgbClr val="2D8C70"/>
                </a:solidFill>
              </a:rPr>
              <a:t>✓</a:t>
            </a:r>
          </a:p>
        </p:txBody>
      </p:sp>
      <p:sp>
        <p:nvSpPr>
          <p:cNvPr id="12" name="">
            <a:extLst xmlns:a="http://schemas.openxmlformats.org/drawingml/2006/main">
              <a:ext uri="{FF2B5EF4-FFF2-40B4-BE49-F238E27FC236}">
                <a16:creationId xmlns:a16="http://schemas.microsoft.com/office/drawing/2014/main" id="{068413A5-93C5-408B-A9F0-4D73C49778F8}"/>
              </a:ext>
            </a:extLst>
          </p:cNvPr>
          <p:cNvSpPr>
            <a:spLocks xmlns:a="http://schemas.openxmlformats.org/drawingml/2006/main" noGrp="1"/>
          </p:cNvSpPr>
          <p:nvPr/>
        </p:nvSpPr>
        <p:spPr>
          <a:xfrm xmlns:a="http://schemas.openxmlformats.org/drawingml/2006/main">
            <a:off x="6096000" y="29908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647089"/>
                </a:solidFill>
              </a:defRPr>
            </a:pPr>
            <a:r>
              <a:rPr sz="1050" b="1">
                <a:solidFill>
                  <a:srgbClr val="647089"/>
                </a:solidFill>
              </a:rPr>
              <a:t>PRODUCTION BUILD</a:t>
            </a:r>
          </a:p>
        </p:txBody>
      </p:sp>
      <p:sp>
        <p:nvSpPr>
          <p:cNvPr id="13" name="">
            <a:extLst xmlns:a="http://schemas.openxmlformats.org/drawingml/2006/main">
              <a:ext uri="{FF2B5EF4-FFF2-40B4-BE49-F238E27FC236}">
                <a16:creationId xmlns:a16="http://schemas.microsoft.com/office/drawing/2014/main" id="{932938DF-9F51-4854-A072-FF37B01C52EA}"/>
              </a:ext>
            </a:extLst>
          </p:cNvPr>
          <p:cNvSpPr>
            <a:spLocks xmlns:a="http://schemas.openxmlformats.org/drawingml/2006/main" noGrp="1"/>
          </p:cNvSpPr>
          <p:nvPr/>
        </p:nvSpPr>
        <p:spPr>
          <a:xfrm xmlns:a="http://schemas.openxmlformats.org/drawingml/2006/main">
            <a:off x="6096000" y="32575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1">
                <a:solidFill>
                  <a:srgbClr val="18223B"/>
                </a:solidFill>
              </a:defRPr>
            </a:pPr>
            <a:r>
              <a:rPr sz="1350" b="1">
                <a:solidFill>
                  <a:srgbClr val="18223B"/>
                </a:solidFill>
              </a:rPr>
              <a:t>passed</a:t>
            </a:r>
          </a:p>
        </p:txBody>
      </p:sp>
      <p:sp>
        <p:nvSpPr>
          <p:cNvPr id="14" name="">
            <a:extLst xmlns:a="http://schemas.openxmlformats.org/drawingml/2006/main">
              <a:ext uri="{FF2B5EF4-FFF2-40B4-BE49-F238E27FC236}">
                <a16:creationId xmlns:a16="http://schemas.microsoft.com/office/drawing/2014/main" id="{17E02BDA-BD49-4DE3-9695-ACC6441ADD56}"/>
              </a:ext>
            </a:extLst>
          </p:cNvPr>
          <p:cNvSpPr>
            <a:spLocks xmlns:a="http://schemas.openxmlformats.org/drawingml/2006/main" noGrp="1"/>
          </p:cNvSpPr>
          <p:nvPr/>
        </p:nvSpPr>
        <p:spPr>
          <a:xfrm xmlns:a="http://schemas.openxmlformats.org/drawingml/2006/main">
            <a:off x="8839200" y="224790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606"/>
          </a:bodyPr>
          <a:lstStyle xmlns:a="http://schemas.openxmlformats.org/drawingml/2006/main"/>
          <a:p xmlns:a="http://schemas.openxmlformats.org/drawingml/2006/main">
            <a:pPr algn="ctr">
              <a:lnSpc>
                <a:spcPct val="105000"/>
              </a:lnSpc>
              <a:buNone/>
              <a:defRPr sz="4650" b="1">
                <a:solidFill>
                  <a:srgbClr val="FF3347"/>
                </a:solidFill>
              </a:defRPr>
            </a:pPr>
            <a:r>
              <a:rPr sz="4650" b="1">
                <a:solidFill>
                  <a:srgbClr val="FF3347"/>
                </a:solidFill>
              </a:rPr>
              <a:t>0</a:t>
            </a:r>
          </a:p>
        </p:txBody>
      </p:sp>
      <p:sp>
        <p:nvSpPr>
          <p:cNvPr id="15" name="">
            <a:extLst xmlns:a="http://schemas.openxmlformats.org/drawingml/2006/main">
              <a:ext uri="{FF2B5EF4-FFF2-40B4-BE49-F238E27FC236}">
                <a16:creationId xmlns:a16="http://schemas.microsoft.com/office/drawing/2014/main" id="{2711E94E-56D0-4E4A-910B-B6371334D4E7}"/>
              </a:ext>
            </a:extLst>
          </p:cNvPr>
          <p:cNvSpPr>
            <a:spLocks xmlns:a="http://schemas.openxmlformats.org/drawingml/2006/main" noGrp="1"/>
          </p:cNvSpPr>
          <p:nvPr/>
        </p:nvSpPr>
        <p:spPr>
          <a:xfrm xmlns:a="http://schemas.openxmlformats.org/drawingml/2006/main">
            <a:off x="8839200" y="2990850"/>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647089"/>
                </a:solidFill>
              </a:defRPr>
            </a:pPr>
            <a:r>
              <a:rPr sz="1050" b="1">
                <a:solidFill>
                  <a:srgbClr val="647089"/>
                </a:solidFill>
              </a:rPr>
              <a:t>BROWSER ERRORS</a:t>
            </a:r>
          </a:p>
        </p:txBody>
      </p:sp>
      <p:sp>
        <p:nvSpPr>
          <p:cNvPr id="16" name="">
            <a:extLst xmlns:a="http://schemas.openxmlformats.org/drawingml/2006/main">
              <a:ext uri="{FF2B5EF4-FFF2-40B4-BE49-F238E27FC236}">
                <a16:creationId xmlns:a16="http://schemas.microsoft.com/office/drawing/2014/main" id="{BAA2D9C6-0442-4FE1-AD45-870564D13B46}"/>
              </a:ext>
            </a:extLst>
          </p:cNvPr>
          <p:cNvSpPr>
            <a:spLocks xmlns:a="http://schemas.openxmlformats.org/drawingml/2006/main" noGrp="1"/>
          </p:cNvSpPr>
          <p:nvPr/>
        </p:nvSpPr>
        <p:spPr>
          <a:xfrm xmlns:a="http://schemas.openxmlformats.org/drawingml/2006/main">
            <a:off x="8839200" y="32575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1">
                <a:solidFill>
                  <a:srgbClr val="18223B"/>
                </a:solidFill>
              </a:defRPr>
            </a:pPr>
            <a:r>
              <a:rPr sz="1350" b="1">
                <a:solidFill>
                  <a:srgbClr val="18223B"/>
                </a:solidFill>
              </a:rPr>
              <a:t>during reward journey</a:t>
            </a:r>
          </a:p>
        </p:txBody>
      </p:sp>
      <p:sp>
        <p:nvSpPr>
          <p:cNvPr id="17" name="">
            <a:extLst xmlns:a="http://schemas.openxmlformats.org/drawingml/2006/main">
              <a:ext uri="{FF2B5EF4-FFF2-40B4-BE49-F238E27FC236}">
                <a16:creationId xmlns:a16="http://schemas.microsoft.com/office/drawing/2014/main" id="{6D3132D1-13D0-45ED-902B-DA02905FFF4D}"/>
              </a:ext>
            </a:extLst>
          </p:cNvPr>
          <p:cNvSpPr>
            <a:spLocks xmlns:a="http://schemas.openxmlformats.org/drawingml/2006/main" noGrp="1"/>
          </p:cNvSpPr>
          <p:nvPr/>
        </p:nvSpPr>
        <p:spPr>
          <a:xfrm xmlns:a="http://schemas.openxmlformats.org/drawingml/2006/main">
            <a:off x="609600" y="3867150"/>
            <a:ext cx="10972800" cy="1809750"/>
          </a:xfrm>
          <a:prstGeom xmlns:a="http://schemas.openxmlformats.org/drawingml/2006/main" prst="roundRect">
            <a:avLst>
              <a:gd name="adj" fmla="val 12632"/>
            </a:avLst>
          </a:prstGeom>
          <a:solidFill xmlns:a="http://schemas.openxmlformats.org/drawingml/2006/main">
            <a:srgbClr val="FFFFFF"/>
          </a:solidFill>
          <a:ln xmlns:a="http://schemas.openxmlformats.org/drawingml/2006/main" w="9525">
            <a:solidFill>
              <a:srgbClr val="DCE2E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B1D6BDC1-7F2F-48C1-9C6D-9B9FDC271DFE}"/>
              </a:ext>
            </a:extLst>
          </p:cNvPr>
          <p:cNvSpPr>
            <a:spLocks xmlns:a="http://schemas.openxmlformats.org/drawingml/2006/main" noGrp="1"/>
          </p:cNvSpPr>
          <p:nvPr/>
        </p:nvSpPr>
        <p:spPr>
          <a:xfrm xmlns:a="http://schemas.openxmlformats.org/drawingml/2006/main">
            <a:off x="876300" y="4095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lnSpc>
                <a:spcPct val="105000"/>
              </a:lnSpc>
              <a:buNone/>
              <a:defRPr sz="1800" b="1">
                <a:solidFill>
                  <a:srgbClr val="18223B"/>
                </a:solidFill>
              </a:defRPr>
            </a:pPr>
            <a:r>
              <a:rPr sz="1800" b="1">
                <a:solidFill>
                  <a:srgbClr val="18223B"/>
                </a:solidFill>
              </a:rPr>
              <a:t>Focused end-to-end scenarios authored</a:t>
            </a:r>
          </a:p>
        </p:txBody>
      </p:sp>
      <p:sp>
        <p:nvSpPr>
          <p:cNvPr id="19" name="">
            <a:extLst xmlns:a="http://schemas.openxmlformats.org/drawingml/2006/main">
              <a:ext uri="{FF2B5EF4-FFF2-40B4-BE49-F238E27FC236}">
                <a16:creationId xmlns:a16="http://schemas.microsoft.com/office/drawing/2014/main" id="{072DE31E-44D3-4F8B-9D53-5B1DB519738C}"/>
              </a:ext>
            </a:extLst>
          </p:cNvPr>
          <p:cNvSpPr>
            <a:spLocks xmlns:a="http://schemas.openxmlformats.org/drawingml/2006/main" noGrp="1"/>
          </p:cNvSpPr>
          <p:nvPr/>
        </p:nvSpPr>
        <p:spPr>
          <a:xfrm xmlns:a="http://schemas.openxmlformats.org/drawingml/2006/main">
            <a:off x="914400" y="4533900"/>
            <a:ext cx="266700" cy="266700"/>
          </a:xfrm>
          <a:prstGeom xmlns:a="http://schemas.openxmlformats.org/drawingml/2006/main" prst="ellipse">
            <a:avLst/>
          </a:prstGeom>
          <a:solidFill xmlns:a="http://schemas.openxmlformats.org/drawingml/2006/main">
            <a:srgbClr val="5267F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C55C823-8D1E-45AB-B9D7-E74DABC64E7E}"/>
              </a:ext>
            </a:extLst>
          </p:cNvPr>
          <p:cNvSpPr>
            <a:spLocks xmlns:a="http://schemas.openxmlformats.org/drawingml/2006/main" noGrp="1"/>
          </p:cNvSpPr>
          <p:nvPr/>
        </p:nvSpPr>
        <p:spPr>
          <a:xfrm xmlns:a="http://schemas.openxmlformats.org/drawingml/2006/main">
            <a:off x="914400" y="46005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FFFFFF"/>
                </a:solidFill>
              </a:defRPr>
            </a:pPr>
            <a:r>
              <a:rPr sz="1050" b="1">
                <a:solidFill>
                  <a:srgbClr val="FFFFFF"/>
                </a:solidFill>
              </a:rPr>
              <a:t>01</a:t>
            </a:r>
          </a:p>
        </p:txBody>
      </p:sp>
      <p:sp>
        <p:nvSpPr>
          <p:cNvPr id="21" name="">
            <a:extLst xmlns:a="http://schemas.openxmlformats.org/drawingml/2006/main">
              <a:ext uri="{FF2B5EF4-FFF2-40B4-BE49-F238E27FC236}">
                <a16:creationId xmlns:a16="http://schemas.microsoft.com/office/drawing/2014/main" id="{E95768AB-08DA-434F-8601-3CB0AFCA91E0}"/>
              </a:ext>
            </a:extLst>
          </p:cNvPr>
          <p:cNvSpPr>
            <a:spLocks xmlns:a="http://schemas.openxmlformats.org/drawingml/2006/main" noGrp="1"/>
          </p:cNvSpPr>
          <p:nvPr/>
        </p:nvSpPr>
        <p:spPr>
          <a:xfrm xmlns:a="http://schemas.openxmlformats.org/drawingml/2006/main">
            <a:off x="1314450" y="4552950"/>
            <a:ext cx="581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a:solidFill>
                  <a:srgbClr val="18223B"/>
                </a:solidFill>
              </a:defRPr>
            </a:pPr>
            <a:r>
              <a:rPr sz="1350" b="1">
                <a:solidFill>
                  <a:srgbClr val="18223B"/>
                </a:solidFill>
              </a:rPr>
              <a:t>Cashback → receipt → Applied wallet state → transaction history</a:t>
            </a:r>
          </a:p>
        </p:txBody>
      </p:sp>
      <p:sp>
        <p:nvSpPr>
          <p:cNvPr id="22" name="">
            <a:extLst xmlns:a="http://schemas.openxmlformats.org/drawingml/2006/main">
              <a:ext uri="{FF2B5EF4-FFF2-40B4-BE49-F238E27FC236}">
                <a16:creationId xmlns:a16="http://schemas.microsoft.com/office/drawing/2014/main" id="{A1C69802-83D0-4936-BDA4-AC5355280F3D}"/>
              </a:ext>
            </a:extLst>
          </p:cNvPr>
          <p:cNvSpPr>
            <a:spLocks xmlns:a="http://schemas.openxmlformats.org/drawingml/2006/main" noGrp="1"/>
          </p:cNvSpPr>
          <p:nvPr/>
        </p:nvSpPr>
        <p:spPr>
          <a:xfrm xmlns:a="http://schemas.openxmlformats.org/drawingml/2006/main">
            <a:off x="914400" y="4895850"/>
            <a:ext cx="266700" cy="266700"/>
          </a:xfrm>
          <a:prstGeom xmlns:a="http://schemas.openxmlformats.org/drawingml/2006/main" prst="ellipse">
            <a:avLst/>
          </a:prstGeom>
          <a:solidFill xmlns:a="http://schemas.openxmlformats.org/drawingml/2006/main">
            <a:srgbClr val="2D8C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39B17C5-AB50-4B08-A4DA-4F41B4EDC63D}"/>
              </a:ext>
            </a:extLst>
          </p:cNvPr>
          <p:cNvSpPr>
            <a:spLocks xmlns:a="http://schemas.openxmlformats.org/drawingml/2006/main" noGrp="1"/>
          </p:cNvSpPr>
          <p:nvPr/>
        </p:nvSpPr>
        <p:spPr>
          <a:xfrm xmlns:a="http://schemas.openxmlformats.org/drawingml/2006/main">
            <a:off x="914400" y="496252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FFFFFF"/>
                </a:solidFill>
              </a:defRPr>
            </a:pPr>
            <a:r>
              <a:rPr sz="1050" b="1">
                <a:solidFill>
                  <a:srgbClr val="FFFFFF"/>
                </a:solidFill>
              </a:rPr>
              <a:t>02</a:t>
            </a:r>
          </a:p>
        </p:txBody>
      </p:sp>
      <p:sp>
        <p:nvSpPr>
          <p:cNvPr id="24" name="">
            <a:extLst xmlns:a="http://schemas.openxmlformats.org/drawingml/2006/main">
              <a:ext uri="{FF2B5EF4-FFF2-40B4-BE49-F238E27FC236}">
                <a16:creationId xmlns:a16="http://schemas.microsoft.com/office/drawing/2014/main" id="{3E156E83-01B6-498A-886A-BD32E30BC314}"/>
              </a:ext>
            </a:extLst>
          </p:cNvPr>
          <p:cNvSpPr>
            <a:spLocks xmlns:a="http://schemas.openxmlformats.org/drawingml/2006/main" noGrp="1"/>
          </p:cNvSpPr>
          <p:nvPr/>
        </p:nvSpPr>
        <p:spPr>
          <a:xfrm xmlns:a="http://schemas.openxmlformats.org/drawingml/2006/main">
            <a:off x="1314450" y="4914900"/>
            <a:ext cx="581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a:solidFill>
                  <a:srgbClr val="18223B"/>
                </a:solidFill>
              </a:defRPr>
            </a:pPr>
            <a:r>
              <a:rPr sz="1350" b="1">
                <a:solidFill>
                  <a:srgbClr val="18223B"/>
                </a:solidFill>
              </a:rPr>
              <a:t>Voucher → expiry + terms → single-use state → permanent history</a:t>
            </a:r>
          </a:p>
        </p:txBody>
      </p:sp>
      <p:sp>
        <p:nvSpPr>
          <p:cNvPr id="25" name="">
            <a:extLst xmlns:a="http://schemas.openxmlformats.org/drawingml/2006/main">
              <a:ext uri="{FF2B5EF4-FFF2-40B4-BE49-F238E27FC236}">
                <a16:creationId xmlns:a16="http://schemas.microsoft.com/office/drawing/2014/main" id="{E0F84B09-D2AA-4037-98B2-68EF4F80A54D}"/>
              </a:ext>
            </a:extLst>
          </p:cNvPr>
          <p:cNvSpPr>
            <a:spLocks xmlns:a="http://schemas.openxmlformats.org/drawingml/2006/main" noGrp="1"/>
          </p:cNvSpPr>
          <p:nvPr/>
        </p:nvSpPr>
        <p:spPr>
          <a:xfrm xmlns:a="http://schemas.openxmlformats.org/drawingml/2006/main">
            <a:off x="914400" y="5257800"/>
            <a:ext cx="266700" cy="266700"/>
          </a:xfrm>
          <a:prstGeom xmlns:a="http://schemas.openxmlformats.org/drawingml/2006/main" prst="ellipse">
            <a:avLst/>
          </a:prstGeom>
          <a:solidFill xmlns:a="http://schemas.openxmlformats.org/drawingml/2006/main">
            <a:srgbClr val="FF334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D9B8AA3-BC40-4E91-9624-8078CA7DB7F0}"/>
              </a:ext>
            </a:extLst>
          </p:cNvPr>
          <p:cNvSpPr>
            <a:spLocks xmlns:a="http://schemas.openxmlformats.org/drawingml/2006/main" noGrp="1"/>
          </p:cNvSpPr>
          <p:nvPr/>
        </p:nvSpPr>
        <p:spPr>
          <a:xfrm xmlns:a="http://schemas.openxmlformats.org/drawingml/2006/main">
            <a:off x="914400" y="5324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FFFFFF"/>
                </a:solidFill>
              </a:defRPr>
            </a:pPr>
            <a:r>
              <a:rPr sz="1050" b="1">
                <a:solidFill>
                  <a:srgbClr val="FFFFFF"/>
                </a:solidFill>
              </a:rPr>
              <a:t>03</a:t>
            </a:r>
          </a:p>
        </p:txBody>
      </p:sp>
      <p:sp>
        <p:nvSpPr>
          <p:cNvPr id="27" name="">
            <a:extLst xmlns:a="http://schemas.openxmlformats.org/drawingml/2006/main">
              <a:ext uri="{FF2B5EF4-FFF2-40B4-BE49-F238E27FC236}">
                <a16:creationId xmlns:a16="http://schemas.microsoft.com/office/drawing/2014/main" id="{5B7F5627-06BC-4E14-B819-CE65235886C9}"/>
              </a:ext>
            </a:extLst>
          </p:cNvPr>
          <p:cNvSpPr>
            <a:spLocks xmlns:a="http://schemas.openxmlformats.org/drawingml/2006/main" noGrp="1"/>
          </p:cNvSpPr>
          <p:nvPr/>
        </p:nvSpPr>
        <p:spPr>
          <a:xfrm xmlns:a="http://schemas.openxmlformats.org/drawingml/2006/main">
            <a:off x="1314450" y="5276850"/>
            <a:ext cx="581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a:solidFill>
                  <a:srgbClr val="18223B"/>
                </a:solidFill>
              </a:defRPr>
            </a:pPr>
            <a:r>
              <a:rPr sz="1350" b="1">
                <a:solidFill>
                  <a:srgbClr val="18223B"/>
                </a:solidFill>
              </a:rPr>
              <a:t>Insufficient XP → locked action → no negative balance</a:t>
            </a:r>
          </a:p>
        </p:txBody>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1ce8e2309d534cd6"/>
          <a:srcRect xmlns:a="http://schemas.openxmlformats.org/drawingml/2006/main" l="0" t="14938" r="0" b="14938"/>
          <a:stretch xmlns:a="http://schemas.openxmlformats.org/drawingml/2006/main">
            <a:fillRect l="0" t="0" r="0" b="0"/>
          </a:stretch>
        </p:blipFill>
        <p:spPr>
          <a:xfrm xmlns:a="http://schemas.openxmlformats.org/drawingml/2006/main">
            <a:off x="7810500" y="4095750"/>
            <a:ext cx="3429000" cy="1352550"/>
          </a:xfrm>
          <a:prstGeom xmlns:a="http://schemas.openxmlformats.org/drawingml/2006/main" prst="roundRect">
            <a:avLst>
              <a:gd name="adj" fmla="val 11268"/>
            </a:avLst>
          </a:prstGeom>
        </p:spPr>
      </p:pic>
      <p:sp>
        <p:nvSpPr>
          <p:cNvPr id="29" name="">
            <a:extLst xmlns:a="http://schemas.openxmlformats.org/drawingml/2006/main">
              <a:ext uri="{FF2B5EF4-FFF2-40B4-BE49-F238E27FC236}">
                <a16:creationId xmlns:a16="http://schemas.microsoft.com/office/drawing/2014/main" id="{92EB9E89-5AE6-4E38-AEAF-C7630B9B1BDB}"/>
              </a:ext>
            </a:extLst>
          </p:cNvPr>
          <p:cNvSpPr>
            <a:spLocks xmlns:a="http://schemas.openxmlformats.org/drawingml/2006/main" noGrp="1"/>
          </p:cNvSpPr>
          <p:nvPr/>
        </p:nvSpPr>
        <p:spPr>
          <a:xfrm xmlns:a="http://schemas.openxmlformats.org/drawingml/2006/main">
            <a:off x="7810500" y="54864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5267F8"/>
                </a:solidFill>
              </a:defRPr>
            </a:pPr>
            <a:r>
              <a:rPr sz="1050" b="1">
                <a:solidFill>
                  <a:srgbClr val="5267F8"/>
                </a:solidFill>
              </a:rPr>
              <a:t>Browser-verified ledger outcome</a:t>
            </a:r>
          </a:p>
        </p:txBody>
      </p:sp>
      <p:sp>
        <p:nvSpPr>
          <p:cNvPr id="30" name="">
            <a:extLst xmlns:a="http://schemas.openxmlformats.org/drawingml/2006/main">
              <a:ext uri="{FF2B5EF4-FFF2-40B4-BE49-F238E27FC236}">
                <a16:creationId xmlns:a16="http://schemas.microsoft.com/office/drawing/2014/main" id="{A85397D7-1A3E-4111-A868-BF3C436D390A}"/>
              </a:ext>
            </a:extLst>
          </p:cNvPr>
          <p:cNvSpPr>
            <a:spLocks xmlns:a="http://schemas.openxmlformats.org/drawingml/2006/main" noGrp="1"/>
          </p:cNvSpPr>
          <p:nvPr/>
        </p:nvSpPr>
        <p:spPr>
          <a:xfrm xmlns:a="http://schemas.openxmlformats.org/drawingml/2006/main">
            <a:off x="609600" y="6515100"/>
            <a:ext cx="10972800" cy="19050"/>
          </a:xfrm>
          <a:prstGeom xmlns:a="http://schemas.openxmlformats.org/drawingml/2006/main" prst="rect">
            <a:avLst/>
          </a:prstGeom>
          <a:solidFill xmlns:a="http://schemas.openxmlformats.org/drawingml/2006/main">
            <a:srgbClr val="DCE2E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BC059C4-C9B4-4D99-BBDB-E10CC1BAC7F5}"/>
              </a:ext>
            </a:extLst>
          </p:cNvPr>
          <p:cNvSpPr>
            <a:spLocks xmlns:a="http://schemas.openxmlformats.org/drawingml/2006/main" noGrp="1"/>
          </p:cNvSpPr>
          <p:nvPr/>
        </p:nvSpPr>
        <p:spPr>
          <a:xfrm xmlns:a="http://schemas.openxmlformats.org/drawingml/2006/main">
            <a:off x="609600" y="6515100"/>
            <a:ext cx="9877425" cy="19050"/>
          </a:xfrm>
          <a:prstGeom xmlns:a="http://schemas.openxmlformats.org/drawingml/2006/main" prst="rect">
            <a:avLst/>
          </a:prstGeom>
          <a:solidFill xmlns:a="http://schemas.openxmlformats.org/drawingml/2006/main">
            <a:srgbClr val="5267F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AAABAAD-6B8F-4130-8E65-E7E2C1BD0BC9}"/>
              </a:ext>
            </a:extLst>
          </p:cNvPr>
          <p:cNvSpPr>
            <a:spLocks xmlns:a="http://schemas.openxmlformats.org/drawingml/2006/main" noGrp="1"/>
          </p:cNvSpPr>
          <p:nvPr/>
        </p:nvSpPr>
        <p:spPr>
          <a:xfrm xmlns:a="http://schemas.openxmlformats.org/drawingml/2006/main">
            <a:off x="609600" y="6610350"/>
            <a:ext cx="2286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8A94A8"/>
                </a:solidFill>
              </a:defRPr>
            </a:pPr>
            <a:r>
              <a:rPr sz="750" b="1">
                <a:solidFill>
                  <a:srgbClr val="8A94A8"/>
                </a:solidFill>
              </a:rPr>
              <a:t>XP REWARDS STORE</a:t>
            </a:r>
          </a:p>
        </p:txBody>
      </p:sp>
      <p:sp>
        <p:nvSpPr>
          <p:cNvPr id="33" name="">
            <a:extLst xmlns:a="http://schemas.openxmlformats.org/drawingml/2006/main">
              <a:ext uri="{FF2B5EF4-FFF2-40B4-BE49-F238E27FC236}">
                <a16:creationId xmlns:a16="http://schemas.microsoft.com/office/drawing/2014/main" id="{765BEAD2-9531-40FE-9425-2CB88674D1FA}"/>
              </a:ext>
            </a:extLst>
          </p:cNvPr>
          <p:cNvSpPr>
            <a:spLocks xmlns:a="http://schemas.openxmlformats.org/drawingml/2006/main" noGrp="1"/>
          </p:cNvSpPr>
          <p:nvPr/>
        </p:nvSpPr>
        <p:spPr>
          <a:xfrm xmlns:a="http://schemas.openxmlformats.org/drawingml/2006/main">
            <a:off x="10810875" y="6610350"/>
            <a:ext cx="7715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8A94A8"/>
                </a:solidFill>
              </a:defRPr>
            </a:pPr>
            <a:r>
              <a:rPr sz="750" b="1">
                <a:solidFill>
                  <a:srgbClr val="8A94A8"/>
                </a:solidFill>
              </a:rPr>
              <a:t>HADI</a:t>
            </a:r>
          </a:p>
        </p:txBody>
      </p:sp>
    </p:spTree>
    <p:extLst>
      <p:ext uri="{BB962C8B-B14F-4D97-AF65-F5344CB8AC3E}">
        <p14:creationId xmlns:p14="http://schemas.microsoft.com/office/powerpoint/2010/main" val="840850411"/>
      </p:ext>
    </p:extLst>
  </p:cSld>
</p:sld>
</file>

<file path=ppt/slides/slide10.xml><?xml version="1.0" encoding="utf-8"?>
<p:sld xmlns:p="http://schemas.openxmlformats.org/presentationml/2006/main">
  <p:cSld>
    <p:bg>
      <p:bgPr>
        <a:solidFill xmlns:a="http://schemas.openxmlformats.org/drawingml/2006/main">
          <a:srgbClr val="0B1836"/>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A10B09C-E709-43FC-AED1-11E40055BD8E}"/>
              </a:ext>
            </a:extLst>
          </p:cNvPr>
          <p:cNvSpPr>
            <a:spLocks xmlns:a="http://schemas.openxmlformats.org/drawingml/2006/main" noGrp="1"/>
          </p:cNvSpPr>
          <p:nvPr/>
        </p:nvSpPr>
        <p:spPr>
          <a:xfrm xmlns:a="http://schemas.openxmlformats.org/drawingml/2006/main">
            <a:off x="609600" y="3238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FFD44D"/>
                </a:solidFill>
              </a:defRPr>
            </a:pPr>
            <a:r>
              <a:rPr sz="1050" b="1">
                <a:solidFill>
                  <a:srgbClr val="FFD44D"/>
                </a:solidFill>
              </a:rPr>
              <a:t>A-BAND SYNTHESIS</a:t>
            </a:r>
          </a:p>
        </p:txBody>
      </p:sp>
      <p:sp>
        <p:nvSpPr>
          <p:cNvPr id="2" name="">
            <a:extLst xmlns:a="http://schemas.openxmlformats.org/drawingml/2006/main">
              <a:ext uri="{FF2B5EF4-FFF2-40B4-BE49-F238E27FC236}">
                <a16:creationId xmlns:a16="http://schemas.microsoft.com/office/drawing/2014/main" id="{84E5B708-6492-449C-BD09-B86E3664C3D0}"/>
              </a:ext>
            </a:extLst>
          </p:cNvPr>
          <p:cNvSpPr>
            <a:spLocks xmlns:a="http://schemas.openxmlformats.org/drawingml/2006/main" noGrp="1"/>
          </p:cNvSpPr>
          <p:nvPr/>
        </p:nvSpPr>
        <p:spPr>
          <a:xfrm xmlns:a="http://schemas.openxmlformats.org/drawingml/2006/main">
            <a:off x="609600" y="66675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3600" b="1">
                <a:solidFill>
                  <a:srgbClr val="FFFFFF"/>
                </a:solidFill>
              </a:defRPr>
            </a:pPr>
            <a:r>
              <a:rPr sz="3600" b="1">
                <a:solidFill>
                  <a:srgbClr val="FFFFFF"/>
                </a:solidFill>
              </a:rPr>
              <a:t>The feature earns trust before it earns loyalty.</a:t>
            </a:r>
          </a:p>
        </p:txBody>
      </p:sp>
      <p:sp>
        <p:nvSpPr>
          <p:cNvPr id="3" name="">
            <a:extLst xmlns:a="http://schemas.openxmlformats.org/drawingml/2006/main">
              <a:ext uri="{FF2B5EF4-FFF2-40B4-BE49-F238E27FC236}">
                <a16:creationId xmlns:a16="http://schemas.microsoft.com/office/drawing/2014/main" id="{6AA2EC53-E149-4177-8CF8-7610CC4AC238}"/>
              </a:ext>
            </a:extLst>
          </p:cNvPr>
          <p:cNvSpPr>
            <a:spLocks xmlns:a="http://schemas.openxmlformats.org/drawingml/2006/main" noGrp="1"/>
          </p:cNvSpPr>
          <p:nvPr/>
        </p:nvSpPr>
        <p:spPr>
          <a:xfrm xmlns:a="http://schemas.openxmlformats.org/drawingml/2006/main">
            <a:off x="11239500" y="36195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1050" b="1">
                <a:solidFill>
                  <a:srgbClr val="AAB6D0"/>
                </a:solidFill>
              </a:defRPr>
            </a:pPr>
            <a:r>
              <a:rPr sz="1050" b="1">
                <a:solidFill>
                  <a:srgbClr val="AAB6D0"/>
                </a:solidFill>
              </a:rPr>
              <a:t>10</a:t>
            </a:r>
          </a:p>
        </p:txBody>
      </p:sp>
      <p:sp>
        <p:nvSpPr>
          <p:cNvPr id="4" name="">
            <a:extLst xmlns:a="http://schemas.openxmlformats.org/drawingml/2006/main">
              <a:ext uri="{FF2B5EF4-FFF2-40B4-BE49-F238E27FC236}">
                <a16:creationId xmlns:a16="http://schemas.microsoft.com/office/drawing/2014/main" id="{257952D7-A635-44C1-9402-C564478C4173}"/>
              </a:ext>
            </a:extLst>
          </p:cNvPr>
          <p:cNvSpPr>
            <a:spLocks xmlns:a="http://schemas.openxmlformats.org/drawingml/2006/main" noGrp="1"/>
          </p:cNvSpPr>
          <p:nvPr/>
        </p:nvSpPr>
        <p:spPr>
          <a:xfrm xmlns:a="http://schemas.openxmlformats.org/drawingml/2006/main">
            <a:off x="609600" y="13525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a:solidFill>
                  <a:srgbClr val="AAB6D0"/>
                </a:solidFill>
              </a:defRPr>
            </a:pPr>
            <a:r>
              <a:rPr sz="1725" b="0">
                <a:solidFill>
                  <a:srgbClr val="AAB6D0"/>
                </a:solidFill>
              </a:rPr>
              <a:t>XP Rewards is credible because relevance, usability, technical integrity and integration reinforce one another.</a:t>
            </a:r>
          </a:p>
        </p:txBody>
      </p:sp>
      <p:sp>
        <p:nvSpPr>
          <p:cNvPr id="5" name="">
            <a:extLst xmlns:a="http://schemas.openxmlformats.org/drawingml/2006/main">
              <a:ext uri="{FF2B5EF4-FFF2-40B4-BE49-F238E27FC236}">
                <a16:creationId xmlns:a16="http://schemas.microsoft.com/office/drawing/2014/main" id="{B5EFCC00-56E2-4821-94CF-8444868CC9C4}"/>
              </a:ext>
            </a:extLst>
          </p:cNvPr>
          <p:cNvSpPr>
            <a:spLocks xmlns:a="http://schemas.openxmlformats.org/drawingml/2006/main" noGrp="1"/>
          </p:cNvSpPr>
          <p:nvPr/>
        </p:nvSpPr>
        <p:spPr>
          <a:xfrm xmlns:a="http://schemas.openxmlformats.org/drawingml/2006/main">
            <a:off x="666750" y="213360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F3347"/>
                </a:solidFill>
              </a:defRPr>
            </a:pPr>
            <a:r>
              <a:rPr sz="1275" b="1">
                <a:solidFill>
                  <a:srgbClr val="FF3347"/>
                </a:solidFill>
              </a:rPr>
              <a:t>01</a:t>
            </a:r>
          </a:p>
        </p:txBody>
      </p:sp>
      <p:sp>
        <p:nvSpPr>
          <p:cNvPr id="6" name="">
            <a:extLst xmlns:a="http://schemas.openxmlformats.org/drawingml/2006/main">
              <a:ext uri="{FF2B5EF4-FFF2-40B4-BE49-F238E27FC236}">
                <a16:creationId xmlns:a16="http://schemas.microsoft.com/office/drawing/2014/main" id="{B9073B58-7FE2-4ACA-BC0A-92A69FF8FB79}"/>
              </a:ext>
            </a:extLst>
          </p:cNvPr>
          <p:cNvSpPr>
            <a:spLocks xmlns:a="http://schemas.openxmlformats.org/drawingml/2006/main" noGrp="1"/>
          </p:cNvSpPr>
          <p:nvPr/>
        </p:nvSpPr>
        <p:spPr>
          <a:xfrm xmlns:a="http://schemas.openxmlformats.org/drawingml/2006/main">
            <a:off x="1200150" y="21336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FFFFF"/>
                </a:solidFill>
              </a:defRPr>
            </a:pPr>
            <a:r>
              <a:rPr sz="1275" b="1">
                <a:solidFill>
                  <a:srgbClr val="FFFFFF"/>
                </a:solidFill>
              </a:rPr>
              <a:t>RELEVANT</a:t>
            </a:r>
          </a:p>
        </p:txBody>
      </p:sp>
      <p:sp>
        <p:nvSpPr>
          <p:cNvPr id="7" name="">
            <a:extLst xmlns:a="http://schemas.openxmlformats.org/drawingml/2006/main">
              <a:ext uri="{FF2B5EF4-FFF2-40B4-BE49-F238E27FC236}">
                <a16:creationId xmlns:a16="http://schemas.microsoft.com/office/drawing/2014/main" id="{11282E65-D4F6-4B4D-8064-21F1AF50ECF1}"/>
              </a:ext>
            </a:extLst>
          </p:cNvPr>
          <p:cNvSpPr>
            <a:spLocks xmlns:a="http://schemas.openxmlformats.org/drawingml/2006/main" noGrp="1"/>
          </p:cNvSpPr>
          <p:nvPr/>
        </p:nvSpPr>
        <p:spPr>
          <a:xfrm xmlns:a="http://schemas.openxmlformats.org/drawingml/2006/main">
            <a:off x="3143250" y="213360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a:solidFill>
                  <a:srgbClr val="C4CEE3"/>
                </a:solidFill>
              </a:defRPr>
            </a:pPr>
            <a:r>
              <a:rPr sz="1575" b="1">
                <a:solidFill>
                  <a:srgbClr val="C4CEE3"/>
                </a:solidFill>
              </a:rPr>
              <a:t>Validated preference problem → tangible everyday value</a:t>
            </a:r>
          </a:p>
        </p:txBody>
      </p:sp>
      <p:sp>
        <p:nvSpPr>
          <p:cNvPr id="8" name="">
            <a:extLst xmlns:a="http://schemas.openxmlformats.org/drawingml/2006/main">
              <a:ext uri="{FF2B5EF4-FFF2-40B4-BE49-F238E27FC236}">
                <a16:creationId xmlns:a16="http://schemas.microsoft.com/office/drawing/2014/main" id="{8085A98E-5ED6-4E9D-B6DE-06B86060C973}"/>
              </a:ext>
            </a:extLst>
          </p:cNvPr>
          <p:cNvSpPr>
            <a:spLocks xmlns:a="http://schemas.openxmlformats.org/drawingml/2006/main" noGrp="1"/>
          </p:cNvSpPr>
          <p:nvPr/>
        </p:nvSpPr>
        <p:spPr>
          <a:xfrm xmlns:a="http://schemas.openxmlformats.org/drawingml/2006/main">
            <a:off x="1200150" y="2533650"/>
            <a:ext cx="9620250" cy="9525"/>
          </a:xfrm>
          <a:prstGeom xmlns:a="http://schemas.openxmlformats.org/drawingml/2006/main" prst="rect">
            <a:avLst/>
          </a:prstGeom>
          <a:solidFill xmlns:a="http://schemas.openxmlformats.org/drawingml/2006/main">
            <a:srgbClr val="2E416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74987C9-9258-49CD-AE81-E68F9C34FAF0}"/>
              </a:ext>
            </a:extLst>
          </p:cNvPr>
          <p:cNvSpPr>
            <a:spLocks xmlns:a="http://schemas.openxmlformats.org/drawingml/2006/main" noGrp="1"/>
          </p:cNvSpPr>
          <p:nvPr/>
        </p:nvSpPr>
        <p:spPr>
          <a:xfrm xmlns:a="http://schemas.openxmlformats.org/drawingml/2006/main">
            <a:off x="666750" y="2771775"/>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F3347"/>
                </a:solidFill>
              </a:defRPr>
            </a:pPr>
            <a:r>
              <a:rPr sz="1275" b="1">
                <a:solidFill>
                  <a:srgbClr val="FF3347"/>
                </a:solidFill>
              </a:rPr>
              <a:t>02</a:t>
            </a:r>
          </a:p>
        </p:txBody>
      </p:sp>
      <p:sp>
        <p:nvSpPr>
          <p:cNvPr id="10" name="">
            <a:extLst xmlns:a="http://schemas.openxmlformats.org/drawingml/2006/main">
              <a:ext uri="{FF2B5EF4-FFF2-40B4-BE49-F238E27FC236}">
                <a16:creationId xmlns:a16="http://schemas.microsoft.com/office/drawing/2014/main" id="{35CFD0FD-B7C7-43B9-A877-7B7B87072E4B}"/>
              </a:ext>
            </a:extLst>
          </p:cNvPr>
          <p:cNvSpPr>
            <a:spLocks xmlns:a="http://schemas.openxmlformats.org/drawingml/2006/main" noGrp="1"/>
          </p:cNvSpPr>
          <p:nvPr/>
        </p:nvSpPr>
        <p:spPr>
          <a:xfrm xmlns:a="http://schemas.openxmlformats.org/drawingml/2006/main">
            <a:off x="1200150" y="27717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FFFFF"/>
                </a:solidFill>
              </a:defRPr>
            </a:pPr>
            <a:r>
              <a:rPr sz="1275" b="1">
                <a:solidFill>
                  <a:srgbClr val="FFFFFF"/>
                </a:solidFill>
              </a:rPr>
              <a:t>REFINED</a:t>
            </a:r>
          </a:p>
        </p:txBody>
      </p:sp>
      <p:sp>
        <p:nvSpPr>
          <p:cNvPr id="11" name="">
            <a:extLst xmlns:a="http://schemas.openxmlformats.org/drawingml/2006/main">
              <a:ext uri="{FF2B5EF4-FFF2-40B4-BE49-F238E27FC236}">
                <a16:creationId xmlns:a16="http://schemas.microsoft.com/office/drawing/2014/main" id="{F16A9211-398B-44D3-A8EC-AF654392ED66}"/>
              </a:ext>
            </a:extLst>
          </p:cNvPr>
          <p:cNvSpPr>
            <a:spLocks xmlns:a="http://schemas.openxmlformats.org/drawingml/2006/main" noGrp="1"/>
          </p:cNvSpPr>
          <p:nvPr/>
        </p:nvSpPr>
        <p:spPr>
          <a:xfrm xmlns:a="http://schemas.openxmlformats.org/drawingml/2006/main">
            <a:off x="3143250" y="2771775"/>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a:solidFill>
                  <a:srgbClr val="C4CEE3"/>
                </a:solidFill>
              </a:defRPr>
            </a:pPr>
            <a:r>
              <a:rPr sz="1575" b="1">
                <a:solidFill>
                  <a:srgbClr val="C4CEE3"/>
                </a:solidFill>
              </a:rPr>
              <a:t>Complete earn, redeem, receipt, wallet and history journey</a:t>
            </a:r>
          </a:p>
        </p:txBody>
      </p:sp>
      <p:sp>
        <p:nvSpPr>
          <p:cNvPr id="12" name="">
            <a:extLst xmlns:a="http://schemas.openxmlformats.org/drawingml/2006/main">
              <a:ext uri="{FF2B5EF4-FFF2-40B4-BE49-F238E27FC236}">
                <a16:creationId xmlns:a16="http://schemas.microsoft.com/office/drawing/2014/main" id="{68EA621D-2502-43F6-BE09-5F08E75EDBAB}"/>
              </a:ext>
            </a:extLst>
          </p:cNvPr>
          <p:cNvSpPr>
            <a:spLocks xmlns:a="http://schemas.openxmlformats.org/drawingml/2006/main" noGrp="1"/>
          </p:cNvSpPr>
          <p:nvPr/>
        </p:nvSpPr>
        <p:spPr>
          <a:xfrm xmlns:a="http://schemas.openxmlformats.org/drawingml/2006/main">
            <a:off x="1200150" y="3171825"/>
            <a:ext cx="9620250" cy="9525"/>
          </a:xfrm>
          <a:prstGeom xmlns:a="http://schemas.openxmlformats.org/drawingml/2006/main" prst="rect">
            <a:avLst/>
          </a:prstGeom>
          <a:solidFill xmlns:a="http://schemas.openxmlformats.org/drawingml/2006/main">
            <a:srgbClr val="2E416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151BAA3-4788-472D-A75D-04DCD227F4DA}"/>
              </a:ext>
            </a:extLst>
          </p:cNvPr>
          <p:cNvSpPr>
            <a:spLocks xmlns:a="http://schemas.openxmlformats.org/drawingml/2006/main" noGrp="1"/>
          </p:cNvSpPr>
          <p:nvPr/>
        </p:nvSpPr>
        <p:spPr>
          <a:xfrm xmlns:a="http://schemas.openxmlformats.org/drawingml/2006/main">
            <a:off x="666750" y="34099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F3347"/>
                </a:solidFill>
              </a:defRPr>
            </a:pPr>
            <a:r>
              <a:rPr sz="1275" b="1">
                <a:solidFill>
                  <a:srgbClr val="FF3347"/>
                </a:solidFill>
              </a:rPr>
              <a:t>03</a:t>
            </a:r>
          </a:p>
        </p:txBody>
      </p:sp>
      <p:sp>
        <p:nvSpPr>
          <p:cNvPr id="14" name="">
            <a:extLst xmlns:a="http://schemas.openxmlformats.org/drawingml/2006/main">
              <a:ext uri="{FF2B5EF4-FFF2-40B4-BE49-F238E27FC236}">
                <a16:creationId xmlns:a16="http://schemas.microsoft.com/office/drawing/2014/main" id="{55BA9691-DA8B-4985-B502-096DB8B95780}"/>
              </a:ext>
            </a:extLst>
          </p:cNvPr>
          <p:cNvSpPr>
            <a:spLocks xmlns:a="http://schemas.openxmlformats.org/drawingml/2006/main" noGrp="1"/>
          </p:cNvSpPr>
          <p:nvPr/>
        </p:nvSpPr>
        <p:spPr>
          <a:xfrm xmlns:a="http://schemas.openxmlformats.org/drawingml/2006/main">
            <a:off x="1200150" y="34099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FFFFF"/>
                </a:solidFill>
              </a:defRPr>
            </a:pPr>
            <a:r>
              <a:rPr sz="1275" b="1">
                <a:solidFill>
                  <a:srgbClr val="FFFFFF"/>
                </a:solidFill>
              </a:rPr>
              <a:t>INNOVATIVE</a:t>
            </a:r>
          </a:p>
        </p:txBody>
      </p:sp>
      <p:sp>
        <p:nvSpPr>
          <p:cNvPr id="15" name="">
            <a:extLst xmlns:a="http://schemas.openxmlformats.org/drawingml/2006/main">
              <a:ext uri="{FF2B5EF4-FFF2-40B4-BE49-F238E27FC236}">
                <a16:creationId xmlns:a16="http://schemas.microsoft.com/office/drawing/2014/main" id="{CA4808ED-5ACE-4936-BDB4-A7131252772C}"/>
              </a:ext>
            </a:extLst>
          </p:cNvPr>
          <p:cNvSpPr>
            <a:spLocks xmlns:a="http://schemas.openxmlformats.org/drawingml/2006/main" noGrp="1"/>
          </p:cNvSpPr>
          <p:nvPr/>
        </p:nvSpPr>
        <p:spPr>
          <a:xfrm xmlns:a="http://schemas.openxmlformats.org/drawingml/2006/main">
            <a:off x="3143250" y="34099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a:solidFill>
                  <a:srgbClr val="C4CEE3"/>
                </a:solidFill>
              </a:defRPr>
            </a:pPr>
            <a:r>
              <a:rPr sz="1575" b="1">
                <a:solidFill>
                  <a:srgbClr val="C4CEE3"/>
                </a:solidFill>
              </a:rPr>
              <a:t>Heartland multiplier + instant wallet cashback</a:t>
            </a:r>
          </a:p>
        </p:txBody>
      </p:sp>
      <p:sp>
        <p:nvSpPr>
          <p:cNvPr id="16" name="">
            <a:extLst xmlns:a="http://schemas.openxmlformats.org/drawingml/2006/main">
              <a:ext uri="{FF2B5EF4-FFF2-40B4-BE49-F238E27FC236}">
                <a16:creationId xmlns:a16="http://schemas.microsoft.com/office/drawing/2014/main" id="{7BE59F8A-E69F-4F1C-8BD4-4569CC14FCF9}"/>
              </a:ext>
            </a:extLst>
          </p:cNvPr>
          <p:cNvSpPr>
            <a:spLocks xmlns:a="http://schemas.openxmlformats.org/drawingml/2006/main" noGrp="1"/>
          </p:cNvSpPr>
          <p:nvPr/>
        </p:nvSpPr>
        <p:spPr>
          <a:xfrm xmlns:a="http://schemas.openxmlformats.org/drawingml/2006/main">
            <a:off x="1200150" y="3810000"/>
            <a:ext cx="9620250" cy="9525"/>
          </a:xfrm>
          <a:prstGeom xmlns:a="http://schemas.openxmlformats.org/drawingml/2006/main" prst="rect">
            <a:avLst/>
          </a:prstGeom>
          <a:solidFill xmlns:a="http://schemas.openxmlformats.org/drawingml/2006/main">
            <a:srgbClr val="2E416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F0BCBD2-572D-4A4A-9DA9-9F91FCC34F0F}"/>
              </a:ext>
            </a:extLst>
          </p:cNvPr>
          <p:cNvSpPr>
            <a:spLocks xmlns:a="http://schemas.openxmlformats.org/drawingml/2006/main" noGrp="1"/>
          </p:cNvSpPr>
          <p:nvPr/>
        </p:nvSpPr>
        <p:spPr>
          <a:xfrm xmlns:a="http://schemas.openxmlformats.org/drawingml/2006/main">
            <a:off x="666750" y="4048125"/>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F3347"/>
                </a:solidFill>
              </a:defRPr>
            </a:pPr>
            <a:r>
              <a:rPr sz="1275" b="1">
                <a:solidFill>
                  <a:srgbClr val="FF3347"/>
                </a:solidFill>
              </a:rPr>
              <a:t>04</a:t>
            </a:r>
          </a:p>
        </p:txBody>
      </p:sp>
      <p:sp>
        <p:nvSpPr>
          <p:cNvPr id="18" name="">
            <a:extLst xmlns:a="http://schemas.openxmlformats.org/drawingml/2006/main">
              <a:ext uri="{FF2B5EF4-FFF2-40B4-BE49-F238E27FC236}">
                <a16:creationId xmlns:a16="http://schemas.microsoft.com/office/drawing/2014/main" id="{9DCF023F-D21C-4773-BDB1-C185A57D4B9D}"/>
              </a:ext>
            </a:extLst>
          </p:cNvPr>
          <p:cNvSpPr>
            <a:spLocks xmlns:a="http://schemas.openxmlformats.org/drawingml/2006/main" noGrp="1"/>
          </p:cNvSpPr>
          <p:nvPr/>
        </p:nvSpPr>
        <p:spPr>
          <a:xfrm xmlns:a="http://schemas.openxmlformats.org/drawingml/2006/main">
            <a:off x="1200150" y="404812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FFFFF"/>
                </a:solidFill>
              </a:defRPr>
            </a:pPr>
            <a:r>
              <a:rPr sz="1275" b="1">
                <a:solidFill>
                  <a:srgbClr val="FFFFFF"/>
                </a:solidFill>
              </a:rPr>
              <a:t>INTEGRATED</a:t>
            </a:r>
          </a:p>
        </p:txBody>
      </p:sp>
      <p:sp>
        <p:nvSpPr>
          <p:cNvPr id="19" name="">
            <a:extLst xmlns:a="http://schemas.openxmlformats.org/drawingml/2006/main">
              <a:ext uri="{FF2B5EF4-FFF2-40B4-BE49-F238E27FC236}">
                <a16:creationId xmlns:a16="http://schemas.microsoft.com/office/drawing/2014/main" id="{37796F6F-D15E-459C-99D6-CD683513DBF0}"/>
              </a:ext>
            </a:extLst>
          </p:cNvPr>
          <p:cNvSpPr>
            <a:spLocks xmlns:a="http://schemas.openxmlformats.org/drawingml/2006/main" noGrp="1"/>
          </p:cNvSpPr>
          <p:nvPr/>
        </p:nvSpPr>
        <p:spPr>
          <a:xfrm xmlns:a="http://schemas.openxmlformats.org/drawingml/2006/main">
            <a:off x="3143250" y="4048125"/>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a:solidFill>
                  <a:srgbClr val="C4CEE3"/>
                </a:solidFill>
              </a:defRPr>
            </a:pPr>
            <a:r>
              <a:rPr sz="1575" b="1">
                <a:solidFill>
                  <a:srgbClr val="C4CEE3"/>
                </a:solidFill>
              </a:rPr>
              <a:t>Shared transaction ledger updates customer and admin views</a:t>
            </a:r>
          </a:p>
        </p:txBody>
      </p:sp>
      <p:sp>
        <p:nvSpPr>
          <p:cNvPr id="20" name="">
            <a:extLst xmlns:a="http://schemas.openxmlformats.org/drawingml/2006/main">
              <a:ext uri="{FF2B5EF4-FFF2-40B4-BE49-F238E27FC236}">
                <a16:creationId xmlns:a16="http://schemas.microsoft.com/office/drawing/2014/main" id="{783E22A6-11A9-4E2A-9025-4B0706F8EB73}"/>
              </a:ext>
            </a:extLst>
          </p:cNvPr>
          <p:cNvSpPr>
            <a:spLocks xmlns:a="http://schemas.openxmlformats.org/drawingml/2006/main" noGrp="1"/>
          </p:cNvSpPr>
          <p:nvPr/>
        </p:nvSpPr>
        <p:spPr>
          <a:xfrm xmlns:a="http://schemas.openxmlformats.org/drawingml/2006/main">
            <a:off x="1200150" y="4448175"/>
            <a:ext cx="9620250" cy="9525"/>
          </a:xfrm>
          <a:prstGeom xmlns:a="http://schemas.openxmlformats.org/drawingml/2006/main" prst="rect">
            <a:avLst/>
          </a:prstGeom>
          <a:solidFill xmlns:a="http://schemas.openxmlformats.org/drawingml/2006/main">
            <a:srgbClr val="2E416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460903F-D68C-4DD5-B135-4212C0D32B65}"/>
              </a:ext>
            </a:extLst>
          </p:cNvPr>
          <p:cNvSpPr>
            <a:spLocks xmlns:a="http://schemas.openxmlformats.org/drawingml/2006/main" noGrp="1"/>
          </p:cNvSpPr>
          <p:nvPr/>
        </p:nvSpPr>
        <p:spPr>
          <a:xfrm xmlns:a="http://schemas.openxmlformats.org/drawingml/2006/main">
            <a:off x="666750" y="468630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FD44D"/>
                </a:solidFill>
              </a:defRPr>
            </a:pPr>
            <a:r>
              <a:rPr sz="1275" b="1">
                <a:solidFill>
                  <a:srgbClr val="FFD44D"/>
                </a:solidFill>
              </a:rPr>
              <a:t>05</a:t>
            </a:r>
          </a:p>
        </p:txBody>
      </p:sp>
      <p:sp>
        <p:nvSpPr>
          <p:cNvPr id="22" name="">
            <a:extLst xmlns:a="http://schemas.openxmlformats.org/drawingml/2006/main">
              <a:ext uri="{FF2B5EF4-FFF2-40B4-BE49-F238E27FC236}">
                <a16:creationId xmlns:a16="http://schemas.microsoft.com/office/drawing/2014/main" id="{E506D017-DF30-46D2-80B6-4537CA8FCACF}"/>
              </a:ext>
            </a:extLst>
          </p:cNvPr>
          <p:cNvSpPr>
            <a:spLocks xmlns:a="http://schemas.openxmlformats.org/drawingml/2006/main" noGrp="1"/>
          </p:cNvSpPr>
          <p:nvPr/>
        </p:nvSpPr>
        <p:spPr>
          <a:xfrm xmlns:a="http://schemas.openxmlformats.org/drawingml/2006/main">
            <a:off x="1200150" y="46863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FFFFF"/>
                </a:solidFill>
              </a:defRPr>
            </a:pPr>
            <a:r>
              <a:rPr sz="1275" b="1">
                <a:solidFill>
                  <a:srgbClr val="FFFFFF"/>
                </a:solidFill>
              </a:rPr>
              <a:t>OWNED</a:t>
            </a:r>
          </a:p>
        </p:txBody>
      </p:sp>
      <p:sp>
        <p:nvSpPr>
          <p:cNvPr id="23" name="">
            <a:extLst xmlns:a="http://schemas.openxmlformats.org/drawingml/2006/main">
              <a:ext uri="{FF2B5EF4-FFF2-40B4-BE49-F238E27FC236}">
                <a16:creationId xmlns:a16="http://schemas.microsoft.com/office/drawing/2014/main" id="{D7E1FF71-AD0C-438D-8133-557770B581B6}"/>
              </a:ext>
            </a:extLst>
          </p:cNvPr>
          <p:cNvSpPr>
            <a:spLocks xmlns:a="http://schemas.openxmlformats.org/drawingml/2006/main" noGrp="1"/>
          </p:cNvSpPr>
          <p:nvPr/>
        </p:nvSpPr>
        <p:spPr>
          <a:xfrm xmlns:a="http://schemas.openxmlformats.org/drawingml/2006/main">
            <a:off x="3143250" y="468630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a:solidFill>
                  <a:srgbClr val="C4CEE3"/>
                </a:solidFill>
              </a:defRPr>
            </a:pPr>
            <a:r>
              <a:rPr sz="1575" b="1">
                <a:solidFill>
                  <a:srgbClr val="C4CEE3"/>
                </a:solidFill>
              </a:rPr>
              <a:t>Rules, trade-offs, safeguards and limits are explainable</a:t>
            </a:r>
          </a:p>
        </p:txBody>
      </p:sp>
      <p:sp>
        <p:nvSpPr>
          <p:cNvPr id="24" name="">
            <a:extLst xmlns:a="http://schemas.openxmlformats.org/drawingml/2006/main">
              <a:ext uri="{FF2B5EF4-FFF2-40B4-BE49-F238E27FC236}">
                <a16:creationId xmlns:a16="http://schemas.microsoft.com/office/drawing/2014/main" id="{711D162C-34E9-4FA2-86BE-ED09FCCE5665}"/>
              </a:ext>
            </a:extLst>
          </p:cNvPr>
          <p:cNvSpPr>
            <a:spLocks xmlns:a="http://schemas.openxmlformats.org/drawingml/2006/main" noGrp="1"/>
          </p:cNvSpPr>
          <p:nvPr/>
        </p:nvSpPr>
        <p:spPr>
          <a:xfrm xmlns:a="http://schemas.openxmlformats.org/drawingml/2006/main">
            <a:off x="1200150" y="5086350"/>
            <a:ext cx="9620250" cy="9525"/>
          </a:xfrm>
          <a:prstGeom xmlns:a="http://schemas.openxmlformats.org/drawingml/2006/main" prst="rect">
            <a:avLst/>
          </a:prstGeom>
          <a:solidFill xmlns:a="http://schemas.openxmlformats.org/drawingml/2006/main">
            <a:srgbClr val="2E416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8DEE064-7772-462A-AE75-74037165BF4A}"/>
              </a:ext>
            </a:extLst>
          </p:cNvPr>
          <p:cNvSpPr>
            <a:spLocks xmlns:a="http://schemas.openxmlformats.org/drawingml/2006/main" noGrp="1"/>
          </p:cNvSpPr>
          <p:nvPr/>
        </p:nvSpPr>
        <p:spPr>
          <a:xfrm xmlns:a="http://schemas.openxmlformats.org/drawingml/2006/main">
            <a:off x="609600" y="5619750"/>
            <a:ext cx="10972800" cy="666750"/>
          </a:xfrm>
          <a:prstGeom xmlns:a="http://schemas.openxmlformats.org/drawingml/2006/main" prst="roundRect">
            <a:avLst>
              <a:gd name="adj" fmla="val 17143"/>
            </a:avLst>
          </a:prstGeom>
          <a:solidFill xmlns:a="http://schemas.openxmlformats.org/drawingml/2006/main">
            <a:srgbClr val="FFD44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B5BDFE6-7000-45C7-9494-CF725D93C1B9}"/>
              </a:ext>
            </a:extLst>
          </p:cNvPr>
          <p:cNvSpPr>
            <a:spLocks xmlns:a="http://schemas.openxmlformats.org/drawingml/2006/main" noGrp="1"/>
          </p:cNvSpPr>
          <p:nvPr/>
        </p:nvSpPr>
        <p:spPr>
          <a:xfrm xmlns:a="http://schemas.openxmlformats.org/drawingml/2006/main">
            <a:off x="819150" y="5819775"/>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500" b="1">
                <a:solidFill>
                  <a:srgbClr val="0B1836"/>
                </a:solidFill>
              </a:defRPr>
            </a:pPr>
            <a:r>
              <a:rPr sz="1500" b="1">
                <a:solidFill>
                  <a:srgbClr val="0B1836"/>
                </a:solidFill>
              </a:rPr>
              <a:t>Next proof: refund reversals · micro-payment caps · account-farming controls · funded reward economics</a:t>
            </a:r>
          </a:p>
        </p:txBody>
      </p:sp>
      <p:sp>
        <p:nvSpPr>
          <p:cNvPr id="27" name="">
            <a:extLst xmlns:a="http://schemas.openxmlformats.org/drawingml/2006/main">
              <a:ext uri="{FF2B5EF4-FFF2-40B4-BE49-F238E27FC236}">
                <a16:creationId xmlns:a16="http://schemas.microsoft.com/office/drawing/2014/main" id="{D5AD7E3E-36AC-437B-9CA8-E83F27F2312F}"/>
              </a:ext>
            </a:extLst>
          </p:cNvPr>
          <p:cNvSpPr>
            <a:spLocks xmlns:a="http://schemas.openxmlformats.org/drawingml/2006/main" noGrp="1"/>
          </p:cNvSpPr>
          <p:nvPr/>
        </p:nvSpPr>
        <p:spPr>
          <a:xfrm xmlns:a="http://schemas.openxmlformats.org/drawingml/2006/main">
            <a:off x="609600" y="6515100"/>
            <a:ext cx="10972800" cy="19050"/>
          </a:xfrm>
          <a:prstGeom xmlns:a="http://schemas.openxmlformats.org/drawingml/2006/main" prst="rect">
            <a:avLst/>
          </a:prstGeom>
          <a:solidFill xmlns:a="http://schemas.openxmlformats.org/drawingml/2006/main">
            <a:srgbClr val="2A3B6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DD60084-3D4C-43BF-9815-A8CA1C9B8DF7}"/>
              </a:ext>
            </a:extLst>
          </p:cNvPr>
          <p:cNvSpPr>
            <a:spLocks xmlns:a="http://schemas.openxmlformats.org/drawingml/2006/main" noGrp="1"/>
          </p:cNvSpPr>
          <p:nvPr/>
        </p:nvSpPr>
        <p:spPr>
          <a:xfrm xmlns:a="http://schemas.openxmlformats.org/drawingml/2006/main">
            <a:off x="609600" y="6515100"/>
            <a:ext cx="10972800" cy="19050"/>
          </a:xfrm>
          <a:prstGeom xmlns:a="http://schemas.openxmlformats.org/drawingml/2006/main" prst="rect">
            <a:avLst/>
          </a:prstGeom>
          <a:solidFill xmlns:a="http://schemas.openxmlformats.org/drawingml/2006/main">
            <a:srgbClr val="FFD44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49DEAB8-2C34-4DC6-86F4-AC5F240B71DD}"/>
              </a:ext>
            </a:extLst>
          </p:cNvPr>
          <p:cNvSpPr>
            <a:spLocks xmlns:a="http://schemas.openxmlformats.org/drawingml/2006/main" noGrp="1"/>
          </p:cNvSpPr>
          <p:nvPr/>
        </p:nvSpPr>
        <p:spPr>
          <a:xfrm xmlns:a="http://schemas.openxmlformats.org/drawingml/2006/main">
            <a:off x="609600" y="6610350"/>
            <a:ext cx="2286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8290AE"/>
                </a:solidFill>
              </a:defRPr>
            </a:pPr>
            <a:r>
              <a:rPr sz="750" b="1">
                <a:solidFill>
                  <a:srgbClr val="8290AE"/>
                </a:solidFill>
              </a:rPr>
              <a:t>XP REWARDS STORE</a:t>
            </a:r>
          </a:p>
        </p:txBody>
      </p:sp>
      <p:sp>
        <p:nvSpPr>
          <p:cNvPr id="30" name="">
            <a:extLst xmlns:a="http://schemas.openxmlformats.org/drawingml/2006/main">
              <a:ext uri="{FF2B5EF4-FFF2-40B4-BE49-F238E27FC236}">
                <a16:creationId xmlns:a16="http://schemas.microsoft.com/office/drawing/2014/main" id="{157DEF0E-0620-495D-AD0F-EA5008952704}"/>
              </a:ext>
            </a:extLst>
          </p:cNvPr>
          <p:cNvSpPr>
            <a:spLocks xmlns:a="http://schemas.openxmlformats.org/drawingml/2006/main" noGrp="1"/>
          </p:cNvSpPr>
          <p:nvPr/>
        </p:nvSpPr>
        <p:spPr>
          <a:xfrm xmlns:a="http://schemas.openxmlformats.org/drawingml/2006/main">
            <a:off x="10810875" y="6610350"/>
            <a:ext cx="7715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8290AE"/>
                </a:solidFill>
              </a:defRPr>
            </a:pPr>
            <a:r>
              <a:rPr sz="750" b="1">
                <a:solidFill>
                  <a:srgbClr val="8290AE"/>
                </a:solidFill>
              </a:rPr>
              <a:t>HADI</a:t>
            </a:r>
          </a:p>
        </p:txBody>
      </p:sp>
    </p:spTree>
    <p:extLst>
      <p:ext uri="{BB962C8B-B14F-4D97-AF65-F5344CB8AC3E}">
        <p14:creationId xmlns:p14="http://schemas.microsoft.com/office/powerpoint/2010/main" val="219152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2026-08-16T15:20:57.0040000Z</dcterms:created>
  <dcterms:modified xsi:type="dcterms:W3CDTF">2026-08-16T15:20:57.0040000Z</dcterms:modified>
</coreProperties>
</file>